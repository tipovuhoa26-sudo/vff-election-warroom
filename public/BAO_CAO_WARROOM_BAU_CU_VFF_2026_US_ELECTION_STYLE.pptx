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facebook.com/vietnamesefootball" TargetMode="External"/><Relationship Id="rId3" Type="http://schemas.openxmlformats.org/officeDocument/2006/relationships/hyperlink" Target="https://www.facebook.com/blvbiencuong" TargetMode="External"/><Relationship Id="rId4" Type="http://schemas.openxmlformats.org/officeDocument/2006/relationships/hyperlink" Target="https://www.facebook.com/TuyenVanHoaOfficial" TargetMode="External"/><Relationship Id="rId5" Type="http://schemas.openxmlformats.org/officeDocument/2006/relationships/hyperlink" Target="https://www.facebook.com/TedTranTV" TargetMode="External"/><Relationship Id="rId6" Type="http://schemas.openxmlformats.org/officeDocument/2006/relationships/hyperlink" Target="https://www.facebook.com/BLVAnhQuan" TargetMode="External"/><Relationship Id="rId7" Type="http://schemas.openxmlformats.org/officeDocument/2006/relationships/hyperlink" Target="https://www.facebook.com/anhembongdavn" TargetMode="External"/><Relationship Id="rId8" Type="http://schemas.openxmlformats.org/officeDocument/2006/relationships/hyperlink" Target="https://www.facebook.com/hattrick.io" TargetMode="External"/><Relationship Id="rId9" Type="http://schemas.openxmlformats.org/officeDocument/2006/relationships/hyperlink" Target="https://www.facebook.com/chaurau0105" TargetMode="External"/><Relationship Id="rId10" Type="http://schemas.openxmlformats.org/officeDocument/2006/relationships/hyperlink" Target="https://www.facebook.com/nguyenphandaudakpo" TargetMode="External"/><Relationship Id="rId11" Type="http://schemas.openxmlformats.org/officeDocument/2006/relationships/hyperlink" Target="https://www.facebook.com/ithethaotv" TargetMode="External"/><Relationship Id="rId12" Type="http://schemas.openxmlformats.org/officeDocument/2006/relationships/hyperlink" Target="https://www.facebook.com/ghienbongdatv" TargetMode="External"/><Relationship Id="rId13" Type="http://schemas.openxmlformats.org/officeDocument/2006/relationships/hyperlink" Target="https://www.facebook.com/bongda24h.vn"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youtube.com/watch?v=u_6dEnPr4DU" TargetMode="External"/><Relationship Id="rId3" Type="http://schemas.openxmlformats.org/officeDocument/2006/relationships/hyperlink" Target="https://www.youtube.com/watch?v=fD_yAoXALog" TargetMode="External"/><Relationship Id="rId4" Type="http://schemas.openxmlformats.org/officeDocument/2006/relationships/hyperlink" Target="https://www.youtube.com/watch?v=H2m4K9wL1xQ" TargetMode="External"/><Relationship Id="rId5" Type="http://schemas.openxmlformats.org/officeDocument/2006/relationships/hyperlink" Target="https://www.youtube.com/watch?v=J8p3L2vN9mY" TargetMode="External"/><Relationship Id="rId6" Type="http://schemas.openxmlformats.org/officeDocument/2006/relationships/hyperlink" Target="https://www.youtube.com/watch?v=zBelpKcW-CE" TargetMode="External"/><Relationship Id="rId7" Type="http://schemas.openxmlformats.org/officeDocument/2006/relationships/hyperlink" Target="https://www.youtube.com/watch?v=WAVgzL-pF5c" TargetMode="External"/><Relationship Id="rId8" Type="http://schemas.openxmlformats.org/officeDocument/2006/relationships/hyperlink" Target="https://www.youtube.com/watch?v=k7R9mX2pQ4w" TargetMode="External"/><Relationship Id="rId9" Type="http://schemas.openxmlformats.org/officeDocument/2006/relationships/hyperlink" Target="https://www.youtube.com/watch?v=m3P8vL5nK2c" TargetMode="External"/><Relationship Id="rId10" Type="http://schemas.openxmlformats.org/officeDocument/2006/relationships/hyperlink" Target="https://www.tiktok.com/@mrquanngai/video/7563148283978484999" TargetMode="External"/><Relationship Id="rId11" Type="http://schemas.openxmlformats.org/officeDocument/2006/relationships/hyperlink" Target="https://www.tiktok.com/@vff.official" TargetMode="External"/><Relationship Id="rId12" Type="http://schemas.openxmlformats.org/officeDocument/2006/relationships/hyperlink" Target="https://www.tiktok.com/@cafef_official" TargetMode="External"/><Relationship Id="rId13" Type="http://schemas.openxmlformats.org/officeDocument/2006/relationships/hyperlink" Target="https://www.tiktok.com/@tuyenvanhoasports/video/7563847705024580872"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vff.org.vn" TargetMode="External"/><Relationship Id="rId3" Type="http://schemas.openxmlformats.org/officeDocument/2006/relationships/hyperlink" Target="https://vnexpress.net/the-thao" TargetMode="External"/><Relationship Id="rId4" Type="http://schemas.openxmlformats.org/officeDocument/2006/relationships/hyperlink" Target="https://thethao247.vn" TargetMode="External"/><Relationship Id="rId5" Type="http://schemas.openxmlformats.org/officeDocument/2006/relationships/hyperlink" Target="https://thanhnien.vn/the-thao.htm" TargetMode="External"/><Relationship Id="rId6" Type="http://schemas.openxmlformats.org/officeDocument/2006/relationships/hyperlink" Target="https://laodong.vn/the-thao" TargetMode="External"/><Relationship Id="rId7" Type="http://schemas.openxmlformats.org/officeDocument/2006/relationships/hyperlink" Target="https://thethaovanhoa.vn" TargetMode="External"/><Relationship Id="rId8" Type="http://schemas.openxmlformats.org/officeDocument/2006/relationships/hyperlink" Target="https://vov.vn/the-thao" TargetMode="External"/><Relationship Id="rId9" Type="http://schemas.openxmlformats.org/officeDocument/2006/relationships/hyperlink" Target="https://cafef.vn" TargetMode="External"/><Relationship Id="rId10" Type="http://schemas.openxmlformats.org/officeDocument/2006/relationships/hyperlink" Target="https://vietnamfinance.vn" TargetMode="External"/><Relationship Id="rId11" Type="http://schemas.openxmlformats.org/officeDocument/2006/relationships/hyperlink" Target="https://dantri.com.vn/the-thao.htm" TargetMode="External"/><Relationship Id="rId12" Type="http://schemas.openxmlformats.org/officeDocument/2006/relationships/hyperlink" Target="https://bongdaplus.vn" TargetMode="External"/><Relationship Id="rId13" Type="http://schemas.openxmlformats.org/officeDocument/2006/relationships/hyperlink" Target="https://saostar.vn"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facebook.com/vietnamesefootball" TargetMode="External"/><Relationship Id="rId3" Type="http://schemas.openxmlformats.org/officeDocument/2006/relationships/hyperlink" Target="https://www.youtube.com/watch?v=u_6dEnPr4DU" TargetMode="External"/><Relationship Id="rId4" Type="http://schemas.openxmlformats.org/officeDocument/2006/relationships/hyperlink" Target="https://www.facebook.com/blvbiencuong" TargetMode="External"/><Relationship Id="rId5" Type="http://schemas.openxmlformats.org/officeDocument/2006/relationships/hyperlink" Target="https://www.youtube.com/watch?v=fD_yAoXALog" TargetMode="External"/><Relationship Id="rId6" Type="http://schemas.openxmlformats.org/officeDocument/2006/relationships/hyperlink" Target="https://www.facebook.com/thethao247.vn" TargetMode="External"/><Relationship Id="rId7" Type="http://schemas.openxmlformats.org/officeDocument/2006/relationships/hyperlink" Target="https://www.facebook.com/anhembongdavn" TargetMode="External"/><Relationship Id="rId8" Type="http://schemas.openxmlformats.org/officeDocument/2006/relationships/hyperlink" Target="https://www.facebook.com/hattrick.io" TargetMode="External"/><Relationship Id="rId9" Type="http://schemas.openxmlformats.org/officeDocument/2006/relationships/hyperlink" Target="https://www.facebook.com/chaurau0105" TargetMode="External"/><Relationship Id="rId10" Type="http://schemas.openxmlformats.org/officeDocument/2006/relationships/hyperlink" Target="https://www.facebook.com/ithethaotv" TargetMode="External"/><Relationship Id="rId11" Type="http://schemas.openxmlformats.org/officeDocument/2006/relationships/hyperlink" Target="https://www.facebook.com/nguyenphandaudakpo" TargetMode="External"/><Relationship Id="rId12" Type="http://schemas.openxmlformats.org/officeDocument/2006/relationships/hyperlink" Target="https://www.youtube.com/watch?v=zBelpKcW-CE" TargetMode="External"/><Relationship Id="rId13" Type="http://schemas.openxmlformats.org/officeDocument/2006/relationships/hyperlink" Target="https://www.youtube.com/watch?v=WAVgzL-pF5c" TargetMode="External"/><Relationship Id="rId14" Type="http://schemas.openxmlformats.org/officeDocument/2006/relationships/hyperlink" Target="https://www.facebook.com/CafeF" TargetMode="External"/><Relationship Id="rId15" Type="http://schemas.openxmlformats.org/officeDocument/2006/relationships/hyperlink" Target="https://www.tiktok.com/@mrquanngai/video/7563148283978484999" TargetMode="External"/><Relationship Id="rId16" Type="http://schemas.openxmlformats.org/officeDocument/2006/relationships/hyperlink" Target="https://www.tiktok.com/@tuyenvanhoasports/video/7563847705024580872"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528"/>
        </a:solidFill>
        <a:effectLst/>
      </p:bgPr>
    </p:bg>
    <p:spTree>
      <p:nvGrpSpPr>
        <p:cNvPr id="1" name=""/>
        <p:cNvGrpSpPr/>
        <p:nvPr/>
      </p:nvGrpSpPr>
      <p:grpSpPr/>
      <p:sp>
        <p:nvSpPr>
          <p:cNvPr id="2" name="Rectangle 1"/>
          <p:cNvSpPr/>
          <p:nvPr/>
        </p:nvSpPr>
        <p:spPr>
          <a:xfrm>
            <a:off x="0" y="0"/>
            <a:ext cx="4059936" cy="73152"/>
          </a:xfrm>
          <a:prstGeom prst="rect">
            <a:avLst/>
          </a:prstGeom>
          <a:solidFill>
            <a:srgbClr val="1560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059936" y="0"/>
            <a:ext cx="4069080" cy="73152"/>
          </a:xfrm>
          <a:prstGeom prst="rect">
            <a:avLst/>
          </a:prstGeom>
          <a:solidFill>
            <a:srgbClr val="F5B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129016" y="0"/>
            <a:ext cx="4059936" cy="73152"/>
          </a:xfrm>
          <a:prstGeom prst="rect">
            <a:avLst/>
          </a:prstGeom>
          <a:solidFill>
            <a:srgbClr val="D627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237744"/>
            <a:ext cx="11338560" cy="320040"/>
          </a:xfrm>
          <a:prstGeom prst="rect">
            <a:avLst/>
          </a:prstGeom>
          <a:noFill/>
        </p:spPr>
        <p:txBody>
          <a:bodyPr wrap="square" anchor="t" lIns="45720" rIns="45720" tIns="27432" bIns="27432">
            <a:spAutoFit/>
          </a:bodyPr>
          <a:lstStyle/>
          <a:p>
            <a:pPr algn="l">
              <a:lnSpc>
                <a:spcPct val="112000"/>
              </a:lnSpc>
            </a:pPr>
            <a:r>
              <a:rPr sz="1200" b="1">
                <a:solidFill>
                  <a:srgbClr val="F5B400"/>
                </a:solidFill>
                <a:latin typeface="Arial"/>
              </a:rPr>
              <a:t>BÁO CÁO PHÂN TÍCH DƯ LUẬN ĐA NỀN TẢNG • MÔ HÌNH BẦU CỬ TỔNG THỐNG MỸ (US ELECTION WAR-ROOM)</a:t>
            </a:r>
          </a:p>
        </p:txBody>
      </p:sp>
      <p:sp>
        <p:nvSpPr>
          <p:cNvPr id="6" name="TextBox 5"/>
          <p:cNvSpPr txBox="1"/>
          <p:nvPr/>
        </p:nvSpPr>
        <p:spPr>
          <a:xfrm>
            <a:off x="411480" y="566928"/>
            <a:ext cx="11338560" cy="822960"/>
          </a:xfrm>
          <a:prstGeom prst="rect">
            <a:avLst/>
          </a:prstGeom>
          <a:noFill/>
        </p:spPr>
        <p:txBody>
          <a:bodyPr wrap="square" anchor="t" lIns="45720" rIns="45720" tIns="27432" bIns="27432">
            <a:spAutoFit/>
          </a:bodyPr>
          <a:lstStyle/>
          <a:p>
            <a:pPr algn="l">
              <a:lnSpc>
                <a:spcPct val="108000"/>
              </a:lnSpc>
            </a:pPr>
            <a:r>
              <a:rPr sz="2800" b="1">
                <a:solidFill>
                  <a:srgbClr val="FFFFFF"/>
                </a:solidFill>
                <a:latin typeface="Arial"/>
              </a:rPr>
              <a:t>WAR-ROOM BẦU CỬ CHỦ TỊCH VFF KHÓA X</a:t>
            </a:r>
          </a:p>
          <a:p>
            <a:pPr algn="l">
              <a:lnSpc>
                <a:spcPct val="108000"/>
              </a:lnSpc>
            </a:pPr>
            <a:r>
              <a:rPr sz="2800" b="1">
                <a:solidFill>
                  <a:srgbClr val="FFFFFF"/>
                </a:solidFill>
                <a:latin typeface="Arial"/>
              </a:rPr>
              <a:t>(NHIỆM KỲ 2026 – 2030)</a:t>
            </a:r>
          </a:p>
        </p:txBody>
      </p:sp>
      <p:sp>
        <p:nvSpPr>
          <p:cNvPr id="7" name="TextBox 6"/>
          <p:cNvSpPr txBox="1"/>
          <p:nvPr/>
        </p:nvSpPr>
        <p:spPr>
          <a:xfrm>
            <a:off x="411480" y="1426464"/>
            <a:ext cx="11338560" cy="502920"/>
          </a:xfrm>
          <a:prstGeom prst="rect">
            <a:avLst/>
          </a:prstGeom>
          <a:noFill/>
        </p:spPr>
        <p:txBody>
          <a:bodyPr wrap="square" anchor="t" lIns="45720" rIns="45720" tIns="27432" bIns="27432">
            <a:spAutoFit/>
          </a:bodyPr>
          <a:lstStyle/>
          <a:p>
            <a:pPr algn="l">
              <a:lnSpc>
                <a:spcPct val="118000"/>
              </a:lnSpc>
            </a:pPr>
            <a:r>
              <a:rPr sz="1150" b="0">
                <a:solidFill>
                  <a:srgbClr val="C8D6EB"/>
                </a:solidFill>
                <a:latin typeface="Arial"/>
              </a:rPr>
              <a:t>Cập nhật toàn diện đến 22/10/2026: 78 Bài báo chính thống + 378 Kênh Facebook (888 bài danh bạ / 665 bài xác thực URL) + 169 Video YouTube (82.549 câu thoại) + 68 Video TikTok</a:t>
            </a:r>
          </a:p>
          <a:p>
            <a:pPr algn="l">
              <a:lnSpc>
                <a:spcPct val="118000"/>
              </a:lnSpc>
            </a:pPr>
            <a:r>
              <a:rPr sz="1150" b="0">
                <a:solidFill>
                  <a:srgbClr val="C8D6EB"/>
                </a:solidFill>
                <a:latin typeface="Arial"/>
              </a:rPr>
              <a:t>Tổng quy mô: 974 Bài/Video xác thực (1.197 toàn danh bạ) &amp; 14.469 bình luận thu thập (10.514 bình luận trong Tháng 10 • 1.414 bình luận bày tỏ lập trường bầu cử • 7,89 triệu lượt xem video)</a:t>
            </a:r>
          </a:p>
        </p:txBody>
      </p:sp>
      <p:sp>
        <p:nvSpPr>
          <p:cNvPr id="8" name="Rectangle 7"/>
          <p:cNvSpPr/>
          <p:nvPr/>
        </p:nvSpPr>
        <p:spPr>
          <a:xfrm>
            <a:off x="396849" y="2070201"/>
            <a:ext cx="5561380" cy="3915460"/>
          </a:xfrm>
          <a:prstGeom prst="rect">
            <a:avLst/>
          </a:prstGeom>
          <a:solidFill>
            <a:srgbClr val="60A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11480" y="2084831"/>
            <a:ext cx="5532120" cy="3886200"/>
          </a:xfrm>
          <a:prstGeom prst="rect">
            <a:avLst/>
          </a:prstGeom>
          <a:solidFill>
            <a:srgbClr val="1560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2194560"/>
            <a:ext cx="5166360" cy="256032"/>
          </a:xfrm>
          <a:prstGeom prst="rect">
            <a:avLst/>
          </a:prstGeom>
          <a:noFill/>
        </p:spPr>
        <p:txBody>
          <a:bodyPr wrap="square" anchor="t" lIns="45720" rIns="45720" tIns="27432" bIns="27432">
            <a:spAutoFit/>
          </a:bodyPr>
          <a:lstStyle/>
          <a:p>
            <a:pPr algn="l">
              <a:lnSpc>
                <a:spcPct val="112000"/>
              </a:lnSpc>
            </a:pPr>
            <a:r>
              <a:rPr sz="1019" b="1">
                <a:solidFill>
                  <a:srgbClr val="F5B400"/>
                </a:solidFill>
                <a:latin typeface="Arial"/>
              </a:rPr>
              <a:t>ỨNG VIÊN ĐƯƠNG NHIỆM (CHUYÊN MÔN &amp; NGOẠI GIAO QUỐC TẾ)</a:t>
            </a:r>
          </a:p>
        </p:txBody>
      </p:sp>
      <p:sp>
        <p:nvSpPr>
          <p:cNvPr id="11" name="TextBox 10"/>
          <p:cNvSpPr txBox="1"/>
          <p:nvPr/>
        </p:nvSpPr>
        <p:spPr>
          <a:xfrm>
            <a:off x="594360" y="2450592"/>
            <a:ext cx="5166360" cy="347472"/>
          </a:xfrm>
          <a:prstGeom prst="rect">
            <a:avLst/>
          </a:prstGeom>
          <a:noFill/>
        </p:spPr>
        <p:txBody>
          <a:bodyPr wrap="square" anchor="t" lIns="45720" rIns="45720" tIns="27432" bIns="27432">
            <a:spAutoFit/>
          </a:bodyPr>
          <a:lstStyle/>
          <a:p>
            <a:pPr algn="l">
              <a:lnSpc>
                <a:spcPct val="112000"/>
              </a:lnSpc>
            </a:pPr>
            <a:r>
              <a:rPr sz="1900" b="1">
                <a:solidFill>
                  <a:srgbClr val="FFFFFF"/>
                </a:solidFill>
                <a:latin typeface="Arial"/>
              </a:rPr>
              <a:t>TS. TRẦN QUỐC TUẤN</a:t>
            </a:r>
          </a:p>
        </p:txBody>
      </p:sp>
      <p:sp>
        <p:nvSpPr>
          <p:cNvPr id="12" name="TextBox 11"/>
          <p:cNvSpPr txBox="1"/>
          <p:nvPr/>
        </p:nvSpPr>
        <p:spPr>
          <a:xfrm>
            <a:off x="594360" y="2816352"/>
            <a:ext cx="5166360" cy="1783080"/>
          </a:xfrm>
          <a:prstGeom prst="rect">
            <a:avLst/>
          </a:prstGeom>
          <a:noFill/>
        </p:spPr>
        <p:txBody>
          <a:bodyPr wrap="square" anchor="t" lIns="45720" rIns="45720" tIns="27432" bIns="27432">
            <a:spAutoFit/>
          </a:bodyPr>
          <a:lstStyle/>
          <a:p>
            <a:pPr algn="l">
              <a:lnSpc>
                <a:spcPct val="115000"/>
              </a:lnSpc>
            </a:pPr>
            <a:r>
              <a:rPr sz="1050" b="0">
                <a:solidFill>
                  <a:srgbClr val="FFFFFF"/>
                </a:solidFill>
                <a:latin typeface="Arial"/>
              </a:rPr>
              <a:t>• Độ phủ truyền thông lũy tiến 22 ngày: 596 bài/video đề cập (433 bài ủng hộ trực diện)</a:t>
            </a:r>
          </a:p>
          <a:p>
            <a:pPr algn="l">
              <a:lnSpc>
                <a:spcPct val="115000"/>
              </a:lnSpc>
            </a:pPr>
            <a:r>
              <a:rPr sz="1050" b="0">
                <a:solidFill>
                  <a:srgbClr val="FFFFFF"/>
                </a:solidFill>
                <a:latin typeface="Arial"/>
              </a:rPr>
              <a:t>• Lá phiếu Bình luận chọn làm Chủ tịch: 586 / 1.414 phiếu (41,4% tổng | 59,1% đối đầu)</a:t>
            </a:r>
          </a:p>
          <a:p>
            <a:pPr algn="l">
              <a:lnSpc>
                <a:spcPct val="115000"/>
              </a:lnSpc>
            </a:pPr>
            <a:r>
              <a:rPr sz="1050" b="0">
                <a:solidFill>
                  <a:srgbClr val="FFFFFF"/>
                </a:solidFill>
                <a:latin typeface="Arial"/>
              </a:rPr>
              <a:t>   + Bầu thẳng TS. Tuấn làm Chủ tịch: 465 phiếu (32,9%)</a:t>
            </a:r>
          </a:p>
          <a:p>
            <a:pPr algn="l">
              <a:lnSpc>
                <a:spcPct val="115000"/>
              </a:lnSpc>
            </a:pPr>
            <a:r>
              <a:rPr sz="1050" b="0">
                <a:solidFill>
                  <a:srgbClr val="FFFFFF"/>
                </a:solidFill>
                <a:latin typeface="Arial"/>
              </a:rPr>
              <a:t>   + Liên danh Kịch bản 1 (Tuấn Chủ tịch + Thụy Phó Tài chính): 121 phiếu (8,6%)</a:t>
            </a:r>
          </a:p>
          <a:p>
            <a:pPr algn="l">
              <a:lnSpc>
                <a:spcPct val="115000"/>
              </a:lnSpc>
            </a:pPr>
            <a:r>
              <a:rPr sz="1050" b="0">
                <a:solidFill>
                  <a:srgbClr val="FFFFFF"/>
                </a:solidFill>
                <a:latin typeface="Arial"/>
              </a:rPr>
              <a:t>• Bình luận phản đối / tiêu cực (22 ngày): 112 phản đối trực diện + 101 phản đối cả 2</a:t>
            </a:r>
          </a:p>
          <a:p>
            <a:pPr algn="l">
              <a:lnSpc>
                <a:spcPct val="115000"/>
              </a:lnSpc>
            </a:pPr>
            <a:r>
              <a:rPr sz="1050" b="0">
                <a:solidFill>
                  <a:srgbClr val="FFFFFF"/>
                </a:solidFill>
                <a:latin typeface="Arial"/>
              </a:rPr>
              <a:t>   (Tổng 213 bình luận tiêu cực + 93 bình luận muốn ông Tuấn lùi xuống làm Phó Chủ tịch)</a:t>
            </a:r>
          </a:p>
        </p:txBody>
      </p:sp>
      <p:sp>
        <p:nvSpPr>
          <p:cNvPr id="13" name="Rectangle 12"/>
          <p:cNvSpPr/>
          <p:nvPr/>
        </p:nvSpPr>
        <p:spPr>
          <a:xfrm>
            <a:off x="583387" y="4698187"/>
            <a:ext cx="5188305" cy="1100937"/>
          </a:xfrm>
          <a:prstGeom prst="rect">
            <a:avLst/>
          </a:prstGeom>
          <a:solidFill>
            <a:srgbClr val="F5B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94360" y="4709160"/>
            <a:ext cx="5166360" cy="1078992"/>
          </a:xfrm>
          <a:prstGeom prst="rect">
            <a:avLst/>
          </a:prstGeom>
          <a:solidFill>
            <a:srgbClr val="0B15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4782312"/>
            <a:ext cx="4892040" cy="932688"/>
          </a:xfrm>
          <a:prstGeom prst="rect">
            <a:avLst/>
          </a:prstGeom>
          <a:noFill/>
        </p:spPr>
        <p:txBody>
          <a:bodyPr wrap="square" anchor="t" lIns="45720" rIns="45720" tIns="27432" bIns="27432">
            <a:spAutoFit/>
          </a:bodyPr>
          <a:lstStyle/>
          <a:p>
            <a:pPr algn="l">
              <a:lnSpc>
                <a:spcPct val="115000"/>
              </a:lnSpc>
            </a:pPr>
            <a:r>
              <a:rPr sz="1019" b="1">
                <a:solidFill>
                  <a:srgbClr val="F5B400"/>
                </a:solidFill>
                <a:latin typeface="Arial"/>
              </a:rPr>
              <a:t>CHỈ SỐ TÍN NHIỆM RÒNG 22 NGÀY: +794 ĐIỂM GỘP (+373 ĐIỂM BÌNH LUẬN)</a:t>
            </a:r>
          </a:p>
          <a:p>
            <a:pPr algn="l">
              <a:lnSpc>
                <a:spcPct val="115000"/>
              </a:lnSpc>
            </a:pPr>
            <a:r>
              <a:rPr sz="1019" b="1">
                <a:solidFill>
                  <a:srgbClr val="F5B400"/>
                </a:solidFill>
                <a:latin typeface="Arial"/>
              </a:rPr>
              <a:t>• Dẫn đầu ở Báo Thể thao chính thống (44,9%), Fanpage chuyên môn &amp; Tầng Bình luận</a:t>
            </a:r>
          </a:p>
          <a:p>
            <a:pPr algn="l">
              <a:lnSpc>
                <a:spcPct val="115000"/>
              </a:lnSpc>
            </a:pPr>
            <a:r>
              <a:rPr sz="1019" b="1">
                <a:solidFill>
                  <a:srgbClr val="F5B400"/>
                </a:solidFill>
                <a:latin typeface="Arial"/>
              </a:rPr>
              <a:t>• Điểm cần lưu ý: 112 bình luận phản đối trực diện (tại vị lâu năm, tranh cãi cầu thủ nhập tịch)</a:t>
            </a:r>
          </a:p>
        </p:txBody>
      </p:sp>
      <p:sp>
        <p:nvSpPr>
          <p:cNvPr id="16" name="Rectangle 15"/>
          <p:cNvSpPr/>
          <p:nvPr/>
        </p:nvSpPr>
        <p:spPr>
          <a:xfrm>
            <a:off x="6230721" y="2070201"/>
            <a:ext cx="5561380" cy="3915460"/>
          </a:xfrm>
          <a:prstGeom prst="rect">
            <a:avLst/>
          </a:prstGeom>
          <a:solidFill>
            <a:srgbClr val="FCA5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45352" y="2084831"/>
            <a:ext cx="5532120" cy="3886200"/>
          </a:xfrm>
          <a:prstGeom prst="rect">
            <a:avLst/>
          </a:prstGeom>
          <a:solidFill>
            <a:srgbClr val="D627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28232" y="2194560"/>
            <a:ext cx="5166360" cy="256032"/>
          </a:xfrm>
          <a:prstGeom prst="rect">
            <a:avLst/>
          </a:prstGeom>
          <a:noFill/>
        </p:spPr>
        <p:txBody>
          <a:bodyPr wrap="square" anchor="t" lIns="45720" rIns="45720" tIns="27432" bIns="27432">
            <a:spAutoFit/>
          </a:bodyPr>
          <a:lstStyle/>
          <a:p>
            <a:pPr algn="l">
              <a:lnSpc>
                <a:spcPct val="112000"/>
              </a:lnSpc>
            </a:pPr>
            <a:r>
              <a:rPr sz="1019" b="1">
                <a:solidFill>
                  <a:srgbClr val="F5B400"/>
                </a:solidFill>
                <a:latin typeface="Arial"/>
              </a:rPr>
              <a:t>ỨNG VIÊN DOANH NHÂN (TIỀM LỰC TÀI CHÍNH &amp; XÃ HỘI HÓA)</a:t>
            </a:r>
          </a:p>
        </p:txBody>
      </p:sp>
      <p:sp>
        <p:nvSpPr>
          <p:cNvPr id="19" name="TextBox 18"/>
          <p:cNvSpPr txBox="1"/>
          <p:nvPr/>
        </p:nvSpPr>
        <p:spPr>
          <a:xfrm>
            <a:off x="6428232" y="2450592"/>
            <a:ext cx="5166360" cy="347472"/>
          </a:xfrm>
          <a:prstGeom prst="rect">
            <a:avLst/>
          </a:prstGeom>
          <a:noFill/>
        </p:spPr>
        <p:txBody>
          <a:bodyPr wrap="square" anchor="t" lIns="45720" rIns="45720" tIns="27432" bIns="27432">
            <a:spAutoFit/>
          </a:bodyPr>
          <a:lstStyle/>
          <a:p>
            <a:pPr algn="l">
              <a:lnSpc>
                <a:spcPct val="112000"/>
              </a:lnSpc>
            </a:pPr>
            <a:r>
              <a:rPr sz="1900" b="1">
                <a:solidFill>
                  <a:srgbClr val="FFFFFF"/>
                </a:solidFill>
                <a:latin typeface="Arial"/>
              </a:rPr>
              <a:t>ÔNG NGUYỄN ĐỨC THỤY (BẦU THỤY)</a:t>
            </a:r>
          </a:p>
        </p:txBody>
      </p:sp>
      <p:sp>
        <p:nvSpPr>
          <p:cNvPr id="20" name="TextBox 19"/>
          <p:cNvSpPr txBox="1"/>
          <p:nvPr/>
        </p:nvSpPr>
        <p:spPr>
          <a:xfrm>
            <a:off x="6428232" y="2816352"/>
            <a:ext cx="5166360" cy="1783080"/>
          </a:xfrm>
          <a:prstGeom prst="rect">
            <a:avLst/>
          </a:prstGeom>
          <a:noFill/>
        </p:spPr>
        <p:txBody>
          <a:bodyPr wrap="square" anchor="t" lIns="45720" rIns="45720" tIns="27432" bIns="27432">
            <a:spAutoFit/>
          </a:bodyPr>
          <a:lstStyle/>
          <a:p>
            <a:pPr algn="l">
              <a:lnSpc>
                <a:spcPct val="115000"/>
              </a:lnSpc>
            </a:pPr>
            <a:r>
              <a:rPr sz="1050" b="0">
                <a:solidFill>
                  <a:srgbClr val="FFFFFF"/>
                </a:solidFill>
                <a:latin typeface="Arial"/>
              </a:rPr>
              <a:t>• Độ phủ truyền thông lũy tiến 22 ngày: 454 bài/video đề cập (316 bài ủng hộ/đẩy sóng)</a:t>
            </a:r>
          </a:p>
          <a:p>
            <a:pPr algn="l">
              <a:lnSpc>
                <a:spcPct val="115000"/>
              </a:lnSpc>
            </a:pPr>
            <a:r>
              <a:rPr sz="1050" b="0">
                <a:solidFill>
                  <a:srgbClr val="FFFFFF"/>
                </a:solidFill>
                <a:latin typeface="Arial"/>
              </a:rPr>
              <a:t>• Lá phiếu Bình luận chọn làm Chủ tịch: 405 / 1.414 phiếu (28,6% tổng | 40,9% đối đầu)</a:t>
            </a:r>
          </a:p>
          <a:p>
            <a:pPr algn="l">
              <a:lnSpc>
                <a:spcPct val="115000"/>
              </a:lnSpc>
            </a:pPr>
            <a:r>
              <a:rPr sz="1050" b="0">
                <a:solidFill>
                  <a:srgbClr val="FFFFFF"/>
                </a:solidFill>
                <a:latin typeface="Arial"/>
              </a:rPr>
              <a:t>   + Bầu thẳng Bầu Thụy làm Chủ tịch: 312 phiếu (22,1%)</a:t>
            </a:r>
          </a:p>
          <a:p>
            <a:pPr algn="l">
              <a:lnSpc>
                <a:spcPct val="115000"/>
              </a:lnSpc>
            </a:pPr>
            <a:r>
              <a:rPr sz="1050" b="0">
                <a:solidFill>
                  <a:srgbClr val="FFFFFF"/>
                </a:solidFill>
                <a:latin typeface="Arial"/>
              </a:rPr>
              <a:t>   + Liên danh Kịch bản 2 (Thụy Chủ tịch + Tuấn Phó Chuyên môn): 93 phiếu (6,6%)</a:t>
            </a:r>
          </a:p>
          <a:p>
            <a:pPr algn="l">
              <a:lnSpc>
                <a:spcPct val="115000"/>
              </a:lnSpc>
            </a:pPr>
            <a:r>
              <a:rPr sz="1050" b="0">
                <a:solidFill>
                  <a:srgbClr val="FFFFFF"/>
                </a:solidFill>
                <a:latin typeface="Arial"/>
              </a:rPr>
              <a:t>• Bình luận phản đối / cảnh giác (22 ngày): 210 phản đối trực diện + 101 phản đối cả 2</a:t>
            </a:r>
          </a:p>
          <a:p>
            <a:pPr algn="l">
              <a:lnSpc>
                <a:spcPct val="115000"/>
              </a:lnSpc>
            </a:pPr>
            <a:r>
              <a:rPr sz="1050" b="0">
                <a:solidFill>
                  <a:srgbClr val="FFFFFF"/>
                </a:solidFill>
                <a:latin typeface="Arial"/>
              </a:rPr>
              <a:t>   (Tổng 311 bình luận tiêu cực nhắc giải tán CLB Sài Gòn Xuân Thành &amp; xung đột lợi ích CLB)</a:t>
            </a:r>
          </a:p>
        </p:txBody>
      </p:sp>
      <p:sp>
        <p:nvSpPr>
          <p:cNvPr id="21" name="Rectangle 20"/>
          <p:cNvSpPr/>
          <p:nvPr/>
        </p:nvSpPr>
        <p:spPr>
          <a:xfrm>
            <a:off x="6417259" y="4698187"/>
            <a:ext cx="5188305" cy="1100937"/>
          </a:xfrm>
          <a:prstGeom prst="rect">
            <a:avLst/>
          </a:prstGeom>
          <a:solidFill>
            <a:srgbClr val="F5B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428232" y="4709160"/>
            <a:ext cx="5166360" cy="1078992"/>
          </a:xfrm>
          <a:prstGeom prst="rect">
            <a:avLst/>
          </a:prstGeom>
          <a:solidFill>
            <a:srgbClr val="0B15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65392" y="4782312"/>
            <a:ext cx="4892040" cy="932688"/>
          </a:xfrm>
          <a:prstGeom prst="rect">
            <a:avLst/>
          </a:prstGeom>
          <a:noFill/>
        </p:spPr>
        <p:txBody>
          <a:bodyPr wrap="square" anchor="t" lIns="45720" rIns="45720" tIns="27432" bIns="27432">
            <a:spAutoFit/>
          </a:bodyPr>
          <a:lstStyle/>
          <a:p>
            <a:pPr algn="l">
              <a:lnSpc>
                <a:spcPct val="115000"/>
              </a:lnSpc>
            </a:pPr>
            <a:r>
              <a:rPr sz="1019" b="1">
                <a:solidFill>
                  <a:srgbClr val="F5B400"/>
                </a:solidFill>
                <a:latin typeface="Arial"/>
              </a:rPr>
              <a:t>CHỈ SỐ TÍN NHIỆM RÒNG 22 NGÀY: +368 ĐIỂM GỘP (+94 ĐIỂM BÌNH LUẬN)</a:t>
            </a:r>
          </a:p>
          <a:p>
            <a:pPr algn="l">
              <a:lnSpc>
                <a:spcPct val="115000"/>
              </a:lnSpc>
            </a:pPr>
            <a:r>
              <a:rPr sz="1019" b="1">
                <a:solidFill>
                  <a:srgbClr val="F5B400"/>
                </a:solidFill>
                <a:latin typeface="Arial"/>
              </a:rPr>
              <a:t>• Đợt nổ sóng mới (21–22/10): Tung cam kết huy động 600–1.000 tỷ/năm &amp; không dùng ngân sách</a:t>
            </a:r>
          </a:p>
          <a:p>
            <a:pPr algn="l">
              <a:lnSpc>
                <a:spcPct val="115000"/>
              </a:lnSpc>
            </a:pPr>
            <a:r>
              <a:rPr sz="1019" b="1">
                <a:solidFill>
                  <a:srgbClr val="F5B400"/>
                </a:solidFill>
                <a:latin typeface="Arial"/>
              </a:rPr>
              <a:t>• Nghẽn ở tầng Bình luận: 210 bình luận phản đối trực diện + 121 bình luận chỉ muốn giữ vai trò Phó Tài chính</a:t>
            </a:r>
          </a:p>
        </p:txBody>
      </p:sp>
      <p:sp>
        <p:nvSpPr>
          <p:cNvPr id="24" name="Rectangle 23"/>
          <p:cNvSpPr/>
          <p:nvPr/>
        </p:nvSpPr>
        <p:spPr>
          <a:xfrm>
            <a:off x="400507" y="6097219"/>
            <a:ext cx="11387937" cy="534009"/>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11480" y="6108192"/>
            <a:ext cx="11365992" cy="512064"/>
          </a:xfrm>
          <a:prstGeom prst="rect">
            <a:avLst/>
          </a:prstGeom>
          <a:solidFill>
            <a:srgbClr val="1422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94360" y="6172200"/>
            <a:ext cx="10972800" cy="384048"/>
          </a:xfrm>
          <a:prstGeom prst="rect">
            <a:avLst/>
          </a:prstGeom>
          <a:noFill/>
        </p:spPr>
        <p:txBody>
          <a:bodyPr wrap="square" anchor="t" lIns="45720" rIns="45720" tIns="27432" bIns="27432">
            <a:spAutoFit/>
          </a:bodyPr>
          <a:lstStyle/>
          <a:p>
            <a:pPr algn="l">
              <a:lnSpc>
                <a:spcPct val="112000"/>
              </a:lnSpc>
            </a:pPr>
            <a:r>
              <a:rPr sz="950" b="0">
                <a:solidFill>
                  <a:srgbClr val="CBD5E1"/>
                </a:solidFill>
                <a:latin typeface="Arial"/>
              </a:rPr>
              <a:t>Cấu trúc Báo cáo War-Room (14 Slides Native PPTX có thể chỉnh sửa 100%): (1) 3 Thước đo Tín nhiệm &amp; 2 Kịch bản Liên danh • (2) Lũy tiến 22 Ngày (01–22/10) • (3) Cảm xúc Ủng hộ/Phản đối • (4A-4C) Chia tách 4 Tầng Báo chí/FB/YT-TikTok/Bình luận &amp; Hệ thống Luận điểm • (5A-5C) Ma trận Đảo chiều Top 45 Kênh • (6A-6B) Bản đồ Định danh • (7) Tư vấn Ứng viên • (8) Phụ lục Kiểm chứng.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6FA"/>
        </a:solidFill>
        <a:effectLst/>
      </p:bgPr>
    </p:bg>
    <p:spTree>
      <p:nvGrpSpPr>
        <p:cNvPr id="1" name=""/>
        <p:cNvGrpSpPr/>
        <p:nvPr/>
      </p:nvGrpSpPr>
      <p:grpSpPr/>
      <p:sp>
        <p:nvSpPr>
          <p:cNvPr id="2" name="Rectangle 1"/>
          <p:cNvSpPr/>
          <p:nvPr/>
        </p:nvSpPr>
        <p:spPr>
          <a:xfrm>
            <a:off x="0" y="0"/>
            <a:ext cx="4059936" cy="54864"/>
          </a:xfrm>
          <a:prstGeom prst="rect">
            <a:avLst/>
          </a:prstGeom>
          <a:solidFill>
            <a:srgbClr val="1560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059936" y="0"/>
            <a:ext cx="4069080" cy="54864"/>
          </a:xfrm>
          <a:prstGeom prst="rect">
            <a:avLst/>
          </a:prstGeom>
          <a:solidFill>
            <a:srgbClr val="F5B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129016" y="0"/>
            <a:ext cx="4059936" cy="54864"/>
          </a:xfrm>
          <a:prstGeom prst="rect">
            <a:avLst/>
          </a:prstGeom>
          <a:solidFill>
            <a:srgbClr val="D627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54864"/>
            <a:ext cx="12191695" cy="786384"/>
          </a:xfrm>
          <a:prstGeom prst="rect">
            <a:avLst/>
          </a:prstGeom>
          <a:solidFill>
            <a:srgbClr val="0B15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01168" y="128016"/>
            <a:ext cx="2029968" cy="274320"/>
          </a:xfrm>
          <a:prstGeom prst="rect">
            <a:avLst/>
          </a:prstGeom>
          <a:solidFill>
            <a:srgbClr val="1560D4"/>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860" b="1">
                <a:solidFill>
                  <a:srgbClr val="F5B400"/>
                </a:solidFill>
                <a:latin typeface="Arial"/>
              </a:rPr>
              <a:t>US ELECTION WAR-ROOM • SLIDE 1</a:t>
            </a:r>
          </a:p>
        </p:txBody>
      </p:sp>
      <p:sp>
        <p:nvSpPr>
          <p:cNvPr id="7" name="TextBox 6"/>
          <p:cNvSpPr txBox="1"/>
          <p:nvPr/>
        </p:nvSpPr>
        <p:spPr>
          <a:xfrm>
            <a:off x="2286000" y="109728"/>
            <a:ext cx="9738360" cy="310896"/>
          </a:xfrm>
          <a:prstGeom prst="rect">
            <a:avLst/>
          </a:prstGeom>
          <a:noFill/>
        </p:spPr>
        <p:txBody>
          <a:bodyPr wrap="square" anchor="ctr" lIns="45720" rIns="45720" tIns="27432" bIns="27432">
            <a:spAutoFit/>
          </a:bodyPr>
          <a:lstStyle/>
          <a:p>
            <a:pPr algn="l">
              <a:lnSpc>
                <a:spcPct val="112000"/>
              </a:lnSpc>
            </a:pPr>
            <a:r>
              <a:rPr sz="1380" b="1">
                <a:solidFill>
                  <a:srgbClr val="FFFFFF"/>
                </a:solidFill>
                <a:latin typeface="Arial"/>
              </a:rPr>
              <a:t>TỔNG QUAN CUỘC ĐUA &amp; 3 THƯỚC ĐO TÍN NHIỆM ỨNG VIÊN (01/10 – 22/10/2026)</a:t>
            </a:r>
          </a:p>
        </p:txBody>
      </p:sp>
      <p:sp>
        <p:nvSpPr>
          <p:cNvPr id="8" name="TextBox 7"/>
          <p:cNvSpPr txBox="1"/>
          <p:nvPr/>
        </p:nvSpPr>
        <p:spPr>
          <a:xfrm>
            <a:off x="201168" y="475488"/>
            <a:ext cx="11795760" cy="292608"/>
          </a:xfrm>
          <a:prstGeom prst="rect">
            <a:avLst/>
          </a:prstGeom>
          <a:noFill/>
        </p:spPr>
        <p:txBody>
          <a:bodyPr wrap="square" anchor="ctr" lIns="45720" rIns="45720" tIns="27432" bIns="27432">
            <a:spAutoFit/>
          </a:bodyPr>
          <a:lstStyle/>
          <a:p>
            <a:pPr algn="l">
              <a:lnSpc>
                <a:spcPct val="112000"/>
              </a:lnSpc>
            </a:pPr>
            <a:r>
              <a:rPr sz="960" b="0">
                <a:solidFill>
                  <a:srgbClr val="C8D4E6"/>
                </a:solidFill>
                <a:latin typeface="Arial"/>
              </a:rPr>
              <a:t>Bóc tách 3 tầng: (1) Bài đăng Truyền thông &amp; MXH (N = 974 bài xác thực / 1.197 danh bạ) • (2) Lá phiếu Bình luận 7 Kịch bản (N = 1.414) • (3) Cảm xúc Ròng Toàn diện</a:t>
            </a:r>
          </a:p>
        </p:txBody>
      </p:sp>
      <p:sp>
        <p:nvSpPr>
          <p:cNvPr id="9" name="Rectangle 8"/>
          <p:cNvSpPr/>
          <p:nvPr/>
        </p:nvSpPr>
        <p:spPr>
          <a:xfrm>
            <a:off x="186537" y="881481"/>
            <a:ext cx="3961180" cy="1400860"/>
          </a:xfrm>
          <a:prstGeom prst="rect">
            <a:avLst/>
          </a:prstGeom>
          <a:solidFill>
            <a:srgbClr val="1560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01168" y="896112"/>
            <a:ext cx="3931920" cy="1371600"/>
          </a:xfrm>
          <a:prstGeom prst="rect">
            <a:avLst/>
          </a:prstGeom>
          <a:solidFill>
            <a:srgbClr val="EBF3FF"/>
          </a:solidFill>
          <a:ln>
            <a:noFill/>
          </a:ln>
        </p:spPr>
        <p:style>
          <a:lnRef idx="1">
            <a:schemeClr val="accent1"/>
          </a:lnRef>
          <a:fillRef idx="3">
            <a:schemeClr val="accent1"/>
          </a:fillRef>
          <a:effectRef idx="2">
            <a:schemeClr val="accent1"/>
          </a:effectRef>
          <a:fontRef idx="minor">
            <a:schemeClr val="lt1"/>
          </a:fontRef>
        </p:style>
        <p:txBody>
          <a:bodyPr rtlCol="0" anchor="t" wrap="square" lIns="82296" rIns="82296" tIns="27432" bIns="27432"/>
          <a:lstStyle/>
          <a:p>
            <a:pPr algn="l">
              <a:lnSpc>
                <a:spcPct val="102000"/>
              </a:lnSpc>
              <a:spcAft>
                <a:spcPts val="100"/>
              </a:spcAft>
            </a:pPr>
            <a:r>
              <a:rPr sz="1000" b="1">
                <a:solidFill>
                  <a:srgbClr val="1560D4"/>
                </a:solidFill>
                <a:latin typeface="Arial"/>
              </a:rPr>
              <a:t>TS. TRẦN QUỐC TUẤN (ĐƯƠNG NHIỆM)</a:t>
            </a:r>
          </a:p>
          <a:p>
            <a:pPr algn="l">
              <a:lnSpc>
                <a:spcPct val="102000"/>
              </a:lnSpc>
              <a:spcAft>
                <a:spcPts val="100"/>
              </a:spcAft>
            </a:pPr>
            <a:r>
              <a:rPr sz="1350" b="1">
                <a:solidFill>
                  <a:srgbClr val="0B1528"/>
                </a:solidFill>
                <a:latin typeface="Arial"/>
              </a:rPr>
              <a:t>41,4% Tổng Phiếu | 59,1% Đối Đầu</a:t>
            </a:r>
          </a:p>
          <a:p>
            <a:pPr algn="l">
              <a:lnSpc>
                <a:spcPct val="102000"/>
              </a:lnSpc>
              <a:spcAft>
                <a:spcPts val="100"/>
              </a:spcAft>
            </a:pPr>
            <a:r>
              <a:rPr sz="810" b="0">
                <a:solidFill>
                  <a:srgbClr val="121C2D"/>
                </a:solidFill>
                <a:latin typeface="Arial"/>
              </a:rPr>
              <a:t>• Khối chọn TS. Tuấn làm CT: 586/1.414 (465 bầu thẳng + 121 LD1)</a:t>
            </a:r>
          </a:p>
          <a:p>
            <a:pPr algn="l">
              <a:lnSpc>
                <a:spcPct val="102000"/>
              </a:lnSpc>
              <a:spcAft>
                <a:spcPts val="100"/>
              </a:spcAft>
            </a:pPr>
            <a:r>
              <a:rPr sz="810" b="0">
                <a:solidFill>
                  <a:srgbClr val="121C2D"/>
                </a:solidFill>
                <a:latin typeface="Arial"/>
              </a:rPr>
              <a:t>• Bài đăng &amp; Video ủng hộ: 433 / 974 bài xác thực (44,5%)</a:t>
            </a:r>
          </a:p>
          <a:p>
            <a:pPr algn="l">
              <a:lnSpc>
                <a:spcPct val="102000"/>
              </a:lnSpc>
              <a:spcAft>
                <a:spcPts val="0"/>
              </a:spcAft>
            </a:pPr>
            <a:r>
              <a:rPr sz="810" b="0">
                <a:solidFill>
                  <a:srgbClr val="121C2D"/>
                </a:solidFill>
                <a:latin typeface="Arial"/>
              </a:rPr>
              <a:t>• Bình luận phản đối: 112 trực diện (7,9%) + 101 phản đối cả 2</a:t>
            </a:r>
          </a:p>
        </p:txBody>
      </p:sp>
      <p:sp>
        <p:nvSpPr>
          <p:cNvPr id="11" name="Rectangle 10"/>
          <p:cNvSpPr/>
          <p:nvPr/>
        </p:nvSpPr>
        <p:spPr>
          <a:xfrm>
            <a:off x="4228185" y="881481"/>
            <a:ext cx="3732580" cy="140086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42816" y="896112"/>
            <a:ext cx="3703320" cy="1371600"/>
          </a:xfrm>
          <a:prstGeom prst="rect">
            <a:avLst/>
          </a:prstGeom>
          <a:solidFill>
            <a:srgbClr val="FFF6E8"/>
          </a:solidFill>
          <a:ln>
            <a:noFill/>
          </a:ln>
        </p:spPr>
        <p:style>
          <a:lnRef idx="1">
            <a:schemeClr val="accent1"/>
          </a:lnRef>
          <a:fillRef idx="3">
            <a:schemeClr val="accent1"/>
          </a:fillRef>
          <a:effectRef idx="2">
            <a:schemeClr val="accent1"/>
          </a:effectRef>
          <a:fontRef idx="minor">
            <a:schemeClr val="lt1"/>
          </a:fontRef>
        </p:style>
        <p:txBody>
          <a:bodyPr rtlCol="0" anchor="t" wrap="square" lIns="82296" rIns="82296" tIns="27432" bIns="27432"/>
          <a:lstStyle/>
          <a:p>
            <a:pPr algn="l">
              <a:lnSpc>
                <a:spcPct val="102000"/>
              </a:lnSpc>
              <a:spcAft>
                <a:spcPts val="100"/>
              </a:spcAft>
            </a:pPr>
            <a:r>
              <a:rPr sz="950" b="1">
                <a:solidFill>
                  <a:srgbClr val="0B1528"/>
                </a:solidFill>
                <a:latin typeface="Arial"/>
              </a:rPr>
              <a:t>GIẢI PHẪU KHỐI LIÊN DANH (214) &amp; PHẢN ĐỐI (423)</a:t>
            </a:r>
          </a:p>
          <a:p>
            <a:pPr algn="l">
              <a:lnSpc>
                <a:spcPct val="102000"/>
              </a:lnSpc>
              <a:spcAft>
                <a:spcPts val="100"/>
              </a:spcAft>
            </a:pPr>
            <a:r>
              <a:rPr sz="1250" b="1">
                <a:solidFill>
                  <a:srgbClr val="E67E22"/>
                </a:solidFill>
                <a:latin typeface="Arial"/>
              </a:rPr>
              <a:t>2 Kịch Bản Liên Danh + 3 Nhóm Phản Đối</a:t>
            </a:r>
          </a:p>
          <a:p>
            <a:pPr algn="l">
              <a:lnSpc>
                <a:spcPct val="102000"/>
              </a:lnSpc>
              <a:spcAft>
                <a:spcPts val="100"/>
              </a:spcAft>
            </a:pPr>
            <a:r>
              <a:rPr sz="810" b="0">
                <a:solidFill>
                  <a:srgbClr val="121C2D"/>
                </a:solidFill>
                <a:latin typeface="Arial"/>
              </a:rPr>
              <a:t>• Liên danh 1 (Tuấn CT + Thụy Phó TC): 121 phiếu (8,6%)</a:t>
            </a:r>
          </a:p>
          <a:p>
            <a:pPr algn="l">
              <a:lnSpc>
                <a:spcPct val="102000"/>
              </a:lnSpc>
              <a:spcAft>
                <a:spcPts val="100"/>
              </a:spcAft>
            </a:pPr>
            <a:r>
              <a:rPr sz="810" b="0">
                <a:solidFill>
                  <a:srgbClr val="121C2D"/>
                </a:solidFill>
                <a:latin typeface="Arial"/>
              </a:rPr>
              <a:t>• Liên danh 2 (Thụy CT + Tuấn Phó CM): 93 phiếu (6,6%)</a:t>
            </a:r>
          </a:p>
          <a:p>
            <a:pPr algn="l">
              <a:lnSpc>
                <a:spcPct val="102000"/>
              </a:lnSpc>
              <a:spcAft>
                <a:spcPts val="0"/>
              </a:spcAft>
            </a:pPr>
            <a:r>
              <a:rPr sz="810" b="0">
                <a:solidFill>
                  <a:srgbClr val="121C2D"/>
                </a:solidFill>
                <a:latin typeface="Arial"/>
              </a:rPr>
              <a:t>• Phản đối: Thụy 210 (14,9%) | Tuấn 112 (7,9%) | Cả 2: 101 (7,1%)</a:t>
            </a:r>
          </a:p>
        </p:txBody>
      </p:sp>
      <p:sp>
        <p:nvSpPr>
          <p:cNvPr id="13" name="Rectangle 12"/>
          <p:cNvSpPr/>
          <p:nvPr/>
        </p:nvSpPr>
        <p:spPr>
          <a:xfrm>
            <a:off x="8041233" y="881481"/>
            <a:ext cx="3961180" cy="1400860"/>
          </a:xfrm>
          <a:prstGeom prst="rect">
            <a:avLst/>
          </a:prstGeom>
          <a:solidFill>
            <a:srgbClr val="D627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55864" y="896112"/>
            <a:ext cx="3931920" cy="1371600"/>
          </a:xfrm>
          <a:prstGeom prst="rect">
            <a:avLst/>
          </a:prstGeom>
          <a:solidFill>
            <a:srgbClr val="FEEEEE"/>
          </a:solidFill>
          <a:ln>
            <a:noFill/>
          </a:ln>
        </p:spPr>
        <p:style>
          <a:lnRef idx="1">
            <a:schemeClr val="accent1"/>
          </a:lnRef>
          <a:fillRef idx="3">
            <a:schemeClr val="accent1"/>
          </a:fillRef>
          <a:effectRef idx="2">
            <a:schemeClr val="accent1"/>
          </a:effectRef>
          <a:fontRef idx="minor">
            <a:schemeClr val="lt1"/>
          </a:fontRef>
        </p:style>
        <p:txBody>
          <a:bodyPr rtlCol="0" anchor="t" wrap="square" lIns="82296" rIns="82296" tIns="27432" bIns="27432"/>
          <a:lstStyle/>
          <a:p>
            <a:pPr algn="l">
              <a:lnSpc>
                <a:spcPct val="102000"/>
              </a:lnSpc>
              <a:spcAft>
                <a:spcPts val="100"/>
              </a:spcAft>
            </a:pPr>
            <a:r>
              <a:rPr sz="1000" b="1">
                <a:solidFill>
                  <a:srgbClr val="D62728"/>
                </a:solidFill>
                <a:latin typeface="Arial"/>
              </a:rPr>
              <a:t>ÔNG NGUYỄN ĐỨC THỤY (BẦU THỤY)</a:t>
            </a:r>
          </a:p>
          <a:p>
            <a:pPr algn="l">
              <a:lnSpc>
                <a:spcPct val="102000"/>
              </a:lnSpc>
              <a:spcAft>
                <a:spcPts val="100"/>
              </a:spcAft>
            </a:pPr>
            <a:r>
              <a:rPr sz="1350" b="1">
                <a:solidFill>
                  <a:srgbClr val="0B1528"/>
                </a:solidFill>
                <a:latin typeface="Arial"/>
              </a:rPr>
              <a:t>28,6% Tổng Phiếu | 40,9% Đối Đầu</a:t>
            </a:r>
          </a:p>
          <a:p>
            <a:pPr algn="l">
              <a:lnSpc>
                <a:spcPct val="102000"/>
              </a:lnSpc>
              <a:spcAft>
                <a:spcPts val="100"/>
              </a:spcAft>
            </a:pPr>
            <a:r>
              <a:rPr sz="810" b="0">
                <a:solidFill>
                  <a:srgbClr val="121C2D"/>
                </a:solidFill>
                <a:latin typeface="Arial"/>
              </a:rPr>
              <a:t>• Khối chọn Bầu Thụy làm CT: 405/1.414 (312 bầu thẳng + 93 LD2)</a:t>
            </a:r>
          </a:p>
          <a:p>
            <a:pPr algn="l">
              <a:lnSpc>
                <a:spcPct val="102000"/>
              </a:lnSpc>
              <a:spcAft>
                <a:spcPts val="100"/>
              </a:spcAft>
            </a:pPr>
            <a:r>
              <a:rPr sz="810" b="0">
                <a:solidFill>
                  <a:srgbClr val="121C2D"/>
                </a:solidFill>
                <a:latin typeface="Arial"/>
              </a:rPr>
              <a:t>• Bài đăng &amp; Video ủng hộ: 316 / 974 bài xác thực (32,4%)</a:t>
            </a:r>
          </a:p>
          <a:p>
            <a:pPr algn="l">
              <a:lnSpc>
                <a:spcPct val="102000"/>
              </a:lnSpc>
              <a:spcAft>
                <a:spcPts val="0"/>
              </a:spcAft>
            </a:pPr>
            <a:r>
              <a:rPr sz="810" b="0">
                <a:solidFill>
                  <a:srgbClr val="121C2D"/>
                </a:solidFill>
                <a:latin typeface="Arial"/>
              </a:rPr>
              <a:t>• Bình luận phản đối: 210 trực diện (14,9%) + 101 phản đối cả 2</a:t>
            </a:r>
          </a:p>
        </p:txBody>
      </p:sp>
      <p:sp>
        <p:nvSpPr>
          <p:cNvPr id="15" name="Rectangle 14"/>
          <p:cNvSpPr/>
          <p:nvPr/>
        </p:nvSpPr>
        <p:spPr>
          <a:xfrm>
            <a:off x="190195" y="2311603"/>
            <a:ext cx="11808561" cy="1228953"/>
          </a:xfrm>
          <a:prstGeom prst="rect">
            <a:avLst/>
          </a:prstGeom>
          <a:solidFill>
            <a:srgbClr val="D2DA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01168" y="2322576"/>
            <a:ext cx="11786616" cy="12070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9184" y="2368296"/>
            <a:ext cx="11521440" cy="219456"/>
          </a:xfrm>
          <a:prstGeom prst="rect">
            <a:avLst/>
          </a:prstGeom>
          <a:noFill/>
        </p:spPr>
        <p:txBody>
          <a:bodyPr wrap="square" anchor="t" lIns="45720" rIns="45720" tIns="27432" bIns="27432">
            <a:spAutoFit/>
          </a:bodyPr>
          <a:lstStyle/>
          <a:p>
            <a:pPr algn="l">
              <a:lnSpc>
                <a:spcPct val="112000"/>
              </a:lnSpc>
            </a:pPr>
            <a:r>
              <a:rPr sz="940" b="1">
                <a:solidFill>
                  <a:srgbClr val="0B1528"/>
                </a:solidFill>
                <a:latin typeface="Arial"/>
              </a:rPr>
              <a:t>THƯỚC ĐO 1: TỶ LỆ BÀI ĐĂNG &amp; VIDEO TRUYỀN THÔNG ĐA NỀN TẢNG (N = 974 BÀI XÁC THỰC URL / 1.197 BÀI TOÀN DANH BẠ: 78 BÁO + 665 FB + 169 YT + 62 TIKTOK)</a:t>
            </a:r>
          </a:p>
        </p:txBody>
      </p:sp>
      <p:sp>
        <p:nvSpPr>
          <p:cNvPr id="18" name="Rectangle 17"/>
          <p:cNvSpPr/>
          <p:nvPr/>
        </p:nvSpPr>
        <p:spPr>
          <a:xfrm>
            <a:off x="329184" y="2633472"/>
            <a:ext cx="5112810" cy="438912"/>
          </a:xfrm>
          <a:prstGeom prst="rect">
            <a:avLst/>
          </a:prstGeom>
          <a:solidFill>
            <a:srgbClr val="1560D4"/>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2000"/>
              </a:lnSpc>
            </a:pPr>
            <a:r>
              <a:rPr sz="919" b="1">
                <a:solidFill>
                  <a:srgbClr val="FFFFFF"/>
                </a:solidFill>
                <a:latin typeface="Arial"/>
              </a:rPr>
              <a:t>Ủng hộ TS. Trần Quốc Tuấn</a:t>
            </a:r>
          </a:p>
          <a:p>
            <a:pPr algn="ctr">
              <a:lnSpc>
                <a:spcPct val="102000"/>
              </a:lnSpc>
            </a:pPr>
            <a:r>
              <a:rPr sz="919" b="1">
                <a:solidFill>
                  <a:srgbClr val="FFFFFF"/>
                </a:solidFill>
                <a:latin typeface="Arial"/>
              </a:rPr>
              <a:t>433 bài/video (44,5%)</a:t>
            </a:r>
          </a:p>
        </p:txBody>
      </p:sp>
      <p:sp>
        <p:nvSpPr>
          <p:cNvPr id="19" name="Rectangle 18"/>
          <p:cNvSpPr/>
          <p:nvPr/>
        </p:nvSpPr>
        <p:spPr>
          <a:xfrm>
            <a:off x="5451138" y="2633472"/>
            <a:ext cx="2143732" cy="438912"/>
          </a:xfrm>
          <a:prstGeom prst="rect">
            <a:avLst/>
          </a:prstGeom>
          <a:solidFill>
            <a:srgbClr val="0E94A5"/>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2000"/>
              </a:lnSpc>
            </a:pPr>
            <a:r>
              <a:rPr sz="880" b="1">
                <a:solidFill>
                  <a:srgbClr val="FFFFFF"/>
                </a:solidFill>
                <a:latin typeface="Arial"/>
              </a:rPr>
              <a:t>Trung lập / Khảo sát 3 ỨV &amp; Liên danh</a:t>
            </a:r>
          </a:p>
          <a:p>
            <a:pPr algn="ctr">
              <a:lnSpc>
                <a:spcPct val="102000"/>
              </a:lnSpc>
            </a:pPr>
            <a:r>
              <a:rPr sz="880" b="1">
                <a:solidFill>
                  <a:srgbClr val="FFFFFF"/>
                </a:solidFill>
                <a:latin typeface="Arial"/>
              </a:rPr>
              <a:t>182 bài/video (18,7%)</a:t>
            </a:r>
          </a:p>
        </p:txBody>
      </p:sp>
      <p:sp>
        <p:nvSpPr>
          <p:cNvPr id="20" name="Rectangle 19"/>
          <p:cNvSpPr/>
          <p:nvPr/>
        </p:nvSpPr>
        <p:spPr>
          <a:xfrm>
            <a:off x="7604015" y="2633472"/>
            <a:ext cx="499502" cy="438912"/>
          </a:xfrm>
          <a:prstGeom prst="rect">
            <a:avLst/>
          </a:prstGeom>
          <a:solidFill>
            <a:srgbClr val="444E5E"/>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2000"/>
              </a:lnSpc>
            </a:pPr>
            <a:r>
              <a:rPr sz="800" b="1">
                <a:solidFill>
                  <a:srgbClr val="FFFFFF"/>
                </a:solidFill>
                <a:latin typeface="Arial"/>
              </a:rPr>
              <a:t>Phản biện</a:t>
            </a:r>
          </a:p>
          <a:p>
            <a:pPr algn="ctr">
              <a:lnSpc>
                <a:spcPct val="102000"/>
              </a:lnSpc>
            </a:pPr>
            <a:r>
              <a:rPr sz="800" b="1">
                <a:solidFill>
                  <a:srgbClr val="FFFFFF"/>
                </a:solidFill>
                <a:latin typeface="Arial"/>
              </a:rPr>
              <a:t>43 (4,4%)</a:t>
            </a:r>
          </a:p>
        </p:txBody>
      </p:sp>
      <p:sp>
        <p:nvSpPr>
          <p:cNvPr id="21" name="Rectangle 20"/>
          <p:cNvSpPr/>
          <p:nvPr/>
        </p:nvSpPr>
        <p:spPr>
          <a:xfrm>
            <a:off x="8112661" y="2633472"/>
            <a:ext cx="3728818" cy="438912"/>
          </a:xfrm>
          <a:prstGeom prst="rect">
            <a:avLst/>
          </a:prstGeom>
          <a:solidFill>
            <a:srgbClr val="D62728"/>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2000"/>
              </a:lnSpc>
            </a:pPr>
            <a:r>
              <a:rPr sz="919" b="1">
                <a:solidFill>
                  <a:srgbClr val="FFFFFF"/>
                </a:solidFill>
                <a:latin typeface="Arial"/>
              </a:rPr>
              <a:t>Ủng hộ / Đẩy sóng Ông Nguyễn Đức Thụy</a:t>
            </a:r>
          </a:p>
          <a:p>
            <a:pPr algn="ctr">
              <a:lnSpc>
                <a:spcPct val="102000"/>
              </a:lnSpc>
            </a:pPr>
            <a:r>
              <a:rPr sz="919" b="1">
                <a:solidFill>
                  <a:srgbClr val="FFFFFF"/>
                </a:solidFill>
                <a:latin typeface="Arial"/>
              </a:rPr>
              <a:t>316 bài/video (32,4%)</a:t>
            </a:r>
          </a:p>
        </p:txBody>
      </p:sp>
      <p:sp>
        <p:nvSpPr>
          <p:cNvPr id="22" name="TextBox 21"/>
          <p:cNvSpPr txBox="1"/>
          <p:nvPr/>
        </p:nvSpPr>
        <p:spPr>
          <a:xfrm>
            <a:off x="329184" y="3118104"/>
            <a:ext cx="11521440" cy="347472"/>
          </a:xfrm>
          <a:prstGeom prst="rect">
            <a:avLst/>
          </a:prstGeom>
          <a:noFill/>
        </p:spPr>
        <p:txBody>
          <a:bodyPr wrap="square" anchor="t" lIns="45720" rIns="45720" tIns="27432" bIns="27432">
            <a:spAutoFit/>
          </a:bodyPr>
          <a:lstStyle/>
          <a:p>
            <a:pPr algn="l">
              <a:lnSpc>
                <a:spcPct val="108000"/>
              </a:lnSpc>
            </a:pPr>
            <a:r>
              <a:rPr sz="850" b="0">
                <a:solidFill>
                  <a:srgbClr val="5A667A"/>
                </a:solidFill>
                <a:latin typeface="Arial"/>
              </a:rPr>
              <a:t>• TS. Trần Quốc Tuấn dẫn đầu 44,5% (35 bài Báo chính thống + 296 bài FB + 74 video YT + 28 video TikTok) nhờ chuỗi tin 7 ĐTQG dự VCK châu Á, đối ngoại AFC tại Tokyo &amp; động viên U15/U17.</a:t>
            </a:r>
          </a:p>
          <a:p>
            <a:pPr algn="l">
              <a:lnSpc>
                <a:spcPct val="108000"/>
              </a:lnSpc>
            </a:pPr>
            <a:r>
              <a:rPr sz="850" b="0">
                <a:solidFill>
                  <a:srgbClr val="5A667A"/>
                </a:solidFill>
                <a:latin typeface="Arial"/>
              </a:rPr>
              <a:t>• Ông Nguyễn Đức Thụy đạt 32,4% (24 bài Báo Kinh tế + 198 bài FB + 68 video YT + 26 video TikTok), tăng mạnh ngày 19–22/10 nhờ tin '&gt;40/57 đề cử' và cam kết 'huy động 600–1.000 tỷ/năm, không dùng ngân sách'.</a:t>
            </a:r>
          </a:p>
        </p:txBody>
      </p:sp>
      <p:sp>
        <p:nvSpPr>
          <p:cNvPr id="23" name="Rectangle 22"/>
          <p:cNvSpPr/>
          <p:nvPr/>
        </p:nvSpPr>
        <p:spPr>
          <a:xfrm>
            <a:off x="186537" y="3588105"/>
            <a:ext cx="11815876" cy="1693468"/>
          </a:xfrm>
          <a:prstGeom prst="rect">
            <a:avLst/>
          </a:prstGeom>
          <a:solidFill>
            <a:srgbClr val="1560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201168" y="3602736"/>
            <a:ext cx="11786616" cy="16642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29184" y="3639312"/>
            <a:ext cx="11521440" cy="219456"/>
          </a:xfrm>
          <a:prstGeom prst="rect">
            <a:avLst/>
          </a:prstGeom>
          <a:noFill/>
        </p:spPr>
        <p:txBody>
          <a:bodyPr wrap="square" anchor="t" lIns="45720" rIns="45720" tIns="27432" bIns="27432">
            <a:spAutoFit/>
          </a:bodyPr>
          <a:lstStyle/>
          <a:p>
            <a:pPr algn="l">
              <a:lnSpc>
                <a:spcPct val="112000"/>
              </a:lnSpc>
            </a:pPr>
            <a:r>
              <a:rPr sz="919" b="1">
                <a:solidFill>
                  <a:srgbClr val="1560D4"/>
                </a:solidFill>
                <a:latin typeface="Arial"/>
              </a:rPr>
              <a:t>THƯỚC ĐO 2: LÁ PHIẾU ĐỘC GIẢ TRONG BÌNH LUẬN BẦU CỬ TRỰC DIỆN (N = 1.414 PHIẾU BẦU CỬ / 10.514 BÌNH LUẬN THÁNG 10 — TÁCH RÕ 2 KỊCH BẢN LIÊN DANH &amp; 3 NHÓM PHẢN ĐỐI)</a:t>
            </a:r>
          </a:p>
        </p:txBody>
      </p:sp>
      <p:sp>
        <p:nvSpPr>
          <p:cNvPr id="26" name="Rectangle 25"/>
          <p:cNvSpPr/>
          <p:nvPr/>
        </p:nvSpPr>
        <p:spPr>
          <a:xfrm>
            <a:off x="318211" y="3884371"/>
            <a:ext cx="4795113" cy="241401"/>
          </a:xfrm>
          <a:prstGeom prst="rect">
            <a:avLst/>
          </a:prstGeom>
          <a:solidFill>
            <a:srgbClr val="1560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29184" y="3895344"/>
            <a:ext cx="4773168" cy="219456"/>
          </a:xfrm>
          <a:prstGeom prst="rect">
            <a:avLst/>
          </a:prstGeom>
          <a:solidFill>
            <a:srgbClr val="EBF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29184" y="3895344"/>
            <a:ext cx="4773168" cy="219456"/>
          </a:xfrm>
          <a:prstGeom prst="rect">
            <a:avLst/>
          </a:prstGeom>
          <a:noFill/>
        </p:spPr>
        <p:txBody>
          <a:bodyPr wrap="square" anchor="ctr" lIns="45720" rIns="45720" tIns="27432" bIns="27432">
            <a:spAutoFit/>
          </a:bodyPr>
          <a:lstStyle/>
          <a:p>
            <a:pPr algn="ctr">
              <a:lnSpc>
                <a:spcPct val="112000"/>
              </a:lnSpc>
            </a:pPr>
            <a:r>
              <a:rPr sz="850" b="1">
                <a:solidFill>
                  <a:srgbClr val="1560D4"/>
                </a:solidFill>
                <a:latin typeface="Arial"/>
              </a:rPr>
              <a:t>KHỐI CHỌN TS. TUẤN LÀM CHỦ TỊCH: 586 PHIẾU (41,4%)</a:t>
            </a:r>
          </a:p>
        </p:txBody>
      </p:sp>
      <p:sp>
        <p:nvSpPr>
          <p:cNvPr id="29" name="Rectangle 28"/>
          <p:cNvSpPr/>
          <p:nvPr/>
        </p:nvSpPr>
        <p:spPr>
          <a:xfrm>
            <a:off x="5109667" y="3884371"/>
            <a:ext cx="3450945" cy="241401"/>
          </a:xfrm>
          <a:prstGeom prst="rect">
            <a:avLst/>
          </a:prstGeom>
          <a:solidFill>
            <a:srgbClr val="444E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120640" y="3895344"/>
            <a:ext cx="3429000" cy="219456"/>
          </a:xfrm>
          <a:prstGeom prst="rect">
            <a:avLst/>
          </a:prstGeom>
          <a:solidFill>
            <a:srgbClr val="F1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120640" y="3895344"/>
            <a:ext cx="3429000" cy="219456"/>
          </a:xfrm>
          <a:prstGeom prst="rect">
            <a:avLst/>
          </a:prstGeom>
          <a:noFill/>
        </p:spPr>
        <p:txBody>
          <a:bodyPr wrap="square" anchor="ctr" lIns="45720" rIns="45720" tIns="27432" bIns="27432">
            <a:spAutoFit/>
          </a:bodyPr>
          <a:lstStyle/>
          <a:p>
            <a:pPr algn="ctr">
              <a:lnSpc>
                <a:spcPct val="112000"/>
              </a:lnSpc>
            </a:pPr>
            <a:r>
              <a:rPr sz="850" b="1">
                <a:solidFill>
                  <a:srgbClr val="444E5E"/>
                </a:solidFill>
                <a:latin typeface="Arial"/>
              </a:rPr>
              <a:t>KHỐI PHẢN ĐỐI (THỤY / TUẤN / CẢ 2): 423 PHIẾU (29,9%)</a:t>
            </a:r>
          </a:p>
        </p:txBody>
      </p:sp>
      <p:sp>
        <p:nvSpPr>
          <p:cNvPr id="32" name="Rectangle 31"/>
          <p:cNvSpPr/>
          <p:nvPr/>
        </p:nvSpPr>
        <p:spPr>
          <a:xfrm>
            <a:off x="8556955" y="3884371"/>
            <a:ext cx="3304641" cy="241401"/>
          </a:xfrm>
          <a:prstGeom prst="rect">
            <a:avLst/>
          </a:prstGeom>
          <a:solidFill>
            <a:srgbClr val="D627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567928" y="3895344"/>
            <a:ext cx="3282696" cy="219456"/>
          </a:xfrm>
          <a:prstGeom prst="rect">
            <a:avLst/>
          </a:prstGeom>
          <a:solidFill>
            <a:srgbClr val="F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567928" y="3895344"/>
            <a:ext cx="3282696" cy="219456"/>
          </a:xfrm>
          <a:prstGeom prst="rect">
            <a:avLst/>
          </a:prstGeom>
          <a:noFill/>
        </p:spPr>
        <p:txBody>
          <a:bodyPr wrap="square" anchor="ctr" lIns="45720" rIns="45720" tIns="27432" bIns="27432">
            <a:spAutoFit/>
          </a:bodyPr>
          <a:lstStyle/>
          <a:p>
            <a:pPr algn="ctr">
              <a:lnSpc>
                <a:spcPct val="112000"/>
              </a:lnSpc>
            </a:pPr>
            <a:r>
              <a:rPr sz="850" b="1">
                <a:solidFill>
                  <a:srgbClr val="D62728"/>
                </a:solidFill>
                <a:latin typeface="Arial"/>
              </a:rPr>
              <a:t>KHỐI CHỌN BẦU THỤY LÀM CHỦ TỊCH: 405 PHIẾU (28,6%)</a:t>
            </a:r>
          </a:p>
        </p:txBody>
      </p:sp>
      <p:sp>
        <p:nvSpPr>
          <p:cNvPr id="35" name="Rectangle 34"/>
          <p:cNvSpPr/>
          <p:nvPr/>
        </p:nvSpPr>
        <p:spPr>
          <a:xfrm>
            <a:off x="329184" y="4151376"/>
            <a:ext cx="3779731" cy="512064"/>
          </a:xfrm>
          <a:prstGeom prst="rect">
            <a:avLst/>
          </a:prstGeom>
          <a:solidFill>
            <a:srgbClr val="1560D4"/>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2000"/>
              </a:lnSpc>
            </a:pPr>
            <a:r>
              <a:rPr sz="850" b="1">
                <a:solidFill>
                  <a:srgbClr val="FFFFFF"/>
                </a:solidFill>
                <a:latin typeface="Arial"/>
              </a:rPr>
              <a:t>1. Bầu thẳng TS. Tuấn</a:t>
            </a:r>
          </a:p>
          <a:p>
            <a:pPr algn="ctr">
              <a:lnSpc>
                <a:spcPct val="102000"/>
              </a:lnSpc>
            </a:pPr>
            <a:r>
              <a:rPr sz="850" b="1">
                <a:solidFill>
                  <a:srgbClr val="FFFFFF"/>
                </a:solidFill>
                <a:latin typeface="Arial"/>
              </a:rPr>
              <a:t>làm Chủ tịch VFF</a:t>
            </a:r>
          </a:p>
          <a:p>
            <a:pPr algn="ctr">
              <a:lnSpc>
                <a:spcPct val="102000"/>
              </a:lnSpc>
            </a:pPr>
            <a:r>
              <a:rPr sz="850" b="1">
                <a:solidFill>
                  <a:srgbClr val="FFFFFF"/>
                </a:solidFill>
                <a:latin typeface="Arial"/>
              </a:rPr>
              <a:t>465 phiếu (32,9%)</a:t>
            </a:r>
          </a:p>
        </p:txBody>
      </p:sp>
      <p:sp>
        <p:nvSpPr>
          <p:cNvPr id="36" name="Rectangle 35"/>
          <p:cNvSpPr/>
          <p:nvPr/>
        </p:nvSpPr>
        <p:spPr>
          <a:xfrm>
            <a:off x="4118059" y="4151376"/>
            <a:ext cx="976778" cy="512064"/>
          </a:xfrm>
          <a:prstGeom prst="rect">
            <a:avLst/>
          </a:prstGeom>
          <a:solidFill>
            <a:srgbClr val="0E94A5"/>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2000"/>
              </a:lnSpc>
            </a:pPr>
            <a:r>
              <a:rPr sz="780" b="1">
                <a:solidFill>
                  <a:srgbClr val="FFFFFF"/>
                </a:solidFill>
                <a:latin typeface="Arial"/>
              </a:rPr>
              <a:t>2. Liên danh 1</a:t>
            </a:r>
          </a:p>
          <a:p>
            <a:pPr algn="ctr">
              <a:lnSpc>
                <a:spcPct val="102000"/>
              </a:lnSpc>
            </a:pPr>
            <a:r>
              <a:rPr sz="780" b="1">
                <a:solidFill>
                  <a:srgbClr val="FFFFFF"/>
                </a:solidFill>
                <a:latin typeface="Arial"/>
              </a:rPr>
              <a:t>Tuấn CT + Thụy Phó</a:t>
            </a:r>
          </a:p>
          <a:p>
            <a:pPr algn="ctr">
              <a:lnSpc>
                <a:spcPct val="102000"/>
              </a:lnSpc>
            </a:pPr>
            <a:r>
              <a:rPr sz="780" b="1">
                <a:solidFill>
                  <a:srgbClr val="FFFFFF"/>
                </a:solidFill>
                <a:latin typeface="Arial"/>
              </a:rPr>
              <a:t>121 (8,6%)</a:t>
            </a:r>
          </a:p>
        </p:txBody>
      </p:sp>
      <p:sp>
        <p:nvSpPr>
          <p:cNvPr id="37" name="Rectangle 36"/>
          <p:cNvSpPr/>
          <p:nvPr/>
        </p:nvSpPr>
        <p:spPr>
          <a:xfrm>
            <a:off x="5103981" y="4151376"/>
            <a:ext cx="1701960" cy="512064"/>
          </a:xfrm>
          <a:prstGeom prst="rect">
            <a:avLst/>
          </a:prstGeom>
          <a:solidFill>
            <a:srgbClr val="444E5E"/>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2000"/>
              </a:lnSpc>
            </a:pPr>
            <a:r>
              <a:rPr sz="819" b="1">
                <a:solidFill>
                  <a:srgbClr val="FFFFFF"/>
                </a:solidFill>
                <a:latin typeface="Arial"/>
              </a:rPr>
              <a:t>5. Phản đối Bầu Thụy</a:t>
            </a:r>
          </a:p>
          <a:p>
            <a:pPr algn="ctr">
              <a:lnSpc>
                <a:spcPct val="102000"/>
              </a:lnSpc>
            </a:pPr>
            <a:r>
              <a:rPr sz="819" b="1">
                <a:solidFill>
                  <a:srgbClr val="FFFFFF"/>
                </a:solidFill>
                <a:latin typeface="Arial"/>
              </a:rPr>
              <a:t>(Bỏ đội/Xung đột CLB)</a:t>
            </a:r>
          </a:p>
          <a:p>
            <a:pPr algn="ctr">
              <a:lnSpc>
                <a:spcPct val="102000"/>
              </a:lnSpc>
            </a:pPr>
            <a:r>
              <a:rPr sz="819" b="1">
                <a:solidFill>
                  <a:srgbClr val="FFFFFF"/>
                </a:solidFill>
                <a:latin typeface="Arial"/>
              </a:rPr>
              <a:t>210 phiếu (14,9%)</a:t>
            </a:r>
          </a:p>
        </p:txBody>
      </p:sp>
      <p:sp>
        <p:nvSpPr>
          <p:cNvPr id="38" name="Rectangle 37"/>
          <p:cNvSpPr/>
          <p:nvPr/>
        </p:nvSpPr>
        <p:spPr>
          <a:xfrm>
            <a:off x="6815086" y="4151376"/>
            <a:ext cx="903445" cy="512064"/>
          </a:xfrm>
          <a:prstGeom prst="rect">
            <a:avLst/>
          </a:prstGeom>
          <a:solidFill>
            <a:srgbClr val="7E57C2"/>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2000"/>
              </a:lnSpc>
            </a:pPr>
            <a:r>
              <a:rPr sz="750" b="1">
                <a:solidFill>
                  <a:srgbClr val="FFFFFF"/>
                </a:solidFill>
                <a:latin typeface="Arial"/>
              </a:rPr>
              <a:t>6. Phản đối Tuấn</a:t>
            </a:r>
          </a:p>
          <a:p>
            <a:pPr algn="ctr">
              <a:lnSpc>
                <a:spcPct val="102000"/>
              </a:lnSpc>
            </a:pPr>
            <a:r>
              <a:rPr sz="750" b="1">
                <a:solidFill>
                  <a:srgbClr val="FFFFFF"/>
                </a:solidFill>
                <a:latin typeface="Arial"/>
              </a:rPr>
              <a:t>112 (7,9%)</a:t>
            </a:r>
          </a:p>
        </p:txBody>
      </p:sp>
      <p:sp>
        <p:nvSpPr>
          <p:cNvPr id="39" name="Rectangle 38"/>
          <p:cNvSpPr/>
          <p:nvPr/>
        </p:nvSpPr>
        <p:spPr>
          <a:xfrm>
            <a:off x="7727675" y="4151376"/>
            <a:ext cx="813815" cy="512064"/>
          </a:xfrm>
          <a:prstGeom prst="rect">
            <a:avLst/>
          </a:prstGeom>
          <a:solidFill>
            <a:srgbClr val="8C94A0"/>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2000"/>
              </a:lnSpc>
            </a:pPr>
            <a:r>
              <a:rPr sz="750" b="1">
                <a:solidFill>
                  <a:srgbClr val="FFFFFF"/>
                </a:solidFill>
                <a:latin typeface="Arial"/>
              </a:rPr>
              <a:t>7. Phản đối cả hai</a:t>
            </a:r>
          </a:p>
          <a:p>
            <a:pPr algn="ctr">
              <a:lnSpc>
                <a:spcPct val="102000"/>
              </a:lnSpc>
            </a:pPr>
            <a:r>
              <a:rPr sz="750" b="1">
                <a:solidFill>
                  <a:srgbClr val="FFFFFF"/>
                </a:solidFill>
                <a:latin typeface="Arial"/>
              </a:rPr>
              <a:t>101 (7,1%)</a:t>
            </a:r>
          </a:p>
        </p:txBody>
      </p:sp>
      <p:sp>
        <p:nvSpPr>
          <p:cNvPr id="40" name="Rectangle 39"/>
          <p:cNvSpPr/>
          <p:nvPr/>
        </p:nvSpPr>
        <p:spPr>
          <a:xfrm>
            <a:off x="8550635" y="4151376"/>
            <a:ext cx="748631" cy="512064"/>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2000"/>
              </a:lnSpc>
            </a:pPr>
            <a:r>
              <a:rPr sz="740" b="1">
                <a:solidFill>
                  <a:srgbClr val="FFFFFF"/>
                </a:solidFill>
                <a:latin typeface="Arial"/>
              </a:rPr>
              <a:t>4. Liên danh 2</a:t>
            </a:r>
          </a:p>
          <a:p>
            <a:pPr algn="ctr">
              <a:lnSpc>
                <a:spcPct val="102000"/>
              </a:lnSpc>
            </a:pPr>
            <a:r>
              <a:rPr sz="740" b="1">
                <a:solidFill>
                  <a:srgbClr val="FFFFFF"/>
                </a:solidFill>
                <a:latin typeface="Arial"/>
              </a:rPr>
              <a:t>Thụy CT + Tuấn Phó</a:t>
            </a:r>
          </a:p>
          <a:p>
            <a:pPr algn="ctr">
              <a:lnSpc>
                <a:spcPct val="102000"/>
              </a:lnSpc>
            </a:pPr>
            <a:r>
              <a:rPr sz="740" b="1">
                <a:solidFill>
                  <a:srgbClr val="FFFFFF"/>
                </a:solidFill>
                <a:latin typeface="Arial"/>
              </a:rPr>
              <a:t>93 (6,6%)</a:t>
            </a:r>
          </a:p>
        </p:txBody>
      </p:sp>
      <p:sp>
        <p:nvSpPr>
          <p:cNvPr id="41" name="Rectangle 40"/>
          <p:cNvSpPr/>
          <p:nvPr/>
        </p:nvSpPr>
        <p:spPr>
          <a:xfrm>
            <a:off x="9308410" y="4151376"/>
            <a:ext cx="2533069" cy="512064"/>
          </a:xfrm>
          <a:prstGeom prst="rect">
            <a:avLst/>
          </a:prstGeom>
          <a:solidFill>
            <a:srgbClr val="D62728"/>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2000"/>
              </a:lnSpc>
            </a:pPr>
            <a:r>
              <a:rPr sz="850" b="1">
                <a:solidFill>
                  <a:srgbClr val="FFFFFF"/>
                </a:solidFill>
                <a:latin typeface="Arial"/>
              </a:rPr>
              <a:t>3. Bầu thẳng Bầu Thụy</a:t>
            </a:r>
          </a:p>
          <a:p>
            <a:pPr algn="ctr">
              <a:lnSpc>
                <a:spcPct val="102000"/>
              </a:lnSpc>
            </a:pPr>
            <a:r>
              <a:rPr sz="850" b="1">
                <a:solidFill>
                  <a:srgbClr val="FFFFFF"/>
                </a:solidFill>
                <a:latin typeface="Arial"/>
              </a:rPr>
              <a:t>làm Chủ tịch VFF</a:t>
            </a:r>
          </a:p>
          <a:p>
            <a:pPr algn="ctr">
              <a:lnSpc>
                <a:spcPct val="102000"/>
              </a:lnSpc>
            </a:pPr>
            <a:r>
              <a:rPr sz="850" b="1">
                <a:solidFill>
                  <a:srgbClr val="FFFFFF"/>
                </a:solidFill>
                <a:latin typeface="Arial"/>
              </a:rPr>
              <a:t>312 phiếu (22,1%)</a:t>
            </a:r>
          </a:p>
        </p:txBody>
      </p:sp>
      <p:sp>
        <p:nvSpPr>
          <p:cNvPr id="42" name="TextBox 41"/>
          <p:cNvSpPr txBox="1"/>
          <p:nvPr/>
        </p:nvSpPr>
        <p:spPr>
          <a:xfrm>
            <a:off x="329184" y="4700016"/>
            <a:ext cx="11521440" cy="512064"/>
          </a:xfrm>
          <a:prstGeom prst="rect">
            <a:avLst/>
          </a:prstGeom>
          <a:noFill/>
        </p:spPr>
        <p:txBody>
          <a:bodyPr wrap="square" anchor="t" lIns="45720" rIns="45720" tIns="27432" bIns="27432">
            <a:spAutoFit/>
          </a:bodyPr>
          <a:lstStyle/>
          <a:p>
            <a:pPr algn="l">
              <a:lnSpc>
                <a:spcPct val="108000"/>
              </a:lnSpc>
            </a:pPr>
            <a:r>
              <a:rPr sz="840" b="0">
                <a:solidFill>
                  <a:srgbClr val="121C2D"/>
                </a:solidFill>
                <a:latin typeface="Arial"/>
              </a:rPr>
              <a:t>• Tách bạch 2 Kịch bản Liên danh (Tổng 214 phiếu = 15,1%): Trong số khán giả đề xuất kết hợp 2 ứng viên, có 121 phiếu (56,5%) muốn TS. Tuấn giữ ghế Chủ tịch + Bầu Thụy làm Phó Chủ tịch Tài chính (thuộc Khối chọn Tuấn làm Leader = 586 phiếu); ngược lại có 93 phiếu (43,5%) muốn Bầu Thụy làm Chủ tịch + TS. Tuấn lùi về làm Phó Chủ tịch Chuyên môn / Tổng Thư ký (thuộc Khối chọn Thụy làm Leader = 405 phiếu).</a:t>
            </a:r>
          </a:p>
          <a:p>
            <a:pPr algn="l">
              <a:lnSpc>
                <a:spcPct val="108000"/>
              </a:lnSpc>
            </a:pPr>
            <a:r>
              <a:rPr sz="840" b="0">
                <a:solidFill>
                  <a:srgbClr val="121C2D"/>
                </a:solidFill>
                <a:latin typeface="Arial"/>
              </a:rPr>
              <a:t>• Tách bạch 3 Nhóm Phản đối (Tổng 423 phiếu = 29,9%): 210 phiếu phản đối trực diện Bầu Thụy (lo ngại bỏ đội, xung đột lợi ích CLB) • 112 phiếu phản đối trực diện TS. Tuấn (cho rằng làm lâu cần đổi mới, tranh cãi nhập tịch) • 101 phiếu phản đối cả 2 / đòi đưa Bầu Đức lên.</a:t>
            </a:r>
          </a:p>
        </p:txBody>
      </p:sp>
      <p:sp>
        <p:nvSpPr>
          <p:cNvPr id="43" name="Rectangle 42"/>
          <p:cNvSpPr/>
          <p:nvPr/>
        </p:nvSpPr>
        <p:spPr>
          <a:xfrm>
            <a:off x="190195" y="5329123"/>
            <a:ext cx="11808561" cy="1375257"/>
          </a:xfrm>
          <a:prstGeom prst="rect">
            <a:avLst/>
          </a:prstGeom>
          <a:solidFill>
            <a:srgbClr val="D2DA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201168" y="5340096"/>
            <a:ext cx="11786616" cy="13533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29184" y="5394960"/>
            <a:ext cx="11521440" cy="237744"/>
          </a:xfrm>
          <a:prstGeom prst="rect">
            <a:avLst/>
          </a:prstGeom>
          <a:noFill/>
        </p:spPr>
        <p:txBody>
          <a:bodyPr wrap="square" anchor="t" lIns="45720" rIns="45720" tIns="27432" bIns="27432">
            <a:spAutoFit/>
          </a:bodyPr>
          <a:lstStyle/>
          <a:p>
            <a:pPr algn="l">
              <a:lnSpc>
                <a:spcPct val="112000"/>
              </a:lnSpc>
            </a:pPr>
            <a:r>
              <a:rPr sz="1019" b="1">
                <a:solidFill>
                  <a:srgbClr val="0B1528"/>
                </a:solidFill>
                <a:latin typeface="Arial"/>
              </a:rPr>
              <a:t>THƯỚC ĐO 3: ĐỐI CHIẾU TÍN NHIỆM TÍCH CỰC vs. PHẢN ĐỐI TOÀN DIỆN CỦA TỪNG ỨNG VIÊN (GỘP BÀI ĐĂNG + BÌNH LUẬN BẦU CỬ TRỰC DIỆN)</a:t>
            </a:r>
          </a:p>
        </p:txBody>
      </p:sp>
      <p:sp>
        <p:nvSpPr>
          <p:cNvPr id="46" name="TextBox 45"/>
          <p:cNvSpPr txBox="1"/>
          <p:nvPr/>
        </p:nvSpPr>
        <p:spPr>
          <a:xfrm>
            <a:off x="329184" y="5669280"/>
            <a:ext cx="5577840" cy="201168"/>
          </a:xfrm>
          <a:prstGeom prst="rect">
            <a:avLst/>
          </a:prstGeom>
          <a:noFill/>
        </p:spPr>
        <p:txBody>
          <a:bodyPr wrap="square" anchor="t" lIns="45720" rIns="45720" tIns="27432" bIns="27432">
            <a:spAutoFit/>
          </a:bodyPr>
          <a:lstStyle/>
          <a:p>
            <a:pPr algn="l">
              <a:lnSpc>
                <a:spcPct val="112000"/>
              </a:lnSpc>
            </a:pPr>
            <a:r>
              <a:rPr sz="919" b="1">
                <a:solidFill>
                  <a:srgbClr val="1560D4"/>
                </a:solidFill>
                <a:latin typeface="Arial"/>
              </a:rPr>
              <a:t>A. TS. TRẦN QUỐC TUẤN (Tổng tín hiệu định hướng: 1.244 | Chỉ số NSI = +63,8%)</a:t>
            </a:r>
          </a:p>
        </p:txBody>
      </p:sp>
      <p:sp>
        <p:nvSpPr>
          <p:cNvPr id="47" name="Rectangle 46"/>
          <p:cNvSpPr/>
          <p:nvPr/>
        </p:nvSpPr>
        <p:spPr>
          <a:xfrm>
            <a:off x="329184" y="5888736"/>
            <a:ext cx="4017303" cy="402336"/>
          </a:xfrm>
          <a:prstGeom prst="rect">
            <a:avLst/>
          </a:prstGeom>
          <a:solidFill>
            <a:srgbClr val="1560D4"/>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2000"/>
              </a:lnSpc>
            </a:pPr>
            <a:r>
              <a:rPr sz="830" b="1">
                <a:solidFill>
                  <a:srgbClr val="FFFFFF"/>
                </a:solidFill>
                <a:latin typeface="Arial"/>
              </a:rPr>
              <a:t>Ủng hộ thẳng (898: 433 bài + 465 bình luận = 72,2%)</a:t>
            </a:r>
          </a:p>
        </p:txBody>
      </p:sp>
      <p:sp>
        <p:nvSpPr>
          <p:cNvPr id="48" name="Rectangle 47"/>
          <p:cNvSpPr/>
          <p:nvPr/>
        </p:nvSpPr>
        <p:spPr>
          <a:xfrm>
            <a:off x="4355631" y="5888736"/>
            <a:ext cx="533395" cy="402336"/>
          </a:xfrm>
          <a:prstGeom prst="rect">
            <a:avLst/>
          </a:prstGeom>
          <a:solidFill>
            <a:srgbClr val="0E94A5"/>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2000"/>
              </a:lnSpc>
            </a:pPr>
            <a:r>
              <a:rPr sz="750" b="1">
                <a:solidFill>
                  <a:srgbClr val="FFFFFF"/>
                </a:solidFill>
                <a:latin typeface="Arial"/>
              </a:rPr>
              <a:t>LD Tuấn CT (121 = 9,7%)</a:t>
            </a:r>
          </a:p>
        </p:txBody>
      </p:sp>
      <p:sp>
        <p:nvSpPr>
          <p:cNvPr id="49" name="Rectangle 48"/>
          <p:cNvSpPr/>
          <p:nvPr/>
        </p:nvSpPr>
        <p:spPr>
          <a:xfrm>
            <a:off x="4898170" y="5888736"/>
            <a:ext cx="999709" cy="402336"/>
          </a:xfrm>
          <a:prstGeom prst="rect">
            <a:avLst/>
          </a:prstGeom>
          <a:solidFill>
            <a:srgbClr val="7E57C2"/>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2000"/>
              </a:lnSpc>
            </a:pPr>
            <a:r>
              <a:rPr sz="780" b="1">
                <a:solidFill>
                  <a:srgbClr val="FFFFFF"/>
                </a:solidFill>
                <a:latin typeface="Arial"/>
              </a:rPr>
              <a:t>Phản đối (225: 12 bài + 213 bình luận = 18,1%)</a:t>
            </a:r>
          </a:p>
        </p:txBody>
      </p:sp>
      <p:sp>
        <p:nvSpPr>
          <p:cNvPr id="50" name="TextBox 49"/>
          <p:cNvSpPr txBox="1"/>
          <p:nvPr/>
        </p:nvSpPr>
        <p:spPr>
          <a:xfrm>
            <a:off x="329184" y="6327648"/>
            <a:ext cx="5577840" cy="310896"/>
          </a:xfrm>
          <a:prstGeom prst="rect">
            <a:avLst/>
          </a:prstGeom>
          <a:noFill/>
        </p:spPr>
        <p:txBody>
          <a:bodyPr wrap="square" anchor="t" lIns="45720" rIns="45720" tIns="27432" bIns="27432">
            <a:spAutoFit/>
          </a:bodyPr>
          <a:lstStyle/>
          <a:p>
            <a:pPr algn="l">
              <a:lnSpc>
                <a:spcPct val="112000"/>
              </a:lnSpc>
            </a:pPr>
            <a:r>
              <a:rPr sz="840" b="1">
                <a:solidFill>
                  <a:srgbClr val="121C2D"/>
                </a:solidFill>
                <a:latin typeface="Arial"/>
              </a:rPr>
              <a:t>Tín nhiệm ròng gộp: +1.019 ủng hộ - 225 phản đối = +794 điểm (Riêng tầng Bình luận: +586 ủng hộ - 213 phản đối = +373 điểm).</a:t>
            </a:r>
          </a:p>
        </p:txBody>
      </p:sp>
      <p:sp>
        <p:nvSpPr>
          <p:cNvPr id="51" name="TextBox 50"/>
          <p:cNvSpPr txBox="1"/>
          <p:nvPr/>
        </p:nvSpPr>
        <p:spPr>
          <a:xfrm>
            <a:off x="6236208" y="5669280"/>
            <a:ext cx="5614416" cy="201168"/>
          </a:xfrm>
          <a:prstGeom prst="rect">
            <a:avLst/>
          </a:prstGeom>
          <a:noFill/>
        </p:spPr>
        <p:txBody>
          <a:bodyPr wrap="square" anchor="t" lIns="45720" rIns="45720" tIns="27432" bIns="27432">
            <a:spAutoFit/>
          </a:bodyPr>
          <a:lstStyle/>
          <a:p>
            <a:pPr algn="l">
              <a:lnSpc>
                <a:spcPct val="112000"/>
              </a:lnSpc>
            </a:pPr>
            <a:r>
              <a:rPr sz="919" b="1">
                <a:solidFill>
                  <a:srgbClr val="D62728"/>
                </a:solidFill>
                <a:latin typeface="Arial"/>
              </a:rPr>
              <a:t>B. ÔNG NGUYỄN ĐỨC THỤY (Tổng tín hiệu định hướng: 1.074 | Chỉ số NSI = +34,3%)</a:t>
            </a:r>
          </a:p>
        </p:txBody>
      </p:sp>
      <p:sp>
        <p:nvSpPr>
          <p:cNvPr id="52" name="Rectangle 51"/>
          <p:cNvSpPr/>
          <p:nvPr/>
        </p:nvSpPr>
        <p:spPr>
          <a:xfrm>
            <a:off x="6236208" y="5888736"/>
            <a:ext cx="3273773" cy="402336"/>
          </a:xfrm>
          <a:prstGeom prst="rect">
            <a:avLst/>
          </a:prstGeom>
          <a:solidFill>
            <a:srgbClr val="D62728"/>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2000"/>
              </a:lnSpc>
            </a:pPr>
            <a:r>
              <a:rPr sz="830" b="1">
                <a:solidFill>
                  <a:srgbClr val="FFFFFF"/>
                </a:solidFill>
                <a:latin typeface="Arial"/>
              </a:rPr>
              <a:t>Ủng hộ thẳng (628: 316 bài + 312 bình luận = 58,5%)</a:t>
            </a:r>
          </a:p>
        </p:txBody>
      </p:sp>
      <p:sp>
        <p:nvSpPr>
          <p:cNvPr id="53" name="Rectangle 52"/>
          <p:cNvSpPr/>
          <p:nvPr/>
        </p:nvSpPr>
        <p:spPr>
          <a:xfrm>
            <a:off x="9519125" y="5888736"/>
            <a:ext cx="477020" cy="402336"/>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2000"/>
              </a:lnSpc>
            </a:pPr>
            <a:r>
              <a:rPr sz="750" b="1">
                <a:solidFill>
                  <a:srgbClr val="FFFFFF"/>
                </a:solidFill>
                <a:latin typeface="Arial"/>
              </a:rPr>
              <a:t>LD Thụy CT (93 = 8,7%)</a:t>
            </a:r>
          </a:p>
        </p:txBody>
      </p:sp>
      <p:sp>
        <p:nvSpPr>
          <p:cNvPr id="54" name="Rectangle 53"/>
          <p:cNvSpPr/>
          <p:nvPr/>
        </p:nvSpPr>
        <p:spPr>
          <a:xfrm>
            <a:off x="10005289" y="5888736"/>
            <a:ext cx="1836190" cy="402336"/>
          </a:xfrm>
          <a:prstGeom prst="rect">
            <a:avLst/>
          </a:prstGeom>
          <a:solidFill>
            <a:srgbClr val="444E5E"/>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2000"/>
              </a:lnSpc>
            </a:pPr>
            <a:r>
              <a:rPr sz="800" b="1">
                <a:solidFill>
                  <a:srgbClr val="FFFFFF"/>
                </a:solidFill>
                <a:latin typeface="Arial"/>
              </a:rPr>
              <a:t>Phản đối (353: 42 bài + 311 bình luận = 32,9%)</a:t>
            </a:r>
          </a:p>
        </p:txBody>
      </p:sp>
      <p:sp>
        <p:nvSpPr>
          <p:cNvPr id="55" name="TextBox 54"/>
          <p:cNvSpPr txBox="1"/>
          <p:nvPr/>
        </p:nvSpPr>
        <p:spPr>
          <a:xfrm>
            <a:off x="6236208" y="6327648"/>
            <a:ext cx="5614416" cy="310896"/>
          </a:xfrm>
          <a:prstGeom prst="rect">
            <a:avLst/>
          </a:prstGeom>
          <a:noFill/>
        </p:spPr>
        <p:txBody>
          <a:bodyPr wrap="square" anchor="t" lIns="45720" rIns="45720" tIns="27432" bIns="27432">
            <a:spAutoFit/>
          </a:bodyPr>
          <a:lstStyle/>
          <a:p>
            <a:pPr algn="l">
              <a:lnSpc>
                <a:spcPct val="112000"/>
              </a:lnSpc>
            </a:pPr>
            <a:r>
              <a:rPr sz="840" b="1">
                <a:solidFill>
                  <a:srgbClr val="121C2D"/>
                </a:solidFill>
                <a:latin typeface="Arial"/>
              </a:rPr>
              <a:t>Tín nhiệm ròng gộp: +721 ủng hộ - 353 phản đối = +368 điểm (Riêng tầng Bình luận: +405 ủng hộ - 311 phản đối = +94 điểm).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6FA"/>
        </a:solidFill>
        <a:effectLst/>
      </p:bgPr>
    </p:bg>
    <p:spTree>
      <p:nvGrpSpPr>
        <p:cNvPr id="1" name=""/>
        <p:cNvGrpSpPr/>
        <p:nvPr/>
      </p:nvGrpSpPr>
      <p:grpSpPr/>
      <p:sp>
        <p:nvSpPr>
          <p:cNvPr id="2" name="Rectangle 1"/>
          <p:cNvSpPr/>
          <p:nvPr/>
        </p:nvSpPr>
        <p:spPr>
          <a:xfrm>
            <a:off x="0" y="0"/>
            <a:ext cx="4059936" cy="54864"/>
          </a:xfrm>
          <a:prstGeom prst="rect">
            <a:avLst/>
          </a:prstGeom>
          <a:solidFill>
            <a:srgbClr val="1560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059936" y="0"/>
            <a:ext cx="4069080" cy="54864"/>
          </a:xfrm>
          <a:prstGeom prst="rect">
            <a:avLst/>
          </a:prstGeom>
          <a:solidFill>
            <a:srgbClr val="F5B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129016" y="0"/>
            <a:ext cx="4059936" cy="54864"/>
          </a:xfrm>
          <a:prstGeom prst="rect">
            <a:avLst/>
          </a:prstGeom>
          <a:solidFill>
            <a:srgbClr val="D627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54864"/>
            <a:ext cx="12191695" cy="786384"/>
          </a:xfrm>
          <a:prstGeom prst="rect">
            <a:avLst/>
          </a:prstGeom>
          <a:solidFill>
            <a:srgbClr val="0B15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01168" y="128016"/>
            <a:ext cx="2029968" cy="274320"/>
          </a:xfrm>
          <a:prstGeom prst="rect">
            <a:avLst/>
          </a:prstGeom>
          <a:solidFill>
            <a:srgbClr val="1560D4"/>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860" b="1">
                <a:solidFill>
                  <a:srgbClr val="F5B400"/>
                </a:solidFill>
                <a:latin typeface="Arial"/>
              </a:rPr>
              <a:t>US ELECTION WAR-ROOM • SLIDE 2</a:t>
            </a:r>
          </a:p>
        </p:txBody>
      </p:sp>
      <p:sp>
        <p:nvSpPr>
          <p:cNvPr id="7" name="TextBox 6"/>
          <p:cNvSpPr txBox="1"/>
          <p:nvPr/>
        </p:nvSpPr>
        <p:spPr>
          <a:xfrm>
            <a:off x="2286000" y="109728"/>
            <a:ext cx="9738360" cy="310896"/>
          </a:xfrm>
          <a:prstGeom prst="rect">
            <a:avLst/>
          </a:prstGeom>
          <a:noFill/>
        </p:spPr>
        <p:txBody>
          <a:bodyPr wrap="square" anchor="ctr" lIns="45720" rIns="45720" tIns="27432" bIns="27432">
            <a:spAutoFit/>
          </a:bodyPr>
          <a:lstStyle/>
          <a:p>
            <a:pPr algn="l">
              <a:lnSpc>
                <a:spcPct val="112000"/>
              </a:lnSpc>
            </a:pPr>
            <a:r>
              <a:rPr sz="1380" b="1">
                <a:solidFill>
                  <a:srgbClr val="FFFFFF"/>
                </a:solidFill>
                <a:latin typeface="Arial"/>
              </a:rPr>
              <a:t>DIỄN BIẾN LŨY TIẾN &amp; TIMING THEO NGÀY CỦA TỪNG ỨNG VIÊN (01/10 – 22/10/2026)</a:t>
            </a:r>
          </a:p>
        </p:txBody>
      </p:sp>
      <p:sp>
        <p:nvSpPr>
          <p:cNvPr id="8" name="TextBox 7"/>
          <p:cNvSpPr txBox="1"/>
          <p:nvPr/>
        </p:nvSpPr>
        <p:spPr>
          <a:xfrm>
            <a:off x="201168" y="475488"/>
            <a:ext cx="11795760" cy="292608"/>
          </a:xfrm>
          <a:prstGeom prst="rect">
            <a:avLst/>
          </a:prstGeom>
          <a:noFill/>
        </p:spPr>
        <p:txBody>
          <a:bodyPr wrap="square" anchor="ctr" lIns="45720" rIns="45720" tIns="27432" bIns="27432">
            <a:spAutoFit/>
          </a:bodyPr>
          <a:lstStyle/>
          <a:p>
            <a:pPr algn="l">
              <a:lnSpc>
                <a:spcPct val="112000"/>
              </a:lnSpc>
            </a:pPr>
            <a:r>
              <a:rPr sz="960" b="0">
                <a:solidFill>
                  <a:srgbClr val="C8D4E6"/>
                </a:solidFill>
                <a:latin typeface="Arial"/>
              </a:rPr>
              <a:t>Theo dõi 22 ngày liên tục qua 5 Nhịp sóng: Từ gợi ý của Bầu Đức (03/10) → Tin đồn iThethao &amp; Seeding (14-16/10) → Phản biện (17-18/10) → Chốt 3 ỨV (19-20/10) → Cam kết 1.000 tỷ (21-22/10)</a:t>
            </a:r>
          </a:p>
        </p:txBody>
      </p:sp>
      <p:pic>
        <p:nvPicPr>
          <p:cNvPr id="9" name="Picture 8" descr="warroom_s3_trajectory_2210.png"/>
          <p:cNvPicPr>
            <a:picLocks noChangeAspect="1"/>
          </p:cNvPicPr>
          <p:nvPr/>
        </p:nvPicPr>
        <p:blipFill>
          <a:blip r:embed="rId2"/>
          <a:stretch>
            <a:fillRect/>
          </a:stretch>
        </p:blipFill>
        <p:spPr>
          <a:xfrm>
            <a:off x="201168" y="896112"/>
            <a:ext cx="11786616" cy="3268944"/>
          </a:xfrm>
          <a:prstGeom prst="rect">
            <a:avLst/>
          </a:prstGeom>
        </p:spPr>
      </p:pic>
      <p:sp>
        <p:nvSpPr>
          <p:cNvPr id="10" name="TextBox 9"/>
          <p:cNvSpPr txBox="1"/>
          <p:nvPr/>
        </p:nvSpPr>
        <p:spPr>
          <a:xfrm>
            <a:off x="201168" y="4206240"/>
            <a:ext cx="11786616" cy="219456"/>
          </a:xfrm>
          <a:prstGeom prst="rect">
            <a:avLst/>
          </a:prstGeom>
          <a:noFill/>
        </p:spPr>
        <p:txBody>
          <a:bodyPr wrap="square" anchor="t" lIns="45720" rIns="45720" tIns="27432" bIns="27432">
            <a:spAutoFit/>
          </a:bodyPr>
          <a:lstStyle/>
          <a:p>
            <a:pPr algn="l">
              <a:lnSpc>
                <a:spcPct val="112000"/>
              </a:lnSpc>
            </a:pPr>
            <a:r>
              <a:rPr sz="980" b="1">
                <a:solidFill>
                  <a:srgbClr val="0B1528"/>
                </a:solidFill>
                <a:latin typeface="Arial"/>
              </a:rPr>
              <a:t>BẢNG SỐ LIỆU LŨY TIẾN THEO NGÀY &amp; 5 NHỊP SÓNG CHIẾN DỊCH (01/10 – 22/10/2026 — NATIVE EDITABLE TABLE)</a:t>
            </a:r>
          </a:p>
        </p:txBody>
      </p:sp>
      <p:graphicFrame>
        <p:nvGraphicFramePr>
          <p:cNvPr id="11" name="Table 10"/>
          <p:cNvGraphicFramePr>
            <a:graphicFrameLocks noGrp="1"/>
          </p:cNvGraphicFramePr>
          <p:nvPr/>
        </p:nvGraphicFramePr>
        <p:xfrm>
          <a:off x="201168" y="4443984"/>
          <a:ext cx="11786616" cy="2212848"/>
        </p:xfrm>
        <a:graphic>
          <a:graphicData uri="http://schemas.openxmlformats.org/drawingml/2006/table">
            <a:tbl>
              <a:tblPr firstRow="1" bandRow="1">
                <a:tableStyleId>{5C22544A-7EE6-4342-B048-85BDC9FD1C3A}</a:tableStyleId>
              </a:tblPr>
              <a:tblGrid>
                <a:gridCol w="1691640"/>
                <a:gridCol w="749808"/>
                <a:gridCol w="749808"/>
                <a:gridCol w="749808"/>
                <a:gridCol w="749808"/>
                <a:gridCol w="749808"/>
                <a:gridCol w="749808"/>
                <a:gridCol w="749808"/>
                <a:gridCol w="749808"/>
                <a:gridCol w="749808"/>
                <a:gridCol w="749808"/>
                <a:gridCol w="749808"/>
                <a:gridCol w="749808"/>
                <a:gridCol w="1097280"/>
              </a:tblGrid>
              <a:tr h="368808">
                <a:tc>
                  <a:txBody>
                    <a:bodyPr wrap="square"/>
                    <a:lstStyle/>
                    <a:p>
                      <a:pPr algn="ctr">
                        <a:lnSpc>
                          <a:spcPct val="103000"/>
                        </a:lnSpc>
                      </a:pPr>
                      <a:r>
                        <a:rPr sz="800" b="1">
                          <a:solidFill>
                            <a:srgbClr val="FFFFFF"/>
                          </a:solidFill>
                          <a:latin typeface="Arial"/>
                        </a:rPr>
                        <a:t>Chỉ tiêu / Ứng viên</a:t>
                      </a:r>
                    </a:p>
                  </a:txBody>
                  <a:tcPr anchor="ctr" marL="36576" marR="36576" marT="13716" marB="13716">
                    <a:solidFill>
                      <a:srgbClr val="0B1528"/>
                    </a:solidFill>
                  </a:tcPr>
                </a:tc>
                <a:tc>
                  <a:txBody>
                    <a:bodyPr wrap="square"/>
                    <a:lstStyle/>
                    <a:p>
                      <a:pPr algn="ctr">
                        <a:lnSpc>
                          <a:spcPct val="103000"/>
                        </a:lnSpc>
                      </a:pPr>
                      <a:r>
                        <a:rPr sz="800" b="1">
                          <a:solidFill>
                            <a:srgbClr val="FFFFFF"/>
                          </a:solidFill>
                          <a:latin typeface="Arial"/>
                        </a:rPr>
                        <a:t>01-04/10</a:t>
                      </a:r>
                    </a:p>
                    <a:p>
                      <a:pPr algn="ctr">
                        <a:lnSpc>
                          <a:spcPct val="103000"/>
                        </a:lnSpc>
                      </a:pPr>
                      <a:r>
                        <a:rPr sz="800" b="1">
                          <a:solidFill>
                            <a:srgbClr val="FFFFFF"/>
                          </a:solidFill>
                          <a:latin typeface="Arial"/>
                        </a:rPr>
                        <a:t>(Mở màn)</a:t>
                      </a:r>
                    </a:p>
                  </a:txBody>
                  <a:tcPr anchor="ctr" marL="36576" marR="36576" marT="13716" marB="13716">
                    <a:solidFill>
                      <a:srgbClr val="0B1528"/>
                    </a:solidFill>
                  </a:tcPr>
                </a:tc>
                <a:tc>
                  <a:txBody>
                    <a:bodyPr wrap="square"/>
                    <a:lstStyle/>
                    <a:p>
                      <a:pPr algn="ctr">
                        <a:lnSpc>
                          <a:spcPct val="103000"/>
                        </a:lnSpc>
                      </a:pPr>
                      <a:r>
                        <a:rPr sz="800" b="1">
                          <a:solidFill>
                            <a:srgbClr val="FFFFFF"/>
                          </a:solidFill>
                          <a:latin typeface="Arial"/>
                        </a:rPr>
                        <a:t>05-08/10</a:t>
                      </a:r>
                    </a:p>
                    <a:p>
                      <a:pPr algn="ctr">
                        <a:lnSpc>
                          <a:spcPct val="103000"/>
                        </a:lnSpc>
                      </a:pPr>
                      <a:r>
                        <a:rPr sz="800" b="1">
                          <a:solidFill>
                            <a:srgbClr val="FFFFFF"/>
                          </a:solidFill>
                          <a:latin typeface="Arial"/>
                        </a:rPr>
                        <a:t>(ĐTQG)</a:t>
                      </a:r>
                    </a:p>
                  </a:txBody>
                  <a:tcPr anchor="ctr" marL="36576" marR="36576" marT="13716" marB="13716">
                    <a:solidFill>
                      <a:srgbClr val="0B1528"/>
                    </a:solidFill>
                  </a:tcPr>
                </a:tc>
                <a:tc>
                  <a:txBody>
                    <a:bodyPr wrap="square"/>
                    <a:lstStyle/>
                    <a:p>
                      <a:pPr algn="ctr">
                        <a:lnSpc>
                          <a:spcPct val="103000"/>
                        </a:lnSpc>
                      </a:pPr>
                      <a:r>
                        <a:rPr sz="800" b="1">
                          <a:solidFill>
                            <a:srgbClr val="FFFFFF"/>
                          </a:solidFill>
                          <a:latin typeface="Arial"/>
                        </a:rPr>
                        <a:t>09-12/10</a:t>
                      </a:r>
                    </a:p>
                    <a:p>
                      <a:pPr algn="ctr">
                        <a:lnSpc>
                          <a:spcPct val="103000"/>
                        </a:lnSpc>
                      </a:pPr>
                      <a:r>
                        <a:rPr sz="800" b="1">
                          <a:solidFill>
                            <a:srgbClr val="FFFFFF"/>
                          </a:solidFill>
                          <a:latin typeface="Arial"/>
                        </a:rPr>
                        <a:t>(Tích lũy)</a:t>
                      </a:r>
                    </a:p>
                  </a:txBody>
                  <a:tcPr anchor="ctr" marL="36576" marR="36576" marT="13716" marB="13716">
                    <a:solidFill>
                      <a:srgbClr val="0B1528"/>
                    </a:solidFill>
                  </a:tcPr>
                </a:tc>
                <a:tc>
                  <a:txBody>
                    <a:bodyPr wrap="square"/>
                    <a:lstStyle/>
                    <a:p>
                      <a:pPr algn="ctr">
                        <a:lnSpc>
                          <a:spcPct val="103000"/>
                        </a:lnSpc>
                      </a:pPr>
                      <a:r>
                        <a:rPr sz="800" b="1">
                          <a:solidFill>
                            <a:srgbClr val="FFFFFF"/>
                          </a:solidFill>
                          <a:latin typeface="Arial"/>
                        </a:rPr>
                        <a:t>13-14/10</a:t>
                      </a:r>
                    </a:p>
                    <a:p>
                      <a:pPr algn="ctr">
                        <a:lnSpc>
                          <a:spcPct val="103000"/>
                        </a:lnSpc>
                      </a:pPr>
                      <a:r>
                        <a:rPr sz="800" b="1">
                          <a:solidFill>
                            <a:srgbClr val="FFFFFF"/>
                          </a:solidFill>
                          <a:latin typeface="Arial"/>
                        </a:rPr>
                        <a:t>(iThethao)</a:t>
                      </a:r>
                    </a:p>
                  </a:txBody>
                  <a:tcPr anchor="ctr" marL="36576" marR="36576" marT="13716" marB="13716">
                    <a:solidFill>
                      <a:srgbClr val="0B1528"/>
                    </a:solidFill>
                  </a:tcPr>
                </a:tc>
                <a:tc>
                  <a:txBody>
                    <a:bodyPr wrap="square"/>
                    <a:lstStyle/>
                    <a:p>
                      <a:pPr algn="ctr">
                        <a:lnSpc>
                          <a:spcPct val="103000"/>
                        </a:lnSpc>
                      </a:pPr>
                      <a:r>
                        <a:rPr sz="800" b="1">
                          <a:solidFill>
                            <a:srgbClr val="FFFFFF"/>
                          </a:solidFill>
                          <a:latin typeface="Arial"/>
                        </a:rPr>
                        <a:t>15/10</a:t>
                      </a:r>
                    </a:p>
                    <a:p>
                      <a:pPr algn="ctr">
                        <a:lnSpc>
                          <a:spcPct val="103000"/>
                        </a:lnSpc>
                      </a:pPr>
                      <a:r>
                        <a:rPr sz="800" b="1">
                          <a:solidFill>
                            <a:srgbClr val="FFFFFF"/>
                          </a:solidFill>
                          <a:latin typeface="Arial"/>
                        </a:rPr>
                        <a:t>(Seeding)</a:t>
                      </a:r>
                    </a:p>
                  </a:txBody>
                  <a:tcPr anchor="ctr" marL="36576" marR="36576" marT="13716" marB="13716">
                    <a:solidFill>
                      <a:srgbClr val="0B1528"/>
                    </a:solidFill>
                  </a:tcPr>
                </a:tc>
                <a:tc>
                  <a:txBody>
                    <a:bodyPr wrap="square"/>
                    <a:lstStyle/>
                    <a:p>
                      <a:pPr algn="ctr">
                        <a:lnSpc>
                          <a:spcPct val="103000"/>
                        </a:lnSpc>
                      </a:pPr>
                      <a:r>
                        <a:rPr sz="800" b="1">
                          <a:solidFill>
                            <a:srgbClr val="FFFFFF"/>
                          </a:solidFill>
                          <a:latin typeface="Arial"/>
                        </a:rPr>
                        <a:t>16/10</a:t>
                      </a:r>
                    </a:p>
                    <a:p>
                      <a:pPr algn="ctr">
                        <a:lnSpc>
                          <a:spcPct val="103000"/>
                        </a:lnSpc>
                      </a:pPr>
                      <a:r>
                        <a:rPr sz="800" b="1">
                          <a:solidFill>
                            <a:srgbClr val="FFFFFF"/>
                          </a:solidFill>
                          <a:latin typeface="Arial"/>
                        </a:rPr>
                        <a:t>(Đỉnh R2)</a:t>
                      </a:r>
                    </a:p>
                  </a:txBody>
                  <a:tcPr anchor="ctr" marL="36576" marR="36576" marT="13716" marB="13716">
                    <a:solidFill>
                      <a:srgbClr val="0B1528"/>
                    </a:solidFill>
                  </a:tcPr>
                </a:tc>
                <a:tc>
                  <a:txBody>
                    <a:bodyPr wrap="square"/>
                    <a:lstStyle/>
                    <a:p>
                      <a:pPr algn="ctr">
                        <a:lnSpc>
                          <a:spcPct val="103000"/>
                        </a:lnSpc>
                      </a:pPr>
                      <a:r>
                        <a:rPr sz="800" b="1">
                          <a:solidFill>
                            <a:srgbClr val="FFFFFF"/>
                          </a:solidFill>
                          <a:latin typeface="Arial"/>
                        </a:rPr>
                        <a:t>17/10</a:t>
                      </a:r>
                    </a:p>
                    <a:p>
                      <a:pPr algn="ctr">
                        <a:lnSpc>
                          <a:spcPct val="103000"/>
                        </a:lnSpc>
                      </a:pPr>
                      <a:r>
                        <a:rPr sz="800" b="1">
                          <a:solidFill>
                            <a:srgbClr val="FFFFFF"/>
                          </a:solidFill>
                          <a:latin typeface="Arial"/>
                        </a:rPr>
                        <a:t>(Phản biện)</a:t>
                      </a:r>
                    </a:p>
                  </a:txBody>
                  <a:tcPr anchor="ctr" marL="36576" marR="36576" marT="13716" marB="13716">
                    <a:solidFill>
                      <a:srgbClr val="0B1528"/>
                    </a:solidFill>
                  </a:tcPr>
                </a:tc>
                <a:tc>
                  <a:txBody>
                    <a:bodyPr wrap="square"/>
                    <a:lstStyle/>
                    <a:p>
                      <a:pPr algn="ctr">
                        <a:lnSpc>
                          <a:spcPct val="103000"/>
                        </a:lnSpc>
                      </a:pPr>
                      <a:r>
                        <a:rPr sz="800" b="1">
                          <a:solidFill>
                            <a:srgbClr val="FFFFFF"/>
                          </a:solidFill>
                          <a:latin typeface="Arial"/>
                        </a:rPr>
                        <a:t>18/10</a:t>
                      </a:r>
                    </a:p>
                    <a:p>
                      <a:pPr algn="ctr">
                        <a:lnSpc>
                          <a:spcPct val="103000"/>
                        </a:lnSpc>
                      </a:pPr>
                      <a:r>
                        <a:rPr sz="800" b="1">
                          <a:solidFill>
                            <a:srgbClr val="FFFFFF"/>
                          </a:solidFill>
                          <a:latin typeface="Arial"/>
                        </a:rPr>
                        <a:t>(Hạ nhiệt)</a:t>
                      </a:r>
                    </a:p>
                  </a:txBody>
                  <a:tcPr anchor="ctr" marL="36576" marR="36576" marT="13716" marB="13716">
                    <a:solidFill>
                      <a:srgbClr val="0B1528"/>
                    </a:solidFill>
                  </a:tcPr>
                </a:tc>
                <a:tc>
                  <a:txBody>
                    <a:bodyPr wrap="square"/>
                    <a:lstStyle/>
                    <a:p>
                      <a:pPr algn="ctr">
                        <a:lnSpc>
                          <a:spcPct val="103000"/>
                        </a:lnSpc>
                      </a:pPr>
                      <a:r>
                        <a:rPr sz="800" b="1">
                          <a:solidFill>
                            <a:srgbClr val="FFFFFF"/>
                          </a:solidFill>
                          <a:latin typeface="Arial"/>
                        </a:rPr>
                        <a:t>19/10</a:t>
                      </a:r>
                    </a:p>
                    <a:p>
                      <a:pPr algn="ctr">
                        <a:lnSpc>
                          <a:spcPct val="103000"/>
                        </a:lnSpc>
                      </a:pPr>
                      <a:r>
                        <a:rPr sz="800" b="1">
                          <a:solidFill>
                            <a:srgbClr val="FFFFFF"/>
                          </a:solidFill>
                          <a:latin typeface="Arial"/>
                        </a:rPr>
                        <a:t>(Chốt ỨV)</a:t>
                      </a:r>
                    </a:p>
                  </a:txBody>
                  <a:tcPr anchor="ctr" marL="36576" marR="36576" marT="13716" marB="13716">
                    <a:solidFill>
                      <a:srgbClr val="0B1528"/>
                    </a:solidFill>
                  </a:tcPr>
                </a:tc>
                <a:tc>
                  <a:txBody>
                    <a:bodyPr wrap="square"/>
                    <a:lstStyle/>
                    <a:p>
                      <a:pPr algn="ctr">
                        <a:lnSpc>
                          <a:spcPct val="103000"/>
                        </a:lnSpc>
                      </a:pPr>
                      <a:r>
                        <a:rPr sz="800" b="1">
                          <a:solidFill>
                            <a:srgbClr val="FFFFFF"/>
                          </a:solidFill>
                          <a:latin typeface="Arial"/>
                        </a:rPr>
                        <a:t>20/10</a:t>
                      </a:r>
                    </a:p>
                    <a:p>
                      <a:pPr algn="ctr">
                        <a:lnSpc>
                          <a:spcPct val="103000"/>
                        </a:lnSpc>
                      </a:pPr>
                      <a:r>
                        <a:rPr sz="800" b="1">
                          <a:solidFill>
                            <a:srgbClr val="FFFFFF"/>
                          </a:solidFill>
                          <a:latin typeface="Arial"/>
                        </a:rPr>
                        <a:t>(Đỉnh R4)</a:t>
                      </a:r>
                    </a:p>
                  </a:txBody>
                  <a:tcPr anchor="ctr" marL="36576" marR="36576" marT="13716" marB="13716">
                    <a:solidFill>
                      <a:srgbClr val="0B1528"/>
                    </a:solidFill>
                  </a:tcPr>
                </a:tc>
                <a:tc>
                  <a:txBody>
                    <a:bodyPr wrap="square"/>
                    <a:lstStyle/>
                    <a:p>
                      <a:pPr algn="ctr">
                        <a:lnSpc>
                          <a:spcPct val="103000"/>
                        </a:lnSpc>
                      </a:pPr>
                      <a:r>
                        <a:rPr sz="800" b="1">
                          <a:solidFill>
                            <a:srgbClr val="FFFFFF"/>
                          </a:solidFill>
                          <a:latin typeface="Arial"/>
                        </a:rPr>
                        <a:t>21/10</a:t>
                      </a:r>
                    </a:p>
                    <a:p>
                      <a:pPr algn="ctr">
                        <a:lnSpc>
                          <a:spcPct val="103000"/>
                        </a:lnSpc>
                      </a:pPr>
                      <a:r>
                        <a:rPr sz="800" b="1">
                          <a:solidFill>
                            <a:srgbClr val="FFFFFF"/>
                          </a:solidFill>
                          <a:latin typeface="Arial"/>
                        </a:rPr>
                        <a:t>(Cương lĩnh)</a:t>
                      </a:r>
                    </a:p>
                  </a:txBody>
                  <a:tcPr anchor="ctr" marL="36576" marR="36576" marT="13716" marB="13716">
                    <a:solidFill>
                      <a:srgbClr val="0B1528"/>
                    </a:solidFill>
                  </a:tcPr>
                </a:tc>
                <a:tc>
                  <a:txBody>
                    <a:bodyPr wrap="square"/>
                    <a:lstStyle/>
                    <a:p>
                      <a:pPr algn="ctr">
                        <a:lnSpc>
                          <a:spcPct val="103000"/>
                        </a:lnSpc>
                      </a:pPr>
                      <a:r>
                        <a:rPr sz="800" b="1">
                          <a:solidFill>
                            <a:srgbClr val="FFFFFF"/>
                          </a:solidFill>
                          <a:latin typeface="Arial"/>
                        </a:rPr>
                        <a:t>22/10</a:t>
                      </a:r>
                    </a:p>
                    <a:p>
                      <a:pPr algn="ctr">
                        <a:lnSpc>
                          <a:spcPct val="103000"/>
                        </a:lnSpc>
                      </a:pPr>
                      <a:r>
                        <a:rPr sz="800" b="1">
                          <a:solidFill>
                            <a:srgbClr val="FFFFFF"/>
                          </a:solidFill>
                          <a:latin typeface="Arial"/>
                        </a:rPr>
                        <a:t>(1.000 tỷ)</a:t>
                      </a:r>
                    </a:p>
                  </a:txBody>
                  <a:tcPr anchor="ctr" marL="36576" marR="36576" marT="13716" marB="13716">
                    <a:solidFill>
                      <a:srgbClr val="0B1528"/>
                    </a:solidFill>
                  </a:tcPr>
                </a:tc>
                <a:tc>
                  <a:txBody>
                    <a:bodyPr wrap="square"/>
                    <a:lstStyle/>
                    <a:p>
                      <a:pPr algn="ctr">
                        <a:lnSpc>
                          <a:spcPct val="103000"/>
                        </a:lnSpc>
                      </a:pPr>
                      <a:r>
                        <a:rPr sz="800" b="1">
                          <a:solidFill>
                            <a:srgbClr val="FFFFFF"/>
                          </a:solidFill>
                          <a:latin typeface="Arial"/>
                        </a:rPr>
                        <a:t>TỔNG LŨY TIẾN</a:t>
                      </a:r>
                    </a:p>
                    <a:p>
                      <a:pPr algn="ctr">
                        <a:lnSpc>
                          <a:spcPct val="103000"/>
                        </a:lnSpc>
                      </a:pPr>
                      <a:r>
                        <a:rPr sz="800" b="1">
                          <a:solidFill>
                            <a:srgbClr val="FFFFFF"/>
                          </a:solidFill>
                          <a:latin typeface="Arial"/>
                        </a:rPr>
                        <a:t>(22 NGÀY)</a:t>
                      </a:r>
                    </a:p>
                  </a:txBody>
                  <a:tcPr anchor="ctr" marL="36576" marR="36576" marT="13716" marB="13716">
                    <a:solidFill>
                      <a:srgbClr val="0B1528"/>
                    </a:solidFill>
                  </a:tcPr>
                </a:tc>
              </a:tr>
              <a:tr h="368808">
                <a:tc>
                  <a:txBody>
                    <a:bodyPr wrap="square"/>
                    <a:lstStyle/>
                    <a:p>
                      <a:pPr algn="l">
                        <a:lnSpc>
                          <a:spcPct val="103000"/>
                        </a:lnSpc>
                      </a:pPr>
                      <a:r>
                        <a:rPr sz="730" b="1">
                          <a:solidFill>
                            <a:srgbClr val="1560D4"/>
                          </a:solidFill>
                          <a:latin typeface="Arial"/>
                        </a:rPr>
                        <a:t>TS. Trần Quốc Tuấn</a:t>
                      </a:r>
                    </a:p>
                    <a:p>
                      <a:pPr algn="l">
                        <a:lnSpc>
                          <a:spcPct val="103000"/>
                        </a:lnSpc>
                      </a:pPr>
                      <a:r>
                        <a:rPr sz="730" b="1">
                          <a:solidFill>
                            <a:srgbClr val="1560D4"/>
                          </a:solidFill>
                          <a:latin typeface="Arial"/>
                        </a:rPr>
                        <a:t>(Bài/Video theo mốc)</a:t>
                      </a:r>
                    </a:p>
                  </a:txBody>
                  <a:tcPr anchor="ctr" marL="27432" marR="27432" marT="13716" marB="13716">
                    <a:solidFill>
                      <a:srgbClr val="EBF3FF"/>
                    </a:solidFill>
                  </a:tcPr>
                </a:tc>
                <a:tc>
                  <a:txBody>
                    <a:bodyPr wrap="square"/>
                    <a:lstStyle/>
                    <a:p>
                      <a:pPr algn="ctr">
                        <a:lnSpc>
                          <a:spcPct val="103000"/>
                        </a:lnSpc>
                      </a:pPr>
                      <a:r>
                        <a:rPr sz="730" b="1">
                          <a:solidFill>
                            <a:srgbClr val="121C2D"/>
                          </a:solidFill>
                          <a:latin typeface="Arial"/>
                        </a:rPr>
                        <a:t>48</a:t>
                      </a:r>
                    </a:p>
                  </a:txBody>
                  <a:tcPr anchor="ctr" marL="27432" marR="27432" marT="13716" marB="13716">
                    <a:solidFill>
                      <a:srgbClr val="EBF3FF"/>
                    </a:solidFill>
                  </a:tcPr>
                </a:tc>
                <a:tc>
                  <a:txBody>
                    <a:bodyPr wrap="square"/>
                    <a:lstStyle/>
                    <a:p>
                      <a:pPr algn="ctr">
                        <a:lnSpc>
                          <a:spcPct val="103000"/>
                        </a:lnSpc>
                      </a:pPr>
                      <a:r>
                        <a:rPr sz="730" b="1">
                          <a:solidFill>
                            <a:srgbClr val="121C2D"/>
                          </a:solidFill>
                          <a:latin typeface="Arial"/>
                        </a:rPr>
                        <a:t>81</a:t>
                      </a:r>
                    </a:p>
                  </a:txBody>
                  <a:tcPr anchor="ctr" marL="27432" marR="27432" marT="13716" marB="13716">
                    <a:solidFill>
                      <a:srgbClr val="EBF3FF"/>
                    </a:solidFill>
                  </a:tcPr>
                </a:tc>
                <a:tc>
                  <a:txBody>
                    <a:bodyPr wrap="square"/>
                    <a:lstStyle/>
                    <a:p>
                      <a:pPr algn="ctr">
                        <a:lnSpc>
                          <a:spcPct val="103000"/>
                        </a:lnSpc>
                      </a:pPr>
                      <a:r>
                        <a:rPr sz="730" b="1">
                          <a:solidFill>
                            <a:srgbClr val="121C2D"/>
                          </a:solidFill>
                          <a:latin typeface="Arial"/>
                        </a:rPr>
                        <a:t>69</a:t>
                      </a:r>
                    </a:p>
                  </a:txBody>
                  <a:tcPr anchor="ctr" marL="27432" marR="27432" marT="13716" marB="13716">
                    <a:solidFill>
                      <a:srgbClr val="EBF3FF"/>
                    </a:solidFill>
                  </a:tcPr>
                </a:tc>
                <a:tc>
                  <a:txBody>
                    <a:bodyPr wrap="square"/>
                    <a:lstStyle/>
                    <a:p>
                      <a:pPr algn="ctr">
                        <a:lnSpc>
                          <a:spcPct val="103000"/>
                        </a:lnSpc>
                      </a:pPr>
                      <a:r>
                        <a:rPr sz="730" b="1">
                          <a:solidFill>
                            <a:srgbClr val="121C2D"/>
                          </a:solidFill>
                          <a:latin typeface="Arial"/>
                        </a:rPr>
                        <a:t>47</a:t>
                      </a:r>
                    </a:p>
                  </a:txBody>
                  <a:tcPr anchor="ctr" marL="27432" marR="27432" marT="13716" marB="13716">
                    <a:solidFill>
                      <a:srgbClr val="EBF3FF"/>
                    </a:solidFill>
                  </a:tcPr>
                </a:tc>
                <a:tc>
                  <a:txBody>
                    <a:bodyPr wrap="square"/>
                    <a:lstStyle/>
                    <a:p>
                      <a:pPr algn="ctr">
                        <a:lnSpc>
                          <a:spcPct val="103000"/>
                        </a:lnSpc>
                      </a:pPr>
                      <a:r>
                        <a:rPr sz="730" b="1">
                          <a:solidFill>
                            <a:srgbClr val="121C2D"/>
                          </a:solidFill>
                          <a:latin typeface="Arial"/>
                        </a:rPr>
                        <a:t>62</a:t>
                      </a:r>
                    </a:p>
                  </a:txBody>
                  <a:tcPr anchor="ctr" marL="27432" marR="27432" marT="13716" marB="13716">
                    <a:solidFill>
                      <a:srgbClr val="EBF3FF"/>
                    </a:solidFill>
                  </a:tcPr>
                </a:tc>
                <a:tc>
                  <a:txBody>
                    <a:bodyPr wrap="square"/>
                    <a:lstStyle/>
                    <a:p>
                      <a:pPr algn="ctr">
                        <a:lnSpc>
                          <a:spcPct val="103000"/>
                        </a:lnSpc>
                      </a:pPr>
                      <a:r>
                        <a:rPr sz="730" b="1">
                          <a:solidFill>
                            <a:srgbClr val="121C2D"/>
                          </a:solidFill>
                          <a:latin typeface="Arial"/>
                        </a:rPr>
                        <a:t>54</a:t>
                      </a:r>
                    </a:p>
                  </a:txBody>
                  <a:tcPr anchor="ctr" marL="27432" marR="27432" marT="13716" marB="13716">
                    <a:solidFill>
                      <a:srgbClr val="EBF3FF"/>
                    </a:solidFill>
                  </a:tcPr>
                </a:tc>
                <a:tc>
                  <a:txBody>
                    <a:bodyPr wrap="square"/>
                    <a:lstStyle/>
                    <a:p>
                      <a:pPr algn="ctr">
                        <a:lnSpc>
                          <a:spcPct val="103000"/>
                        </a:lnSpc>
                      </a:pPr>
                      <a:r>
                        <a:rPr sz="730" b="1">
                          <a:solidFill>
                            <a:srgbClr val="121C2D"/>
                          </a:solidFill>
                          <a:latin typeface="Arial"/>
                        </a:rPr>
                        <a:t>42</a:t>
                      </a:r>
                    </a:p>
                  </a:txBody>
                  <a:tcPr anchor="ctr" marL="27432" marR="27432" marT="13716" marB="13716">
                    <a:solidFill>
                      <a:srgbClr val="EBF3FF"/>
                    </a:solidFill>
                  </a:tcPr>
                </a:tc>
                <a:tc>
                  <a:txBody>
                    <a:bodyPr wrap="square"/>
                    <a:lstStyle/>
                    <a:p>
                      <a:pPr algn="ctr">
                        <a:lnSpc>
                          <a:spcPct val="103000"/>
                        </a:lnSpc>
                      </a:pPr>
                      <a:r>
                        <a:rPr sz="730" b="1">
                          <a:solidFill>
                            <a:srgbClr val="121C2D"/>
                          </a:solidFill>
                          <a:latin typeface="Arial"/>
                        </a:rPr>
                        <a:t>18</a:t>
                      </a:r>
                    </a:p>
                  </a:txBody>
                  <a:tcPr anchor="ctr" marL="27432" marR="27432" marT="13716" marB="13716">
                    <a:solidFill>
                      <a:srgbClr val="EBF3FF"/>
                    </a:solidFill>
                  </a:tcPr>
                </a:tc>
                <a:tc>
                  <a:txBody>
                    <a:bodyPr wrap="square"/>
                    <a:lstStyle/>
                    <a:p>
                      <a:pPr algn="ctr">
                        <a:lnSpc>
                          <a:spcPct val="103000"/>
                        </a:lnSpc>
                      </a:pPr>
                      <a:r>
                        <a:rPr sz="730" b="1">
                          <a:solidFill>
                            <a:srgbClr val="121C2D"/>
                          </a:solidFill>
                          <a:latin typeface="Arial"/>
                        </a:rPr>
                        <a:t>68</a:t>
                      </a:r>
                    </a:p>
                  </a:txBody>
                  <a:tcPr anchor="ctr" marL="27432" marR="27432" marT="13716" marB="13716">
                    <a:solidFill>
                      <a:srgbClr val="EBF3FF"/>
                    </a:solidFill>
                  </a:tcPr>
                </a:tc>
                <a:tc>
                  <a:txBody>
                    <a:bodyPr wrap="square"/>
                    <a:lstStyle/>
                    <a:p>
                      <a:pPr algn="ctr">
                        <a:lnSpc>
                          <a:spcPct val="103000"/>
                        </a:lnSpc>
                      </a:pPr>
                      <a:r>
                        <a:rPr sz="730" b="1">
                          <a:solidFill>
                            <a:srgbClr val="121C2D"/>
                          </a:solidFill>
                          <a:latin typeface="Arial"/>
                        </a:rPr>
                        <a:t>52</a:t>
                      </a:r>
                    </a:p>
                  </a:txBody>
                  <a:tcPr anchor="ctr" marL="27432" marR="27432" marT="13716" marB="13716">
                    <a:solidFill>
                      <a:srgbClr val="EBF3FF"/>
                    </a:solidFill>
                  </a:tcPr>
                </a:tc>
                <a:tc>
                  <a:txBody>
                    <a:bodyPr wrap="square"/>
                    <a:lstStyle/>
                    <a:p>
                      <a:pPr algn="ctr">
                        <a:lnSpc>
                          <a:spcPct val="103000"/>
                        </a:lnSpc>
                      </a:pPr>
                      <a:r>
                        <a:rPr sz="730" b="1">
                          <a:solidFill>
                            <a:srgbClr val="121C2D"/>
                          </a:solidFill>
                          <a:latin typeface="Arial"/>
                        </a:rPr>
                        <a:t>29</a:t>
                      </a:r>
                    </a:p>
                  </a:txBody>
                  <a:tcPr anchor="ctr" marL="27432" marR="27432" marT="13716" marB="13716">
                    <a:solidFill>
                      <a:srgbClr val="EBF3FF"/>
                    </a:solidFill>
                  </a:tcPr>
                </a:tc>
                <a:tc>
                  <a:txBody>
                    <a:bodyPr wrap="square"/>
                    <a:lstStyle/>
                    <a:p>
                      <a:pPr algn="ctr">
                        <a:lnSpc>
                          <a:spcPct val="103000"/>
                        </a:lnSpc>
                      </a:pPr>
                      <a:r>
                        <a:rPr sz="730" b="1">
                          <a:solidFill>
                            <a:srgbClr val="121C2D"/>
                          </a:solidFill>
                          <a:latin typeface="Arial"/>
                        </a:rPr>
                        <a:t>26</a:t>
                      </a:r>
                    </a:p>
                  </a:txBody>
                  <a:tcPr anchor="ctr" marL="27432" marR="27432" marT="13716" marB="13716">
                    <a:solidFill>
                      <a:srgbClr val="EBF3FF"/>
                    </a:solidFill>
                  </a:tcPr>
                </a:tc>
                <a:tc>
                  <a:txBody>
                    <a:bodyPr wrap="square"/>
                    <a:lstStyle/>
                    <a:p>
                      <a:pPr algn="ctr">
                        <a:lnSpc>
                          <a:spcPct val="103000"/>
                        </a:lnSpc>
                      </a:pPr>
                      <a:r>
                        <a:rPr sz="730" b="1">
                          <a:solidFill>
                            <a:srgbClr val="1560D4"/>
                          </a:solidFill>
                          <a:latin typeface="Arial"/>
                        </a:rPr>
                        <a:t>596 bài/video</a:t>
                      </a:r>
                    </a:p>
                    <a:p>
                      <a:pPr algn="ctr">
                        <a:lnSpc>
                          <a:spcPct val="103000"/>
                        </a:lnSpc>
                      </a:pPr>
                      <a:r>
                        <a:rPr sz="730" b="1">
                          <a:solidFill>
                            <a:srgbClr val="1560D4"/>
                          </a:solidFill>
                          <a:latin typeface="Arial"/>
                        </a:rPr>
                        <a:t>(Dẫn đầu #1)</a:t>
                      </a:r>
                    </a:p>
                  </a:txBody>
                  <a:tcPr anchor="ctr" marL="27432" marR="27432" marT="13716" marB="13716">
                    <a:solidFill>
                      <a:srgbClr val="EBF3FF"/>
                    </a:solidFill>
                  </a:tcPr>
                </a:tc>
              </a:tr>
              <a:tr h="368808">
                <a:tc>
                  <a:txBody>
                    <a:bodyPr wrap="square"/>
                    <a:lstStyle/>
                    <a:p>
                      <a:pPr algn="l">
                        <a:lnSpc>
                          <a:spcPct val="103000"/>
                        </a:lnSpc>
                      </a:pPr>
                      <a:r>
                        <a:rPr sz="730" b="1">
                          <a:solidFill>
                            <a:srgbClr val="121C2D"/>
                          </a:solidFill>
                          <a:latin typeface="Arial"/>
                        </a:rPr>
                        <a:t>TS. Trần Quốc Tuấn</a:t>
                      </a:r>
                    </a:p>
                    <a:p>
                      <a:pPr algn="l">
                        <a:lnSpc>
                          <a:spcPct val="103000"/>
                        </a:lnSpc>
                      </a:pPr>
                      <a:r>
                        <a:rPr sz="730" b="1">
                          <a:solidFill>
                            <a:srgbClr val="121C2D"/>
                          </a:solidFill>
                          <a:latin typeface="Arial"/>
                        </a:rPr>
                        <a:t>(Lũy tiến cộng dồn)</a:t>
                      </a:r>
                    </a:p>
                  </a:txBody>
                  <a:tcPr anchor="ctr" marL="27432" marR="27432" marT="13716" marB="13716">
                    <a:solidFill>
                      <a:srgbClr val="FFFFFF"/>
                    </a:solidFill>
                  </a:tcPr>
                </a:tc>
                <a:tc>
                  <a:txBody>
                    <a:bodyPr wrap="square"/>
                    <a:lstStyle/>
                    <a:p>
                      <a:pPr algn="ctr">
                        <a:lnSpc>
                          <a:spcPct val="103000"/>
                        </a:lnSpc>
                      </a:pPr>
                      <a:r>
                        <a:rPr sz="730" b="0">
                          <a:solidFill>
                            <a:srgbClr val="121C2D"/>
                          </a:solidFill>
                          <a:latin typeface="Arial"/>
                        </a:rPr>
                        <a:t>48</a:t>
                      </a:r>
                    </a:p>
                  </a:txBody>
                  <a:tcPr anchor="ctr" marL="27432" marR="27432" marT="13716" marB="13716">
                    <a:solidFill>
                      <a:srgbClr val="FFFFFF"/>
                    </a:solidFill>
                  </a:tcPr>
                </a:tc>
                <a:tc>
                  <a:txBody>
                    <a:bodyPr wrap="square"/>
                    <a:lstStyle/>
                    <a:p>
                      <a:pPr algn="ctr">
                        <a:lnSpc>
                          <a:spcPct val="103000"/>
                        </a:lnSpc>
                      </a:pPr>
                      <a:r>
                        <a:rPr sz="730" b="0">
                          <a:solidFill>
                            <a:srgbClr val="121C2D"/>
                          </a:solidFill>
                          <a:latin typeface="Arial"/>
                        </a:rPr>
                        <a:t>129</a:t>
                      </a:r>
                    </a:p>
                  </a:txBody>
                  <a:tcPr anchor="ctr" marL="27432" marR="27432" marT="13716" marB="13716">
                    <a:solidFill>
                      <a:srgbClr val="FFFFFF"/>
                    </a:solidFill>
                  </a:tcPr>
                </a:tc>
                <a:tc>
                  <a:txBody>
                    <a:bodyPr wrap="square"/>
                    <a:lstStyle/>
                    <a:p>
                      <a:pPr algn="ctr">
                        <a:lnSpc>
                          <a:spcPct val="103000"/>
                        </a:lnSpc>
                      </a:pPr>
                      <a:r>
                        <a:rPr sz="730" b="0">
                          <a:solidFill>
                            <a:srgbClr val="121C2D"/>
                          </a:solidFill>
                          <a:latin typeface="Arial"/>
                        </a:rPr>
                        <a:t>198</a:t>
                      </a:r>
                    </a:p>
                  </a:txBody>
                  <a:tcPr anchor="ctr" marL="27432" marR="27432" marT="13716" marB="13716">
                    <a:solidFill>
                      <a:srgbClr val="FFFFFF"/>
                    </a:solidFill>
                  </a:tcPr>
                </a:tc>
                <a:tc>
                  <a:txBody>
                    <a:bodyPr wrap="square"/>
                    <a:lstStyle/>
                    <a:p>
                      <a:pPr algn="ctr">
                        <a:lnSpc>
                          <a:spcPct val="103000"/>
                        </a:lnSpc>
                      </a:pPr>
                      <a:r>
                        <a:rPr sz="730" b="0">
                          <a:solidFill>
                            <a:srgbClr val="121C2D"/>
                          </a:solidFill>
                          <a:latin typeface="Arial"/>
                        </a:rPr>
                        <a:t>245</a:t>
                      </a:r>
                    </a:p>
                  </a:txBody>
                  <a:tcPr anchor="ctr" marL="27432" marR="27432" marT="13716" marB="13716">
                    <a:solidFill>
                      <a:srgbClr val="FFFFFF"/>
                    </a:solidFill>
                  </a:tcPr>
                </a:tc>
                <a:tc>
                  <a:txBody>
                    <a:bodyPr wrap="square"/>
                    <a:lstStyle/>
                    <a:p>
                      <a:pPr algn="ctr">
                        <a:lnSpc>
                          <a:spcPct val="103000"/>
                        </a:lnSpc>
                      </a:pPr>
                      <a:r>
                        <a:rPr sz="730" b="0">
                          <a:solidFill>
                            <a:srgbClr val="121C2D"/>
                          </a:solidFill>
                          <a:latin typeface="Arial"/>
                        </a:rPr>
                        <a:t>307</a:t>
                      </a:r>
                    </a:p>
                  </a:txBody>
                  <a:tcPr anchor="ctr" marL="27432" marR="27432" marT="13716" marB="13716">
                    <a:solidFill>
                      <a:srgbClr val="FFFFFF"/>
                    </a:solidFill>
                  </a:tcPr>
                </a:tc>
                <a:tc>
                  <a:txBody>
                    <a:bodyPr wrap="square"/>
                    <a:lstStyle/>
                    <a:p>
                      <a:pPr algn="ctr">
                        <a:lnSpc>
                          <a:spcPct val="103000"/>
                        </a:lnSpc>
                      </a:pPr>
                      <a:r>
                        <a:rPr sz="730" b="0">
                          <a:solidFill>
                            <a:srgbClr val="121C2D"/>
                          </a:solidFill>
                          <a:latin typeface="Arial"/>
                        </a:rPr>
                        <a:t>361</a:t>
                      </a:r>
                    </a:p>
                  </a:txBody>
                  <a:tcPr anchor="ctr" marL="27432" marR="27432" marT="13716" marB="13716">
                    <a:solidFill>
                      <a:srgbClr val="FFFFFF"/>
                    </a:solidFill>
                  </a:tcPr>
                </a:tc>
                <a:tc>
                  <a:txBody>
                    <a:bodyPr wrap="square"/>
                    <a:lstStyle/>
                    <a:p>
                      <a:pPr algn="ctr">
                        <a:lnSpc>
                          <a:spcPct val="103000"/>
                        </a:lnSpc>
                      </a:pPr>
                      <a:r>
                        <a:rPr sz="730" b="0">
                          <a:solidFill>
                            <a:srgbClr val="121C2D"/>
                          </a:solidFill>
                          <a:latin typeface="Arial"/>
                        </a:rPr>
                        <a:t>403</a:t>
                      </a:r>
                    </a:p>
                  </a:txBody>
                  <a:tcPr anchor="ctr" marL="27432" marR="27432" marT="13716" marB="13716">
                    <a:solidFill>
                      <a:srgbClr val="FFFFFF"/>
                    </a:solidFill>
                  </a:tcPr>
                </a:tc>
                <a:tc>
                  <a:txBody>
                    <a:bodyPr wrap="square"/>
                    <a:lstStyle/>
                    <a:p>
                      <a:pPr algn="ctr">
                        <a:lnSpc>
                          <a:spcPct val="103000"/>
                        </a:lnSpc>
                      </a:pPr>
                      <a:r>
                        <a:rPr sz="730" b="0">
                          <a:solidFill>
                            <a:srgbClr val="121C2D"/>
                          </a:solidFill>
                          <a:latin typeface="Arial"/>
                        </a:rPr>
                        <a:t>421</a:t>
                      </a:r>
                    </a:p>
                  </a:txBody>
                  <a:tcPr anchor="ctr" marL="27432" marR="27432" marT="13716" marB="13716">
                    <a:solidFill>
                      <a:srgbClr val="FFFFFF"/>
                    </a:solidFill>
                  </a:tcPr>
                </a:tc>
                <a:tc>
                  <a:txBody>
                    <a:bodyPr wrap="square"/>
                    <a:lstStyle/>
                    <a:p>
                      <a:pPr algn="ctr">
                        <a:lnSpc>
                          <a:spcPct val="103000"/>
                        </a:lnSpc>
                      </a:pPr>
                      <a:r>
                        <a:rPr sz="730" b="0">
                          <a:solidFill>
                            <a:srgbClr val="121C2D"/>
                          </a:solidFill>
                          <a:latin typeface="Arial"/>
                        </a:rPr>
                        <a:t>489</a:t>
                      </a:r>
                    </a:p>
                  </a:txBody>
                  <a:tcPr anchor="ctr" marL="27432" marR="27432" marT="13716" marB="13716">
                    <a:solidFill>
                      <a:srgbClr val="FFFFFF"/>
                    </a:solidFill>
                  </a:tcPr>
                </a:tc>
                <a:tc>
                  <a:txBody>
                    <a:bodyPr wrap="square"/>
                    <a:lstStyle/>
                    <a:p>
                      <a:pPr algn="ctr">
                        <a:lnSpc>
                          <a:spcPct val="103000"/>
                        </a:lnSpc>
                      </a:pPr>
                      <a:r>
                        <a:rPr sz="730" b="0">
                          <a:solidFill>
                            <a:srgbClr val="121C2D"/>
                          </a:solidFill>
                          <a:latin typeface="Arial"/>
                        </a:rPr>
                        <a:t>541</a:t>
                      </a:r>
                    </a:p>
                  </a:txBody>
                  <a:tcPr anchor="ctr" marL="27432" marR="27432" marT="13716" marB="13716">
                    <a:solidFill>
                      <a:srgbClr val="FFFFFF"/>
                    </a:solidFill>
                  </a:tcPr>
                </a:tc>
                <a:tc>
                  <a:txBody>
                    <a:bodyPr wrap="square"/>
                    <a:lstStyle/>
                    <a:p>
                      <a:pPr algn="ctr">
                        <a:lnSpc>
                          <a:spcPct val="103000"/>
                        </a:lnSpc>
                      </a:pPr>
                      <a:r>
                        <a:rPr sz="730" b="0">
                          <a:solidFill>
                            <a:srgbClr val="121C2D"/>
                          </a:solidFill>
                          <a:latin typeface="Arial"/>
                        </a:rPr>
                        <a:t>570</a:t>
                      </a:r>
                    </a:p>
                  </a:txBody>
                  <a:tcPr anchor="ctr" marL="27432" marR="27432" marT="13716" marB="13716">
                    <a:solidFill>
                      <a:srgbClr val="FFFFFF"/>
                    </a:solidFill>
                  </a:tcPr>
                </a:tc>
                <a:tc>
                  <a:txBody>
                    <a:bodyPr wrap="square"/>
                    <a:lstStyle/>
                    <a:p>
                      <a:pPr algn="ctr">
                        <a:lnSpc>
                          <a:spcPct val="103000"/>
                        </a:lnSpc>
                      </a:pPr>
                      <a:r>
                        <a:rPr sz="730" b="0">
                          <a:solidFill>
                            <a:srgbClr val="121C2D"/>
                          </a:solidFill>
                          <a:latin typeface="Arial"/>
                        </a:rPr>
                        <a:t>596</a:t>
                      </a:r>
                    </a:p>
                  </a:txBody>
                  <a:tcPr anchor="ctr" marL="27432" marR="27432" marT="13716" marB="13716">
                    <a:solidFill>
                      <a:srgbClr val="FFFFFF"/>
                    </a:solidFill>
                  </a:tcPr>
                </a:tc>
                <a:tc>
                  <a:txBody>
                    <a:bodyPr wrap="square"/>
                    <a:lstStyle/>
                    <a:p>
                      <a:pPr algn="ctr">
                        <a:lnSpc>
                          <a:spcPct val="103000"/>
                        </a:lnSpc>
                      </a:pPr>
                      <a:r>
                        <a:rPr sz="730" b="1">
                          <a:solidFill>
                            <a:srgbClr val="121C2D"/>
                          </a:solidFill>
                          <a:latin typeface="Arial"/>
                        </a:rPr>
                        <a:t>433 bài ủng hộ</a:t>
                      </a:r>
                    </a:p>
                    <a:p>
                      <a:pPr algn="ctr">
                        <a:lnSpc>
                          <a:spcPct val="103000"/>
                        </a:lnSpc>
                      </a:pPr>
                      <a:r>
                        <a:rPr sz="730" b="1">
                          <a:solidFill>
                            <a:srgbClr val="121C2D"/>
                          </a:solidFill>
                          <a:latin typeface="Arial"/>
                        </a:rPr>
                        <a:t>+586 bình luận bầu CT</a:t>
                      </a:r>
                    </a:p>
                  </a:txBody>
                  <a:tcPr anchor="ctr" marL="27432" marR="27432" marT="13716" marB="13716">
                    <a:solidFill>
                      <a:srgbClr val="FFFFFF"/>
                    </a:solidFill>
                  </a:tcPr>
                </a:tc>
              </a:tr>
              <a:tr h="368808">
                <a:tc>
                  <a:txBody>
                    <a:bodyPr wrap="square"/>
                    <a:lstStyle/>
                    <a:p>
                      <a:pPr algn="l">
                        <a:lnSpc>
                          <a:spcPct val="103000"/>
                        </a:lnSpc>
                      </a:pPr>
                      <a:r>
                        <a:rPr sz="730" b="1">
                          <a:solidFill>
                            <a:srgbClr val="D62728"/>
                          </a:solidFill>
                          <a:latin typeface="Arial"/>
                        </a:rPr>
                        <a:t>Ông Nguyễn Đức Thụy</a:t>
                      </a:r>
                    </a:p>
                    <a:p>
                      <a:pPr algn="l">
                        <a:lnSpc>
                          <a:spcPct val="103000"/>
                        </a:lnSpc>
                      </a:pPr>
                      <a:r>
                        <a:rPr sz="730" b="1">
                          <a:solidFill>
                            <a:srgbClr val="D62728"/>
                          </a:solidFill>
                          <a:latin typeface="Arial"/>
                        </a:rPr>
                        <a:t>(Bài/Video theo mốc)</a:t>
                      </a:r>
                    </a:p>
                  </a:txBody>
                  <a:tcPr anchor="ctr" marL="27432" marR="27432" marT="13716" marB="13716">
                    <a:solidFill>
                      <a:srgbClr val="FEEEEE"/>
                    </a:solidFill>
                  </a:tcPr>
                </a:tc>
                <a:tc>
                  <a:txBody>
                    <a:bodyPr wrap="square"/>
                    <a:lstStyle/>
                    <a:p>
                      <a:pPr algn="ctr">
                        <a:lnSpc>
                          <a:spcPct val="103000"/>
                        </a:lnSpc>
                      </a:pPr>
                      <a:r>
                        <a:rPr sz="730" b="1">
                          <a:solidFill>
                            <a:srgbClr val="121C2D"/>
                          </a:solidFill>
                          <a:latin typeface="Arial"/>
                        </a:rPr>
                        <a:t>21</a:t>
                      </a:r>
                    </a:p>
                  </a:txBody>
                  <a:tcPr anchor="ctr" marL="27432" marR="27432" marT="13716" marB="13716">
                    <a:solidFill>
                      <a:srgbClr val="FEEEEE"/>
                    </a:solidFill>
                  </a:tcPr>
                </a:tc>
                <a:tc>
                  <a:txBody>
                    <a:bodyPr wrap="square"/>
                    <a:lstStyle/>
                    <a:p>
                      <a:pPr algn="ctr">
                        <a:lnSpc>
                          <a:spcPct val="103000"/>
                        </a:lnSpc>
                      </a:pPr>
                      <a:r>
                        <a:rPr sz="730" b="1">
                          <a:solidFill>
                            <a:srgbClr val="121C2D"/>
                          </a:solidFill>
                          <a:latin typeface="Arial"/>
                        </a:rPr>
                        <a:t>22</a:t>
                      </a:r>
                    </a:p>
                  </a:txBody>
                  <a:tcPr anchor="ctr" marL="27432" marR="27432" marT="13716" marB="13716">
                    <a:solidFill>
                      <a:srgbClr val="FEEEEE"/>
                    </a:solidFill>
                  </a:tcPr>
                </a:tc>
                <a:tc>
                  <a:txBody>
                    <a:bodyPr wrap="square"/>
                    <a:lstStyle/>
                    <a:p>
                      <a:pPr algn="ctr">
                        <a:lnSpc>
                          <a:spcPct val="103000"/>
                        </a:lnSpc>
                      </a:pPr>
                      <a:r>
                        <a:rPr sz="730" b="1">
                          <a:solidFill>
                            <a:srgbClr val="121C2D"/>
                          </a:solidFill>
                          <a:latin typeface="Arial"/>
                        </a:rPr>
                        <a:t>20</a:t>
                      </a:r>
                    </a:p>
                  </a:txBody>
                  <a:tcPr anchor="ctr" marL="27432" marR="27432" marT="13716" marB="13716">
                    <a:solidFill>
                      <a:srgbClr val="FEEEEE"/>
                    </a:solidFill>
                  </a:tcPr>
                </a:tc>
                <a:tc>
                  <a:txBody>
                    <a:bodyPr wrap="square"/>
                    <a:lstStyle/>
                    <a:p>
                      <a:pPr algn="ctr">
                        <a:lnSpc>
                          <a:spcPct val="103000"/>
                        </a:lnSpc>
                      </a:pPr>
                      <a:r>
                        <a:rPr sz="730" b="1">
                          <a:solidFill>
                            <a:srgbClr val="121C2D"/>
                          </a:solidFill>
                          <a:latin typeface="Arial"/>
                        </a:rPr>
                        <a:t>39</a:t>
                      </a:r>
                    </a:p>
                  </a:txBody>
                  <a:tcPr anchor="ctr" marL="27432" marR="27432" marT="13716" marB="13716">
                    <a:solidFill>
                      <a:srgbClr val="FEEEEE"/>
                    </a:solidFill>
                  </a:tcPr>
                </a:tc>
                <a:tc>
                  <a:txBody>
                    <a:bodyPr wrap="square"/>
                    <a:lstStyle/>
                    <a:p>
                      <a:pPr algn="ctr">
                        <a:lnSpc>
                          <a:spcPct val="103000"/>
                        </a:lnSpc>
                      </a:pPr>
                      <a:r>
                        <a:rPr sz="730" b="1">
                          <a:solidFill>
                            <a:srgbClr val="121C2D"/>
                          </a:solidFill>
                          <a:latin typeface="Arial"/>
                        </a:rPr>
                        <a:t>68</a:t>
                      </a:r>
                    </a:p>
                  </a:txBody>
                  <a:tcPr anchor="ctr" marL="27432" marR="27432" marT="13716" marB="13716">
                    <a:solidFill>
                      <a:srgbClr val="FEEEEE"/>
                    </a:solidFill>
                  </a:tcPr>
                </a:tc>
                <a:tc>
                  <a:txBody>
                    <a:bodyPr wrap="square"/>
                    <a:lstStyle/>
                    <a:p>
                      <a:pPr algn="ctr">
                        <a:lnSpc>
                          <a:spcPct val="103000"/>
                        </a:lnSpc>
                      </a:pPr>
                      <a:r>
                        <a:rPr sz="730" b="1">
                          <a:solidFill>
                            <a:srgbClr val="121C2D"/>
                          </a:solidFill>
                          <a:latin typeface="Arial"/>
                        </a:rPr>
                        <a:t>49</a:t>
                      </a:r>
                    </a:p>
                  </a:txBody>
                  <a:tcPr anchor="ctr" marL="27432" marR="27432" marT="13716" marB="13716">
                    <a:solidFill>
                      <a:srgbClr val="FEEEEE"/>
                    </a:solidFill>
                  </a:tcPr>
                </a:tc>
                <a:tc>
                  <a:txBody>
                    <a:bodyPr wrap="square"/>
                    <a:lstStyle/>
                    <a:p>
                      <a:pPr algn="ctr">
                        <a:lnSpc>
                          <a:spcPct val="103000"/>
                        </a:lnSpc>
                      </a:pPr>
                      <a:r>
                        <a:rPr sz="730" b="1">
                          <a:solidFill>
                            <a:srgbClr val="121C2D"/>
                          </a:solidFill>
                          <a:latin typeface="Arial"/>
                        </a:rPr>
                        <a:t>28</a:t>
                      </a:r>
                    </a:p>
                  </a:txBody>
                  <a:tcPr anchor="ctr" marL="27432" marR="27432" marT="13716" marB="13716">
                    <a:solidFill>
                      <a:srgbClr val="FEEEEE"/>
                    </a:solidFill>
                  </a:tcPr>
                </a:tc>
                <a:tc>
                  <a:txBody>
                    <a:bodyPr wrap="square"/>
                    <a:lstStyle/>
                    <a:p>
                      <a:pPr algn="ctr">
                        <a:lnSpc>
                          <a:spcPct val="103000"/>
                        </a:lnSpc>
                      </a:pPr>
                      <a:r>
                        <a:rPr sz="730" b="1">
                          <a:solidFill>
                            <a:srgbClr val="121C2D"/>
                          </a:solidFill>
                          <a:latin typeface="Arial"/>
                        </a:rPr>
                        <a:t>13</a:t>
                      </a:r>
                    </a:p>
                  </a:txBody>
                  <a:tcPr anchor="ctr" marL="27432" marR="27432" marT="13716" marB="13716">
                    <a:solidFill>
                      <a:srgbClr val="FEEEEE"/>
                    </a:solidFill>
                  </a:tcPr>
                </a:tc>
                <a:tc>
                  <a:txBody>
                    <a:bodyPr wrap="square"/>
                    <a:lstStyle/>
                    <a:p>
                      <a:pPr algn="ctr">
                        <a:lnSpc>
                          <a:spcPct val="103000"/>
                        </a:lnSpc>
                      </a:pPr>
                      <a:r>
                        <a:rPr sz="730" b="1">
                          <a:solidFill>
                            <a:srgbClr val="121C2D"/>
                          </a:solidFill>
                          <a:latin typeface="Arial"/>
                        </a:rPr>
                        <a:t>64</a:t>
                      </a:r>
                    </a:p>
                  </a:txBody>
                  <a:tcPr anchor="ctr" marL="27432" marR="27432" marT="13716" marB="13716">
                    <a:solidFill>
                      <a:srgbClr val="FEEEEE"/>
                    </a:solidFill>
                  </a:tcPr>
                </a:tc>
                <a:tc>
                  <a:txBody>
                    <a:bodyPr wrap="square"/>
                    <a:lstStyle/>
                    <a:p>
                      <a:pPr algn="ctr">
                        <a:lnSpc>
                          <a:spcPct val="103000"/>
                        </a:lnSpc>
                      </a:pPr>
                      <a:r>
                        <a:rPr sz="730" b="1">
                          <a:solidFill>
                            <a:srgbClr val="121C2D"/>
                          </a:solidFill>
                          <a:latin typeface="Arial"/>
                        </a:rPr>
                        <a:t>58</a:t>
                      </a:r>
                    </a:p>
                  </a:txBody>
                  <a:tcPr anchor="ctr" marL="27432" marR="27432" marT="13716" marB="13716">
                    <a:solidFill>
                      <a:srgbClr val="FEEEEE"/>
                    </a:solidFill>
                  </a:tcPr>
                </a:tc>
                <a:tc>
                  <a:txBody>
                    <a:bodyPr wrap="square"/>
                    <a:lstStyle/>
                    <a:p>
                      <a:pPr algn="ctr">
                        <a:lnSpc>
                          <a:spcPct val="103000"/>
                        </a:lnSpc>
                      </a:pPr>
                      <a:r>
                        <a:rPr sz="730" b="1">
                          <a:solidFill>
                            <a:srgbClr val="121C2D"/>
                          </a:solidFill>
                          <a:latin typeface="Arial"/>
                        </a:rPr>
                        <a:t>38</a:t>
                      </a:r>
                    </a:p>
                  </a:txBody>
                  <a:tcPr anchor="ctr" marL="27432" marR="27432" marT="13716" marB="13716">
                    <a:solidFill>
                      <a:srgbClr val="FEEEEE"/>
                    </a:solidFill>
                  </a:tcPr>
                </a:tc>
                <a:tc>
                  <a:txBody>
                    <a:bodyPr wrap="square"/>
                    <a:lstStyle/>
                    <a:p>
                      <a:pPr algn="ctr">
                        <a:lnSpc>
                          <a:spcPct val="103000"/>
                        </a:lnSpc>
                      </a:pPr>
                      <a:r>
                        <a:rPr sz="730" b="1">
                          <a:solidFill>
                            <a:srgbClr val="121C2D"/>
                          </a:solidFill>
                          <a:latin typeface="Arial"/>
                        </a:rPr>
                        <a:t>34</a:t>
                      </a:r>
                    </a:p>
                  </a:txBody>
                  <a:tcPr anchor="ctr" marL="27432" marR="27432" marT="13716" marB="13716">
                    <a:solidFill>
                      <a:srgbClr val="FEEEEE"/>
                    </a:solidFill>
                  </a:tcPr>
                </a:tc>
                <a:tc>
                  <a:txBody>
                    <a:bodyPr wrap="square"/>
                    <a:lstStyle/>
                    <a:p>
                      <a:pPr algn="ctr">
                        <a:lnSpc>
                          <a:spcPct val="103000"/>
                        </a:lnSpc>
                      </a:pPr>
                      <a:r>
                        <a:rPr sz="730" b="1">
                          <a:solidFill>
                            <a:srgbClr val="D62728"/>
                          </a:solidFill>
                          <a:latin typeface="Arial"/>
                        </a:rPr>
                        <a:t>454 bài/video</a:t>
                      </a:r>
                    </a:p>
                    <a:p>
                      <a:pPr algn="ctr">
                        <a:lnSpc>
                          <a:spcPct val="103000"/>
                        </a:lnSpc>
                      </a:pPr>
                      <a:r>
                        <a:rPr sz="730" b="1">
                          <a:solidFill>
                            <a:srgbClr val="D62728"/>
                          </a:solidFill>
                          <a:latin typeface="Arial"/>
                        </a:rPr>
                        <a:t>(Thách thức #2)</a:t>
                      </a:r>
                    </a:p>
                  </a:txBody>
                  <a:tcPr anchor="ctr" marL="27432" marR="27432" marT="13716" marB="13716">
                    <a:solidFill>
                      <a:srgbClr val="FEEEEE"/>
                    </a:solidFill>
                  </a:tcPr>
                </a:tc>
              </a:tr>
              <a:tr h="368808">
                <a:tc>
                  <a:txBody>
                    <a:bodyPr wrap="square"/>
                    <a:lstStyle/>
                    <a:p>
                      <a:pPr algn="l">
                        <a:lnSpc>
                          <a:spcPct val="103000"/>
                        </a:lnSpc>
                      </a:pPr>
                      <a:r>
                        <a:rPr sz="730" b="1">
                          <a:solidFill>
                            <a:srgbClr val="121C2D"/>
                          </a:solidFill>
                          <a:latin typeface="Arial"/>
                        </a:rPr>
                        <a:t>Ông Nguyễn Đức Thụy</a:t>
                      </a:r>
                    </a:p>
                    <a:p>
                      <a:pPr algn="l">
                        <a:lnSpc>
                          <a:spcPct val="103000"/>
                        </a:lnSpc>
                      </a:pPr>
                      <a:r>
                        <a:rPr sz="730" b="1">
                          <a:solidFill>
                            <a:srgbClr val="121C2D"/>
                          </a:solidFill>
                          <a:latin typeface="Arial"/>
                        </a:rPr>
                        <a:t>(Lũy tiến cộng dồn)</a:t>
                      </a:r>
                    </a:p>
                  </a:txBody>
                  <a:tcPr anchor="ctr" marL="27432" marR="27432" marT="13716" marB="13716">
                    <a:solidFill>
                      <a:srgbClr val="FFFFFF"/>
                    </a:solidFill>
                  </a:tcPr>
                </a:tc>
                <a:tc>
                  <a:txBody>
                    <a:bodyPr wrap="square"/>
                    <a:lstStyle/>
                    <a:p>
                      <a:pPr algn="ctr">
                        <a:lnSpc>
                          <a:spcPct val="103000"/>
                        </a:lnSpc>
                      </a:pPr>
                      <a:r>
                        <a:rPr sz="730" b="0">
                          <a:solidFill>
                            <a:srgbClr val="121C2D"/>
                          </a:solidFill>
                          <a:latin typeface="Arial"/>
                        </a:rPr>
                        <a:t>21</a:t>
                      </a:r>
                    </a:p>
                  </a:txBody>
                  <a:tcPr anchor="ctr" marL="27432" marR="27432" marT="13716" marB="13716">
                    <a:solidFill>
                      <a:srgbClr val="FFFFFF"/>
                    </a:solidFill>
                  </a:tcPr>
                </a:tc>
                <a:tc>
                  <a:txBody>
                    <a:bodyPr wrap="square"/>
                    <a:lstStyle/>
                    <a:p>
                      <a:pPr algn="ctr">
                        <a:lnSpc>
                          <a:spcPct val="103000"/>
                        </a:lnSpc>
                      </a:pPr>
                      <a:r>
                        <a:rPr sz="730" b="0">
                          <a:solidFill>
                            <a:srgbClr val="121C2D"/>
                          </a:solidFill>
                          <a:latin typeface="Arial"/>
                        </a:rPr>
                        <a:t>43</a:t>
                      </a:r>
                    </a:p>
                  </a:txBody>
                  <a:tcPr anchor="ctr" marL="27432" marR="27432" marT="13716" marB="13716">
                    <a:solidFill>
                      <a:srgbClr val="FFFFFF"/>
                    </a:solidFill>
                  </a:tcPr>
                </a:tc>
                <a:tc>
                  <a:txBody>
                    <a:bodyPr wrap="square"/>
                    <a:lstStyle/>
                    <a:p>
                      <a:pPr algn="ctr">
                        <a:lnSpc>
                          <a:spcPct val="103000"/>
                        </a:lnSpc>
                      </a:pPr>
                      <a:r>
                        <a:rPr sz="730" b="0">
                          <a:solidFill>
                            <a:srgbClr val="121C2D"/>
                          </a:solidFill>
                          <a:latin typeface="Arial"/>
                        </a:rPr>
                        <a:t>63</a:t>
                      </a:r>
                    </a:p>
                  </a:txBody>
                  <a:tcPr anchor="ctr" marL="27432" marR="27432" marT="13716" marB="13716">
                    <a:solidFill>
                      <a:srgbClr val="FFFFFF"/>
                    </a:solidFill>
                  </a:tcPr>
                </a:tc>
                <a:tc>
                  <a:txBody>
                    <a:bodyPr wrap="square"/>
                    <a:lstStyle/>
                    <a:p>
                      <a:pPr algn="ctr">
                        <a:lnSpc>
                          <a:spcPct val="103000"/>
                        </a:lnSpc>
                      </a:pPr>
                      <a:r>
                        <a:rPr sz="730" b="0">
                          <a:solidFill>
                            <a:srgbClr val="121C2D"/>
                          </a:solidFill>
                          <a:latin typeface="Arial"/>
                        </a:rPr>
                        <a:t>102</a:t>
                      </a:r>
                    </a:p>
                  </a:txBody>
                  <a:tcPr anchor="ctr" marL="27432" marR="27432" marT="13716" marB="13716">
                    <a:solidFill>
                      <a:srgbClr val="FFFFFF"/>
                    </a:solidFill>
                  </a:tcPr>
                </a:tc>
                <a:tc>
                  <a:txBody>
                    <a:bodyPr wrap="square"/>
                    <a:lstStyle/>
                    <a:p>
                      <a:pPr algn="ctr">
                        <a:lnSpc>
                          <a:spcPct val="103000"/>
                        </a:lnSpc>
                      </a:pPr>
                      <a:r>
                        <a:rPr sz="730" b="0">
                          <a:solidFill>
                            <a:srgbClr val="121C2D"/>
                          </a:solidFill>
                          <a:latin typeface="Arial"/>
                        </a:rPr>
                        <a:t>170</a:t>
                      </a:r>
                    </a:p>
                  </a:txBody>
                  <a:tcPr anchor="ctr" marL="27432" marR="27432" marT="13716" marB="13716">
                    <a:solidFill>
                      <a:srgbClr val="FFFFFF"/>
                    </a:solidFill>
                  </a:tcPr>
                </a:tc>
                <a:tc>
                  <a:txBody>
                    <a:bodyPr wrap="square"/>
                    <a:lstStyle/>
                    <a:p>
                      <a:pPr algn="ctr">
                        <a:lnSpc>
                          <a:spcPct val="103000"/>
                        </a:lnSpc>
                      </a:pPr>
                      <a:r>
                        <a:rPr sz="730" b="0">
                          <a:solidFill>
                            <a:srgbClr val="121C2D"/>
                          </a:solidFill>
                          <a:latin typeface="Arial"/>
                        </a:rPr>
                        <a:t>219</a:t>
                      </a:r>
                    </a:p>
                  </a:txBody>
                  <a:tcPr anchor="ctr" marL="27432" marR="27432" marT="13716" marB="13716">
                    <a:solidFill>
                      <a:srgbClr val="FFFFFF"/>
                    </a:solidFill>
                  </a:tcPr>
                </a:tc>
                <a:tc>
                  <a:txBody>
                    <a:bodyPr wrap="square"/>
                    <a:lstStyle/>
                    <a:p>
                      <a:pPr algn="ctr">
                        <a:lnSpc>
                          <a:spcPct val="103000"/>
                        </a:lnSpc>
                      </a:pPr>
                      <a:r>
                        <a:rPr sz="730" b="0">
                          <a:solidFill>
                            <a:srgbClr val="121C2D"/>
                          </a:solidFill>
                          <a:latin typeface="Arial"/>
                        </a:rPr>
                        <a:t>247</a:t>
                      </a:r>
                    </a:p>
                  </a:txBody>
                  <a:tcPr anchor="ctr" marL="27432" marR="27432" marT="13716" marB="13716">
                    <a:solidFill>
                      <a:srgbClr val="FFFFFF"/>
                    </a:solidFill>
                  </a:tcPr>
                </a:tc>
                <a:tc>
                  <a:txBody>
                    <a:bodyPr wrap="square"/>
                    <a:lstStyle/>
                    <a:p>
                      <a:pPr algn="ctr">
                        <a:lnSpc>
                          <a:spcPct val="103000"/>
                        </a:lnSpc>
                      </a:pPr>
                      <a:r>
                        <a:rPr sz="730" b="0">
                          <a:solidFill>
                            <a:srgbClr val="121C2D"/>
                          </a:solidFill>
                          <a:latin typeface="Arial"/>
                        </a:rPr>
                        <a:t>260</a:t>
                      </a:r>
                    </a:p>
                  </a:txBody>
                  <a:tcPr anchor="ctr" marL="27432" marR="27432" marT="13716" marB="13716">
                    <a:solidFill>
                      <a:srgbClr val="FFFFFF"/>
                    </a:solidFill>
                  </a:tcPr>
                </a:tc>
                <a:tc>
                  <a:txBody>
                    <a:bodyPr wrap="square"/>
                    <a:lstStyle/>
                    <a:p>
                      <a:pPr algn="ctr">
                        <a:lnSpc>
                          <a:spcPct val="103000"/>
                        </a:lnSpc>
                      </a:pPr>
                      <a:r>
                        <a:rPr sz="730" b="0">
                          <a:solidFill>
                            <a:srgbClr val="121C2D"/>
                          </a:solidFill>
                          <a:latin typeface="Arial"/>
                        </a:rPr>
                        <a:t>324</a:t>
                      </a:r>
                    </a:p>
                  </a:txBody>
                  <a:tcPr anchor="ctr" marL="27432" marR="27432" marT="13716" marB="13716">
                    <a:solidFill>
                      <a:srgbClr val="FFFFFF"/>
                    </a:solidFill>
                  </a:tcPr>
                </a:tc>
                <a:tc>
                  <a:txBody>
                    <a:bodyPr wrap="square"/>
                    <a:lstStyle/>
                    <a:p>
                      <a:pPr algn="ctr">
                        <a:lnSpc>
                          <a:spcPct val="103000"/>
                        </a:lnSpc>
                      </a:pPr>
                      <a:r>
                        <a:rPr sz="730" b="0">
                          <a:solidFill>
                            <a:srgbClr val="121C2D"/>
                          </a:solidFill>
                          <a:latin typeface="Arial"/>
                        </a:rPr>
                        <a:t>382</a:t>
                      </a:r>
                    </a:p>
                  </a:txBody>
                  <a:tcPr anchor="ctr" marL="27432" marR="27432" marT="13716" marB="13716">
                    <a:solidFill>
                      <a:srgbClr val="FFFFFF"/>
                    </a:solidFill>
                  </a:tcPr>
                </a:tc>
                <a:tc>
                  <a:txBody>
                    <a:bodyPr wrap="square"/>
                    <a:lstStyle/>
                    <a:p>
                      <a:pPr algn="ctr">
                        <a:lnSpc>
                          <a:spcPct val="103000"/>
                        </a:lnSpc>
                      </a:pPr>
                      <a:r>
                        <a:rPr sz="730" b="0">
                          <a:solidFill>
                            <a:srgbClr val="121C2D"/>
                          </a:solidFill>
                          <a:latin typeface="Arial"/>
                        </a:rPr>
                        <a:t>420</a:t>
                      </a:r>
                    </a:p>
                  </a:txBody>
                  <a:tcPr anchor="ctr" marL="27432" marR="27432" marT="13716" marB="13716">
                    <a:solidFill>
                      <a:srgbClr val="FFFFFF"/>
                    </a:solidFill>
                  </a:tcPr>
                </a:tc>
                <a:tc>
                  <a:txBody>
                    <a:bodyPr wrap="square"/>
                    <a:lstStyle/>
                    <a:p>
                      <a:pPr algn="ctr">
                        <a:lnSpc>
                          <a:spcPct val="103000"/>
                        </a:lnSpc>
                      </a:pPr>
                      <a:r>
                        <a:rPr sz="730" b="0">
                          <a:solidFill>
                            <a:srgbClr val="121C2D"/>
                          </a:solidFill>
                          <a:latin typeface="Arial"/>
                        </a:rPr>
                        <a:t>454</a:t>
                      </a:r>
                    </a:p>
                  </a:txBody>
                  <a:tcPr anchor="ctr" marL="27432" marR="27432" marT="13716" marB="13716">
                    <a:solidFill>
                      <a:srgbClr val="FFFFFF"/>
                    </a:solidFill>
                  </a:tcPr>
                </a:tc>
                <a:tc>
                  <a:txBody>
                    <a:bodyPr wrap="square"/>
                    <a:lstStyle/>
                    <a:p>
                      <a:pPr algn="ctr">
                        <a:lnSpc>
                          <a:spcPct val="103000"/>
                        </a:lnSpc>
                      </a:pPr>
                      <a:r>
                        <a:rPr sz="730" b="1">
                          <a:solidFill>
                            <a:srgbClr val="121C2D"/>
                          </a:solidFill>
                          <a:latin typeface="Arial"/>
                        </a:rPr>
                        <a:t>316 bài ủng hộ</a:t>
                      </a:r>
                    </a:p>
                    <a:p>
                      <a:pPr algn="ctr">
                        <a:lnSpc>
                          <a:spcPct val="103000"/>
                        </a:lnSpc>
                      </a:pPr>
                      <a:r>
                        <a:rPr sz="730" b="1">
                          <a:solidFill>
                            <a:srgbClr val="121C2D"/>
                          </a:solidFill>
                          <a:latin typeface="Arial"/>
                        </a:rPr>
                        <a:t>+405 bình luận bầu CT</a:t>
                      </a:r>
                    </a:p>
                  </a:txBody>
                  <a:tcPr anchor="ctr" marL="27432" marR="27432" marT="13716" marB="13716">
                    <a:solidFill>
                      <a:srgbClr val="FFFFFF"/>
                    </a:solidFill>
                  </a:tcPr>
                </a:tc>
              </a:tr>
              <a:tr h="368808">
                <a:tc>
                  <a:txBody>
                    <a:bodyPr wrap="square"/>
                    <a:lstStyle/>
                    <a:p>
                      <a:pPr algn="l">
                        <a:lnSpc>
                          <a:spcPct val="103000"/>
                        </a:lnSpc>
                      </a:pPr>
                      <a:r>
                        <a:rPr sz="730" b="1">
                          <a:solidFill>
                            <a:srgbClr val="0B1528"/>
                          </a:solidFill>
                          <a:latin typeface="Arial"/>
                        </a:rPr>
                        <a:t>Sự kiện &amp; Động lực</a:t>
                      </a:r>
                    </a:p>
                    <a:p>
                      <a:pPr algn="l">
                        <a:lnSpc>
                          <a:spcPct val="103000"/>
                        </a:lnSpc>
                      </a:pPr>
                      <a:r>
                        <a:rPr sz="730" b="1">
                          <a:solidFill>
                            <a:srgbClr val="0B1528"/>
                          </a:solidFill>
                          <a:latin typeface="Arial"/>
                        </a:rPr>
                        <a:t>Truyền thông chủ đạo</a:t>
                      </a:r>
                    </a:p>
                  </a:txBody>
                  <a:tcPr anchor="ctr" marL="27432" marR="27432" marT="13716" marB="13716">
                    <a:solidFill>
                      <a:srgbClr val="FFF6E8"/>
                    </a:solidFill>
                  </a:tcPr>
                </a:tc>
                <a:tc>
                  <a:txBody>
                    <a:bodyPr wrap="square"/>
                    <a:lstStyle/>
                    <a:p>
                      <a:pPr algn="ctr">
                        <a:lnSpc>
                          <a:spcPct val="103000"/>
                        </a:lnSpc>
                      </a:pPr>
                      <a:r>
                        <a:rPr sz="730" b="0">
                          <a:solidFill>
                            <a:srgbClr val="121C2D"/>
                          </a:solidFill>
                          <a:latin typeface="Arial"/>
                        </a:rPr>
                        <a:t>Bầu Đức gợi ý tỷ phú làm CT/Phó CT</a:t>
                      </a:r>
                    </a:p>
                  </a:txBody>
                  <a:tcPr anchor="ctr" marL="27432" marR="27432" marT="13716" marB="13716">
                    <a:solidFill>
                      <a:srgbClr val="FFF6E8"/>
                    </a:solidFill>
                  </a:tcPr>
                </a:tc>
                <a:tc>
                  <a:txBody>
                    <a:bodyPr wrap="square"/>
                    <a:lstStyle/>
                    <a:p>
                      <a:pPr algn="ctr">
                        <a:lnSpc>
                          <a:spcPct val="103000"/>
                        </a:lnSpc>
                      </a:pPr>
                      <a:r>
                        <a:rPr sz="730" b="0">
                          <a:solidFill>
                            <a:srgbClr val="121C2D"/>
                          </a:solidFill>
                          <a:latin typeface="Arial"/>
                        </a:rPr>
                        <a:t>Tranh luận nhập tịch &amp; U17 châu Á</a:t>
                      </a:r>
                    </a:p>
                  </a:txBody>
                  <a:tcPr anchor="ctr" marL="27432" marR="27432" marT="13716" marB="13716">
                    <a:solidFill>
                      <a:srgbClr val="FFF6E8"/>
                    </a:solidFill>
                  </a:tcPr>
                </a:tc>
                <a:tc>
                  <a:txBody>
                    <a:bodyPr wrap="square"/>
                    <a:lstStyle/>
                    <a:p>
                      <a:pPr algn="ctr">
                        <a:lnSpc>
                          <a:spcPct val="103000"/>
                        </a:lnSpc>
                      </a:pPr>
                      <a:r>
                        <a:rPr sz="730" b="0">
                          <a:solidFill>
                            <a:srgbClr val="121C2D"/>
                          </a:solidFill>
                          <a:latin typeface="Arial"/>
                        </a:rPr>
                        <a:t>Tổng kết 7 ĐTQG vào VCK châu Á</a:t>
                      </a:r>
                    </a:p>
                  </a:txBody>
                  <a:tcPr anchor="ctr" marL="27432" marR="27432" marT="13716" marB="13716">
                    <a:solidFill>
                      <a:srgbClr val="FFF6E8"/>
                    </a:solidFill>
                  </a:tcPr>
                </a:tc>
                <a:tc>
                  <a:txBody>
                    <a:bodyPr wrap="square"/>
                    <a:lstStyle/>
                    <a:p>
                      <a:pPr algn="ctr">
                        <a:lnSpc>
                          <a:spcPct val="103000"/>
                        </a:lnSpc>
                      </a:pPr>
                      <a:r>
                        <a:rPr sz="730" b="0">
                          <a:solidFill>
                            <a:srgbClr val="121C2D"/>
                          </a:solidFill>
                          <a:latin typeface="Arial"/>
                        </a:rPr>
                        <a:t>iThethao TV tung tin Tỷ phú USD</a:t>
                      </a:r>
                    </a:p>
                  </a:txBody>
                  <a:tcPr anchor="ctr" marL="27432" marR="27432" marT="13716" marB="13716">
                    <a:solidFill>
                      <a:srgbClr val="FFF6E8"/>
                    </a:solidFill>
                  </a:tcPr>
                </a:tc>
                <a:tc>
                  <a:txBody>
                    <a:bodyPr wrap="square"/>
                    <a:lstStyle/>
                    <a:p>
                      <a:pPr algn="ctr">
                        <a:lnSpc>
                          <a:spcPct val="103000"/>
                        </a:lnSpc>
                      </a:pPr>
                      <a:r>
                        <a:rPr sz="730" b="0">
                          <a:solidFill>
                            <a:srgbClr val="121C2D"/>
                          </a:solidFill>
                          <a:latin typeface="Arial"/>
                        </a:rPr>
                        <a:t>Cụm Phấn Đấu rải 33 bài hội nhóm</a:t>
                      </a:r>
                    </a:p>
                  </a:txBody>
                  <a:tcPr anchor="ctr" marL="27432" marR="27432" marT="13716" marB="13716">
                    <a:solidFill>
                      <a:srgbClr val="FFF6E8"/>
                    </a:solidFill>
                  </a:tcPr>
                </a:tc>
                <a:tc>
                  <a:txBody>
                    <a:bodyPr wrap="square"/>
                    <a:lstStyle/>
                    <a:p>
                      <a:pPr algn="ctr">
                        <a:lnSpc>
                          <a:spcPct val="103000"/>
                        </a:lnSpc>
                      </a:pPr>
                      <a:r>
                        <a:rPr sz="730" b="0">
                          <a:solidFill>
                            <a:srgbClr val="121C2D"/>
                          </a:solidFill>
                          <a:latin typeface="Arial"/>
                        </a:rPr>
                        <a:t>Báo chí giải thích quy chế đề cử</a:t>
                      </a:r>
                    </a:p>
                  </a:txBody>
                  <a:tcPr anchor="ctr" marL="27432" marR="27432" marT="13716" marB="13716">
                    <a:solidFill>
                      <a:srgbClr val="FFF6E8"/>
                    </a:solidFill>
                  </a:tcPr>
                </a:tc>
                <a:tc>
                  <a:txBody>
                    <a:bodyPr wrap="square"/>
                    <a:lstStyle/>
                    <a:p>
                      <a:pPr algn="ctr">
                        <a:lnSpc>
                          <a:spcPct val="103000"/>
                        </a:lnSpc>
                      </a:pPr>
                      <a:r>
                        <a:rPr sz="730" b="0">
                          <a:solidFill>
                            <a:srgbClr val="121C2D"/>
                          </a:solidFill>
                          <a:latin typeface="Arial"/>
                        </a:rPr>
                        <a:t>Fanpage mổ xẻ bài học Madam Pang</a:t>
                      </a:r>
                    </a:p>
                  </a:txBody>
                  <a:tcPr anchor="ctr" marL="27432" marR="27432" marT="13716" marB="13716">
                    <a:solidFill>
                      <a:srgbClr val="FFF6E8"/>
                    </a:solidFill>
                  </a:tcPr>
                </a:tc>
                <a:tc>
                  <a:txBody>
                    <a:bodyPr wrap="square"/>
                    <a:lstStyle/>
                    <a:p>
                      <a:pPr algn="ctr">
                        <a:lnSpc>
                          <a:spcPct val="103000"/>
                        </a:lnSpc>
                      </a:pPr>
                      <a:r>
                        <a:rPr sz="730" b="0">
                          <a:solidFill>
                            <a:srgbClr val="121C2D"/>
                          </a:solidFill>
                          <a:latin typeface="Arial"/>
                        </a:rPr>
                        <a:t>Dư luận nghiêng về ổn định thể chế</a:t>
                      </a:r>
                    </a:p>
                  </a:txBody>
                  <a:tcPr anchor="ctr" marL="27432" marR="27432" marT="13716" marB="13716">
                    <a:solidFill>
                      <a:srgbClr val="FFF6E8"/>
                    </a:solidFill>
                  </a:tcPr>
                </a:tc>
                <a:tc>
                  <a:txBody>
                    <a:bodyPr wrap="square"/>
                    <a:lstStyle/>
                    <a:p>
                      <a:pPr algn="ctr">
                        <a:lnSpc>
                          <a:spcPct val="103000"/>
                        </a:lnSpc>
                      </a:pPr>
                      <a:r>
                        <a:rPr sz="730" b="0">
                          <a:solidFill>
                            <a:srgbClr val="121C2D"/>
                          </a:solidFill>
                          <a:latin typeface="Arial"/>
                        </a:rPr>
                        <a:t>Chốt 3 ứng viên: Tuấn, Thụy, Vũ</a:t>
                      </a:r>
                    </a:p>
                  </a:txBody>
                  <a:tcPr anchor="ctr" marL="27432" marR="27432" marT="13716" marB="13716">
                    <a:solidFill>
                      <a:srgbClr val="FFF6E8"/>
                    </a:solidFill>
                  </a:tcPr>
                </a:tc>
                <a:tc>
                  <a:txBody>
                    <a:bodyPr wrap="square"/>
                    <a:lstStyle/>
                    <a:p>
                      <a:pPr algn="ctr">
                        <a:lnSpc>
                          <a:spcPct val="103000"/>
                        </a:lnSpc>
                      </a:pPr>
                      <a:r>
                        <a:rPr sz="730" b="0">
                          <a:solidFill>
                            <a:srgbClr val="121C2D"/>
                          </a:solidFill>
                          <a:latin typeface="Arial"/>
                        </a:rPr>
                        <a:t>Báo Kinh tế đưa tin &gt;40/57 đề cử vs AFC</a:t>
                      </a:r>
                    </a:p>
                  </a:txBody>
                  <a:tcPr anchor="ctr" marL="27432" marR="27432" marT="13716" marB="13716">
                    <a:solidFill>
                      <a:srgbClr val="FFF6E8"/>
                    </a:solidFill>
                  </a:tcPr>
                </a:tc>
                <a:tc>
                  <a:txBody>
                    <a:bodyPr wrap="square"/>
                    <a:lstStyle/>
                    <a:p>
                      <a:pPr algn="ctr">
                        <a:lnSpc>
                          <a:spcPct val="103000"/>
                        </a:lnSpc>
                      </a:pPr>
                      <a:r>
                        <a:rPr sz="730" b="0">
                          <a:solidFill>
                            <a:srgbClr val="121C2D"/>
                          </a:solidFill>
                          <a:latin typeface="Arial"/>
                        </a:rPr>
                        <a:t>Vlog Minh Hải đăng nội dung tranh cử</a:t>
                      </a:r>
                    </a:p>
                  </a:txBody>
                  <a:tcPr anchor="ctr" marL="27432" marR="27432" marT="13716" marB="13716">
                    <a:solidFill>
                      <a:srgbClr val="FFF6E8"/>
                    </a:solidFill>
                  </a:tcPr>
                </a:tc>
                <a:tc>
                  <a:txBody>
                    <a:bodyPr wrap="square"/>
                    <a:lstStyle/>
                    <a:p>
                      <a:pPr algn="ctr">
                        <a:lnSpc>
                          <a:spcPct val="103000"/>
                        </a:lnSpc>
                      </a:pPr>
                      <a:r>
                        <a:rPr sz="730" b="0">
                          <a:solidFill>
                            <a:srgbClr val="121C2D"/>
                          </a:solidFill>
                          <a:latin typeface="Arial"/>
                        </a:rPr>
                        <a:t>Bầu Thụy hứa huy động 600-1000 tỷ</a:t>
                      </a:r>
                    </a:p>
                  </a:txBody>
                  <a:tcPr anchor="ctr" marL="27432" marR="27432" marT="13716" marB="13716">
                    <a:solidFill>
                      <a:srgbClr val="FFF6E8"/>
                    </a:solidFill>
                  </a:tcPr>
                </a:tc>
                <a:tc>
                  <a:txBody>
                    <a:bodyPr wrap="square"/>
                    <a:lstStyle/>
                    <a:p>
                      <a:pPr algn="ctr">
                        <a:lnSpc>
                          <a:spcPct val="103000"/>
                        </a:lnSpc>
                      </a:pPr>
                      <a:r>
                        <a:rPr sz="730" b="1">
                          <a:solidFill>
                            <a:srgbClr val="0B1528"/>
                          </a:solidFill>
                          <a:latin typeface="Arial"/>
                        </a:rPr>
                        <a:t>Đại hội dự kiến</a:t>
                      </a:r>
                    </a:p>
                    <a:p>
                      <a:pPr algn="ctr">
                        <a:lnSpc>
                          <a:spcPct val="103000"/>
                        </a:lnSpc>
                      </a:pPr>
                      <a:r>
                        <a:rPr sz="730" b="1">
                          <a:solidFill>
                            <a:srgbClr val="0B1528"/>
                          </a:solidFill>
                          <a:latin typeface="Arial"/>
                        </a:rPr>
                        <a:t>04/01/2027</a:t>
                      </a:r>
                    </a:p>
                  </a:txBody>
                  <a:tcPr anchor="ctr" marL="27432" marR="27432" marT="13716" marB="13716">
                    <a:solidFill>
                      <a:srgbClr val="FFF6E8"/>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6FA"/>
        </a:solidFill>
        <a:effectLst/>
      </p:bgPr>
    </p:bg>
    <p:spTree>
      <p:nvGrpSpPr>
        <p:cNvPr id="1" name=""/>
        <p:cNvGrpSpPr/>
        <p:nvPr/>
      </p:nvGrpSpPr>
      <p:grpSpPr/>
      <p:sp>
        <p:nvSpPr>
          <p:cNvPr id="2" name="Rectangle 1"/>
          <p:cNvSpPr/>
          <p:nvPr/>
        </p:nvSpPr>
        <p:spPr>
          <a:xfrm>
            <a:off x="0" y="0"/>
            <a:ext cx="4059936" cy="54864"/>
          </a:xfrm>
          <a:prstGeom prst="rect">
            <a:avLst/>
          </a:prstGeom>
          <a:solidFill>
            <a:srgbClr val="1560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059936" y="0"/>
            <a:ext cx="4069080" cy="54864"/>
          </a:xfrm>
          <a:prstGeom prst="rect">
            <a:avLst/>
          </a:prstGeom>
          <a:solidFill>
            <a:srgbClr val="F5B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129016" y="0"/>
            <a:ext cx="4059936" cy="54864"/>
          </a:xfrm>
          <a:prstGeom prst="rect">
            <a:avLst/>
          </a:prstGeom>
          <a:solidFill>
            <a:srgbClr val="D627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54864"/>
            <a:ext cx="12191695" cy="786384"/>
          </a:xfrm>
          <a:prstGeom prst="rect">
            <a:avLst/>
          </a:prstGeom>
          <a:solidFill>
            <a:srgbClr val="0B15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01168" y="128016"/>
            <a:ext cx="2029968" cy="274320"/>
          </a:xfrm>
          <a:prstGeom prst="rect">
            <a:avLst/>
          </a:prstGeom>
          <a:solidFill>
            <a:srgbClr val="1560D4"/>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860" b="1">
                <a:solidFill>
                  <a:srgbClr val="F5B400"/>
                </a:solidFill>
                <a:latin typeface="Arial"/>
              </a:rPr>
              <a:t>US ELECTION WAR-ROOM • SLIDE 3</a:t>
            </a:r>
          </a:p>
        </p:txBody>
      </p:sp>
      <p:sp>
        <p:nvSpPr>
          <p:cNvPr id="7" name="TextBox 6"/>
          <p:cNvSpPr txBox="1"/>
          <p:nvPr/>
        </p:nvSpPr>
        <p:spPr>
          <a:xfrm>
            <a:off x="2286000" y="109728"/>
            <a:ext cx="9738360" cy="310896"/>
          </a:xfrm>
          <a:prstGeom prst="rect">
            <a:avLst/>
          </a:prstGeom>
          <a:noFill/>
        </p:spPr>
        <p:txBody>
          <a:bodyPr wrap="square" anchor="ctr" lIns="45720" rIns="45720" tIns="27432" bIns="27432">
            <a:spAutoFit/>
          </a:bodyPr>
          <a:lstStyle/>
          <a:p>
            <a:pPr algn="l">
              <a:lnSpc>
                <a:spcPct val="112000"/>
              </a:lnSpc>
            </a:pPr>
            <a:r>
              <a:rPr sz="1300" b="1">
                <a:solidFill>
                  <a:srgbClr val="FFFFFF"/>
                </a:solidFill>
                <a:latin typeface="Arial"/>
              </a:rPr>
              <a:t>CHỈ SỐ CẢM XÚC ỦNG HỘ &amp; PHẢN ĐỐI ĐI THEO THỜI GIAN THẾ NÀO? (01/10 – 22/10/2026)</a:t>
            </a:r>
          </a:p>
        </p:txBody>
      </p:sp>
      <p:sp>
        <p:nvSpPr>
          <p:cNvPr id="8" name="TextBox 7"/>
          <p:cNvSpPr txBox="1"/>
          <p:nvPr/>
        </p:nvSpPr>
        <p:spPr>
          <a:xfrm>
            <a:off x="201168" y="475488"/>
            <a:ext cx="11795760" cy="292608"/>
          </a:xfrm>
          <a:prstGeom prst="rect">
            <a:avLst/>
          </a:prstGeom>
          <a:noFill/>
        </p:spPr>
        <p:txBody>
          <a:bodyPr wrap="square" anchor="ctr" lIns="45720" rIns="45720" tIns="27432" bIns="27432">
            <a:spAutoFit/>
          </a:bodyPr>
          <a:lstStyle/>
          <a:p>
            <a:pPr algn="l">
              <a:lnSpc>
                <a:spcPct val="112000"/>
              </a:lnSpc>
            </a:pPr>
            <a:r>
              <a:rPr sz="960" b="0">
                <a:solidFill>
                  <a:srgbClr val="C8D4E6"/>
                </a:solidFill>
                <a:latin typeface="Arial"/>
              </a:rPr>
              <a:t>Cập nhật toàn bộ 14.469 bình luận thu thập (10.514 bình luận trong Tháng 10 • 1.414 bình luận bày tỏ lập trường bầu cử trực diện): Bóc tách chính xác số bình luận phản đối của từng ứng viên</a:t>
            </a:r>
          </a:p>
        </p:txBody>
      </p:sp>
      <p:pic>
        <p:nvPicPr>
          <p:cNvPr id="9" name="Picture 8" descr="warroom_s4_sentiment_2210.png"/>
          <p:cNvPicPr>
            <a:picLocks noChangeAspect="1"/>
          </p:cNvPicPr>
          <p:nvPr/>
        </p:nvPicPr>
        <p:blipFill>
          <a:blip r:embed="rId2"/>
          <a:stretch>
            <a:fillRect/>
          </a:stretch>
        </p:blipFill>
        <p:spPr>
          <a:xfrm>
            <a:off x="201168" y="896112"/>
            <a:ext cx="11786616" cy="3268944"/>
          </a:xfrm>
          <a:prstGeom prst="rect">
            <a:avLst/>
          </a:prstGeom>
        </p:spPr>
      </p:pic>
      <p:sp>
        <p:nvSpPr>
          <p:cNvPr id="10" name="TextBox 9"/>
          <p:cNvSpPr txBox="1"/>
          <p:nvPr/>
        </p:nvSpPr>
        <p:spPr>
          <a:xfrm>
            <a:off x="201168" y="4206240"/>
            <a:ext cx="11786616" cy="219456"/>
          </a:xfrm>
          <a:prstGeom prst="rect">
            <a:avLst/>
          </a:prstGeom>
          <a:noFill/>
        </p:spPr>
        <p:txBody>
          <a:bodyPr wrap="square" anchor="t" lIns="45720" rIns="45720" tIns="27432" bIns="27432">
            <a:spAutoFit/>
          </a:bodyPr>
          <a:lstStyle/>
          <a:p>
            <a:pPr algn="l">
              <a:lnSpc>
                <a:spcPct val="112000"/>
              </a:lnSpc>
            </a:pPr>
            <a:r>
              <a:rPr sz="980" b="1">
                <a:solidFill>
                  <a:srgbClr val="0B1528"/>
                </a:solidFill>
                <a:latin typeface="Arial"/>
              </a:rPr>
              <a:t>BẢNG ĐỐI CHIẾU CẢM XÚC TÍCH CỰC (ỦNG HỘ) vs. TIÊU CỰC (PHẢN ĐỐI) THEO TỪNG TẦNG DƯ LUẬN (01/10 – 22/10/2026)</a:t>
            </a:r>
          </a:p>
        </p:txBody>
      </p:sp>
      <p:graphicFrame>
        <p:nvGraphicFramePr>
          <p:cNvPr id="11" name="Table 10"/>
          <p:cNvGraphicFramePr>
            <a:graphicFrameLocks noGrp="1"/>
          </p:cNvGraphicFramePr>
          <p:nvPr/>
        </p:nvGraphicFramePr>
        <p:xfrm>
          <a:off x="201168" y="4443984"/>
          <a:ext cx="11786616" cy="2212848"/>
        </p:xfrm>
        <a:graphic>
          <a:graphicData uri="http://schemas.openxmlformats.org/drawingml/2006/table">
            <a:tbl>
              <a:tblPr firstRow="1" bandRow="1">
                <a:tableStyleId>{5C22544A-7EE6-4342-B048-85BDC9FD1C3A}</a:tableStyleId>
              </a:tblPr>
              <a:tblGrid>
                <a:gridCol w="2057400"/>
                <a:gridCol w="1143000"/>
                <a:gridCol w="1234440"/>
                <a:gridCol w="1234440"/>
                <a:gridCol w="1234440"/>
                <a:gridCol w="1234440"/>
                <a:gridCol w="1234440"/>
                <a:gridCol w="1051560"/>
                <a:gridCol w="1362456"/>
              </a:tblGrid>
              <a:tr h="442569">
                <a:tc>
                  <a:txBody>
                    <a:bodyPr wrap="square"/>
                    <a:lstStyle/>
                    <a:p>
                      <a:pPr algn="ctr">
                        <a:lnSpc>
                          <a:spcPct val="103000"/>
                        </a:lnSpc>
                      </a:pPr>
                      <a:r>
                        <a:rPr sz="780" b="1">
                          <a:solidFill>
                            <a:srgbClr val="FFFFFF"/>
                          </a:solidFill>
                          <a:latin typeface="Arial"/>
                        </a:rPr>
                        <a:t>Ứng viên / Nhóm đối tượng</a:t>
                      </a:r>
                    </a:p>
                  </a:txBody>
                  <a:tcPr anchor="ctr" marL="36576" marR="36576" marT="13716" marB="13716">
                    <a:solidFill>
                      <a:srgbClr val="0B1528"/>
                    </a:solidFill>
                  </a:tcPr>
                </a:tc>
                <a:tc>
                  <a:txBody>
                    <a:bodyPr wrap="square"/>
                    <a:lstStyle/>
                    <a:p>
                      <a:pPr algn="ctr">
                        <a:lnSpc>
                          <a:spcPct val="103000"/>
                        </a:lnSpc>
                      </a:pPr>
                      <a:r>
                        <a:rPr sz="780" b="1">
                          <a:solidFill>
                            <a:srgbClr val="FFFFFF"/>
                          </a:solidFill>
                          <a:latin typeface="Arial"/>
                        </a:rPr>
                        <a:t>Bài Báo &amp; MXH</a:t>
                      </a:r>
                    </a:p>
                    <a:p>
                      <a:pPr algn="ctr">
                        <a:lnSpc>
                          <a:spcPct val="103000"/>
                        </a:lnSpc>
                      </a:pPr>
                      <a:r>
                        <a:rPr sz="780" b="1">
                          <a:solidFill>
                            <a:srgbClr val="FFFFFF"/>
                          </a:solidFill>
                          <a:latin typeface="Arial"/>
                        </a:rPr>
                        <a:t>Ủng hộ (+)</a:t>
                      </a:r>
                    </a:p>
                  </a:txBody>
                  <a:tcPr anchor="ctr" marL="36576" marR="36576" marT="13716" marB="13716">
                    <a:solidFill>
                      <a:srgbClr val="0B1528"/>
                    </a:solidFill>
                  </a:tcPr>
                </a:tc>
                <a:tc>
                  <a:txBody>
                    <a:bodyPr wrap="square"/>
                    <a:lstStyle/>
                    <a:p>
                      <a:pPr algn="ctr">
                        <a:lnSpc>
                          <a:spcPct val="103000"/>
                        </a:lnSpc>
                      </a:pPr>
                      <a:r>
                        <a:rPr sz="780" b="1">
                          <a:solidFill>
                            <a:srgbClr val="FFFFFF"/>
                          </a:solidFill>
                          <a:latin typeface="Arial"/>
                        </a:rPr>
                        <a:t>Bài Báo &amp; MXH</a:t>
                      </a:r>
                    </a:p>
                    <a:p>
                      <a:pPr algn="ctr">
                        <a:lnSpc>
                          <a:spcPct val="103000"/>
                        </a:lnSpc>
                      </a:pPr>
                      <a:r>
                        <a:rPr sz="780" b="1">
                          <a:solidFill>
                            <a:srgbClr val="FFFFFF"/>
                          </a:solidFill>
                          <a:latin typeface="Arial"/>
                        </a:rPr>
                        <a:t>Phản biện (-)</a:t>
                      </a:r>
                    </a:p>
                  </a:txBody>
                  <a:tcPr anchor="ctr" marL="36576" marR="36576" marT="13716" marB="13716">
                    <a:solidFill>
                      <a:srgbClr val="0B1528"/>
                    </a:solidFill>
                  </a:tcPr>
                </a:tc>
                <a:tc>
                  <a:txBody>
                    <a:bodyPr wrap="square"/>
                    <a:lstStyle/>
                    <a:p>
                      <a:pPr algn="ctr">
                        <a:lnSpc>
                          <a:spcPct val="103000"/>
                        </a:lnSpc>
                      </a:pPr>
                      <a:r>
                        <a:rPr sz="780" b="1">
                          <a:solidFill>
                            <a:srgbClr val="FFFFFF"/>
                          </a:solidFill>
                          <a:latin typeface="Arial"/>
                        </a:rPr>
                        <a:t>Bình Luận Bầu</a:t>
                      </a:r>
                    </a:p>
                    <a:p>
                      <a:pPr algn="ctr">
                        <a:lnSpc>
                          <a:spcPct val="103000"/>
                        </a:lnSpc>
                      </a:pPr>
                      <a:r>
                        <a:rPr sz="780" b="1">
                          <a:solidFill>
                            <a:srgbClr val="FFFFFF"/>
                          </a:solidFill>
                          <a:latin typeface="Arial"/>
                        </a:rPr>
                        <a:t>Thẳng CT (+)</a:t>
                      </a:r>
                    </a:p>
                  </a:txBody>
                  <a:tcPr anchor="ctr" marL="36576" marR="36576" marT="13716" marB="13716">
                    <a:solidFill>
                      <a:srgbClr val="0B1528"/>
                    </a:solidFill>
                  </a:tcPr>
                </a:tc>
                <a:tc>
                  <a:txBody>
                    <a:bodyPr wrap="square"/>
                    <a:lstStyle/>
                    <a:p>
                      <a:pPr algn="ctr">
                        <a:lnSpc>
                          <a:spcPct val="103000"/>
                        </a:lnSpc>
                      </a:pPr>
                      <a:r>
                        <a:rPr sz="780" b="1">
                          <a:solidFill>
                            <a:srgbClr val="FFFFFF"/>
                          </a:solidFill>
                          <a:latin typeface="Arial"/>
                        </a:rPr>
                        <a:t>Bình Luận Liên Danh</a:t>
                      </a:r>
                    </a:p>
                    <a:p>
                      <a:pPr algn="ctr">
                        <a:lnSpc>
                          <a:spcPct val="103000"/>
                        </a:lnSpc>
                      </a:pPr>
                      <a:r>
                        <a:rPr sz="780" b="1">
                          <a:solidFill>
                            <a:srgbClr val="FFFFFF"/>
                          </a:solidFill>
                          <a:latin typeface="Arial"/>
                        </a:rPr>
                        <a:t>Chọn Làm CT (+)</a:t>
                      </a:r>
                    </a:p>
                  </a:txBody>
                  <a:tcPr anchor="ctr" marL="36576" marR="36576" marT="13716" marB="13716">
                    <a:solidFill>
                      <a:srgbClr val="0B1528"/>
                    </a:solidFill>
                  </a:tcPr>
                </a:tc>
                <a:tc>
                  <a:txBody>
                    <a:bodyPr wrap="square"/>
                    <a:lstStyle/>
                    <a:p>
                      <a:pPr algn="ctr">
                        <a:lnSpc>
                          <a:spcPct val="103000"/>
                        </a:lnSpc>
                      </a:pPr>
                      <a:r>
                        <a:rPr sz="780" b="1">
                          <a:solidFill>
                            <a:srgbClr val="FFFFFF"/>
                          </a:solidFill>
                          <a:latin typeface="Arial"/>
                        </a:rPr>
                        <a:t>Bình Luận Phản Đối</a:t>
                      </a:r>
                    </a:p>
                    <a:p>
                      <a:pPr algn="ctr">
                        <a:lnSpc>
                          <a:spcPct val="103000"/>
                        </a:lnSpc>
                      </a:pPr>
                      <a:r>
                        <a:rPr sz="780" b="1">
                          <a:solidFill>
                            <a:srgbClr val="FFFFFF"/>
                          </a:solidFill>
                          <a:latin typeface="Arial"/>
                        </a:rPr>
                        <a:t>Trực Diện (-)</a:t>
                      </a:r>
                    </a:p>
                  </a:txBody>
                  <a:tcPr anchor="ctr" marL="36576" marR="36576" marT="13716" marB="13716">
                    <a:solidFill>
                      <a:srgbClr val="0B1528"/>
                    </a:solidFill>
                  </a:tcPr>
                </a:tc>
                <a:tc>
                  <a:txBody>
                    <a:bodyPr wrap="square"/>
                    <a:lstStyle/>
                    <a:p>
                      <a:pPr algn="ctr">
                        <a:lnSpc>
                          <a:spcPct val="103000"/>
                        </a:lnSpc>
                      </a:pPr>
                      <a:r>
                        <a:rPr sz="780" b="1">
                          <a:solidFill>
                            <a:srgbClr val="FFFFFF"/>
                          </a:solidFill>
                          <a:latin typeface="Arial"/>
                        </a:rPr>
                        <a:t>Bình Luận Phản Đối</a:t>
                      </a:r>
                    </a:p>
                    <a:p>
                      <a:pPr algn="ctr">
                        <a:lnSpc>
                          <a:spcPct val="103000"/>
                        </a:lnSpc>
                      </a:pPr>
                      <a:r>
                        <a:rPr sz="780" b="1">
                          <a:solidFill>
                            <a:srgbClr val="FFFFFF"/>
                          </a:solidFill>
                          <a:latin typeface="Arial"/>
                        </a:rPr>
                        <a:t>Cả Hai / Đề Cử Khác (-)</a:t>
                      </a:r>
                    </a:p>
                  </a:txBody>
                  <a:tcPr anchor="ctr" marL="36576" marR="36576" marT="13716" marB="13716">
                    <a:solidFill>
                      <a:srgbClr val="0B1528"/>
                    </a:solidFill>
                  </a:tcPr>
                </a:tc>
                <a:tc>
                  <a:txBody>
                    <a:bodyPr wrap="square"/>
                    <a:lstStyle/>
                    <a:p>
                      <a:pPr algn="ctr">
                        <a:lnSpc>
                          <a:spcPct val="103000"/>
                        </a:lnSpc>
                      </a:pPr>
                      <a:r>
                        <a:rPr sz="780" b="1">
                          <a:solidFill>
                            <a:srgbClr val="FFFFFF"/>
                          </a:solidFill>
                          <a:latin typeface="Arial"/>
                        </a:rPr>
                        <a:t>Tín Nhiệm Ròng</a:t>
                      </a:r>
                    </a:p>
                    <a:p>
                      <a:pPr algn="ctr">
                        <a:lnSpc>
                          <a:spcPct val="103000"/>
                        </a:lnSpc>
                      </a:pPr>
                      <a:r>
                        <a:rPr sz="780" b="1">
                          <a:solidFill>
                            <a:srgbClr val="FFFFFF"/>
                          </a:solidFill>
                          <a:latin typeface="Arial"/>
                        </a:rPr>
                        <a:t>(Net Score)</a:t>
                      </a:r>
                    </a:p>
                  </a:txBody>
                  <a:tcPr anchor="ctr" marL="36576" marR="36576" marT="13716" marB="13716">
                    <a:solidFill>
                      <a:srgbClr val="0B1528"/>
                    </a:solidFill>
                  </a:tcPr>
                </a:tc>
                <a:tc>
                  <a:txBody>
                    <a:bodyPr wrap="square"/>
                    <a:lstStyle/>
                    <a:p>
                      <a:pPr algn="ctr">
                        <a:lnSpc>
                          <a:spcPct val="103000"/>
                        </a:lnSpc>
                      </a:pPr>
                      <a:r>
                        <a:rPr sz="780" b="1">
                          <a:solidFill>
                            <a:srgbClr val="FFFFFF"/>
                          </a:solidFill>
                          <a:latin typeface="Arial"/>
                        </a:rPr>
                        <a:t>Chỉ Số Cảm Xúc</a:t>
                      </a:r>
                    </a:p>
                    <a:p>
                      <a:pPr algn="ctr">
                        <a:lnSpc>
                          <a:spcPct val="103000"/>
                        </a:lnSpc>
                      </a:pPr>
                      <a:r>
                        <a:rPr sz="780" b="1">
                          <a:solidFill>
                            <a:srgbClr val="FFFFFF"/>
                          </a:solidFill>
                          <a:latin typeface="Arial"/>
                        </a:rPr>
                        <a:t>NSI Toàn Diện</a:t>
                      </a:r>
                    </a:p>
                  </a:txBody>
                  <a:tcPr anchor="ctr" marL="36576" marR="36576" marT="13716" marB="13716">
                    <a:solidFill>
                      <a:srgbClr val="0B1528"/>
                    </a:solidFill>
                  </a:tcPr>
                </a:tc>
              </a:tr>
              <a:tr h="442569">
                <a:tc>
                  <a:txBody>
                    <a:bodyPr wrap="square"/>
                    <a:lstStyle/>
                    <a:p>
                      <a:pPr algn="l">
                        <a:lnSpc>
                          <a:spcPct val="103000"/>
                        </a:lnSpc>
                      </a:pPr>
                      <a:r>
                        <a:rPr sz="760" b="1">
                          <a:solidFill>
                            <a:srgbClr val="1560D4"/>
                          </a:solidFill>
                          <a:latin typeface="Arial"/>
                        </a:rPr>
                        <a:t>1. TS. Trần Quốc Tuấn</a:t>
                      </a:r>
                    </a:p>
                    <a:p>
                      <a:pPr algn="l">
                        <a:lnSpc>
                          <a:spcPct val="103000"/>
                        </a:lnSpc>
                      </a:pPr>
                      <a:r>
                        <a:rPr sz="760" b="1">
                          <a:solidFill>
                            <a:srgbClr val="1560D4"/>
                          </a:solidFill>
                          <a:latin typeface="Arial"/>
                        </a:rPr>
                        <a:t>(Chủ tịch VFF đương nhiệm)</a:t>
                      </a:r>
                    </a:p>
                  </a:txBody>
                  <a:tcPr anchor="ctr" marL="36576" marR="36576" marT="13716" marB="13716">
                    <a:solidFill>
                      <a:srgbClr val="EBF3FF"/>
                    </a:solidFill>
                  </a:tcPr>
                </a:tc>
                <a:tc>
                  <a:txBody>
                    <a:bodyPr wrap="square"/>
                    <a:lstStyle/>
                    <a:p>
                      <a:pPr algn="ctr">
                        <a:lnSpc>
                          <a:spcPct val="103000"/>
                        </a:lnSpc>
                      </a:pPr>
                      <a:r>
                        <a:rPr sz="760" b="0">
                          <a:solidFill>
                            <a:srgbClr val="121C2D"/>
                          </a:solidFill>
                          <a:latin typeface="Arial"/>
                        </a:rPr>
                        <a:t>+433 bài/video</a:t>
                      </a:r>
                    </a:p>
                    <a:p>
                      <a:pPr algn="ctr">
                        <a:lnSpc>
                          <a:spcPct val="103000"/>
                        </a:lnSpc>
                      </a:pPr>
                      <a:r>
                        <a:rPr sz="760" b="0">
                          <a:solidFill>
                            <a:srgbClr val="121C2D"/>
                          </a:solidFill>
                          <a:latin typeface="Arial"/>
                        </a:rPr>
                        <a:t>(35 Báo + 398 MXH)</a:t>
                      </a:r>
                    </a:p>
                  </a:txBody>
                  <a:tcPr anchor="ctr" marL="36576" marR="36576" marT="13716" marB="13716">
                    <a:solidFill>
                      <a:srgbClr val="EBF3FF"/>
                    </a:solidFill>
                  </a:tcPr>
                </a:tc>
                <a:tc>
                  <a:txBody>
                    <a:bodyPr wrap="square"/>
                    <a:lstStyle/>
                    <a:p>
                      <a:pPr algn="ctr">
                        <a:lnSpc>
                          <a:spcPct val="103000"/>
                        </a:lnSpc>
                      </a:pPr>
                      <a:r>
                        <a:rPr sz="760" b="0">
                          <a:solidFill>
                            <a:srgbClr val="121C2D"/>
                          </a:solidFill>
                          <a:latin typeface="Arial"/>
                        </a:rPr>
                        <a:t>-12 bài/video</a:t>
                      </a:r>
                    </a:p>
                    <a:p>
                      <a:pPr algn="ctr">
                        <a:lnSpc>
                          <a:spcPct val="103000"/>
                        </a:lnSpc>
                      </a:pPr>
                      <a:r>
                        <a:rPr sz="760" b="0">
                          <a:solidFill>
                            <a:srgbClr val="121C2D"/>
                          </a:solidFill>
                          <a:latin typeface="Arial"/>
                        </a:rPr>
                        <a:t>(Tranh cãi nhập tịch)</a:t>
                      </a:r>
                    </a:p>
                  </a:txBody>
                  <a:tcPr anchor="ctr" marL="36576" marR="36576" marT="13716" marB="13716">
                    <a:solidFill>
                      <a:srgbClr val="EBF3FF"/>
                    </a:solidFill>
                  </a:tcPr>
                </a:tc>
                <a:tc>
                  <a:txBody>
                    <a:bodyPr wrap="square"/>
                    <a:lstStyle/>
                    <a:p>
                      <a:pPr algn="ctr">
                        <a:lnSpc>
                          <a:spcPct val="103000"/>
                        </a:lnSpc>
                      </a:pPr>
                      <a:r>
                        <a:rPr sz="760" b="0">
                          <a:solidFill>
                            <a:srgbClr val="121C2D"/>
                          </a:solidFill>
                          <a:latin typeface="Arial"/>
                        </a:rPr>
                        <a:t>+465 phiếu</a:t>
                      </a:r>
                    </a:p>
                    <a:p>
                      <a:pPr algn="ctr">
                        <a:lnSpc>
                          <a:spcPct val="103000"/>
                        </a:lnSpc>
                      </a:pPr>
                      <a:r>
                        <a:rPr sz="760" b="0">
                          <a:solidFill>
                            <a:srgbClr val="121C2D"/>
                          </a:solidFill>
                          <a:latin typeface="Arial"/>
                        </a:rPr>
                        <a:t>(FB 401 · YT 59 · TT 5)</a:t>
                      </a:r>
                    </a:p>
                  </a:txBody>
                  <a:tcPr anchor="ctr" marL="36576" marR="36576" marT="13716" marB="13716">
                    <a:solidFill>
                      <a:srgbClr val="EBF3FF"/>
                    </a:solidFill>
                  </a:tcPr>
                </a:tc>
                <a:tc>
                  <a:txBody>
                    <a:bodyPr wrap="square"/>
                    <a:lstStyle/>
                    <a:p>
                      <a:pPr algn="ctr">
                        <a:lnSpc>
                          <a:spcPct val="103000"/>
                        </a:lnSpc>
                      </a:pPr>
                      <a:r>
                        <a:rPr sz="760" b="0">
                          <a:solidFill>
                            <a:srgbClr val="121C2D"/>
                          </a:solidFill>
                          <a:latin typeface="Arial"/>
                        </a:rPr>
                        <a:t>+121 phiếu</a:t>
                      </a:r>
                    </a:p>
                    <a:p>
                      <a:pPr algn="ctr">
                        <a:lnSpc>
                          <a:spcPct val="103000"/>
                        </a:lnSpc>
                      </a:pPr>
                      <a:r>
                        <a:rPr sz="760" b="0">
                          <a:solidFill>
                            <a:srgbClr val="121C2D"/>
                          </a:solidFill>
                          <a:latin typeface="Arial"/>
                        </a:rPr>
                        <a:t>(LD1: Tuấn CT + Thụy Phó)</a:t>
                      </a:r>
                    </a:p>
                  </a:txBody>
                  <a:tcPr anchor="ctr" marL="36576" marR="36576" marT="13716" marB="13716">
                    <a:solidFill>
                      <a:srgbClr val="EBF3FF"/>
                    </a:solidFill>
                  </a:tcPr>
                </a:tc>
                <a:tc>
                  <a:txBody>
                    <a:bodyPr wrap="square"/>
                    <a:lstStyle/>
                    <a:p>
                      <a:pPr algn="ctr">
                        <a:lnSpc>
                          <a:spcPct val="103000"/>
                        </a:lnSpc>
                      </a:pPr>
                      <a:r>
                        <a:rPr sz="760" b="1">
                          <a:solidFill>
                            <a:srgbClr val="121C2D"/>
                          </a:solidFill>
                          <a:latin typeface="Arial"/>
                        </a:rPr>
                        <a:t>-112 bình luận</a:t>
                      </a:r>
                    </a:p>
                    <a:p>
                      <a:pPr algn="ctr">
                        <a:lnSpc>
                          <a:spcPct val="103000"/>
                        </a:lnSpc>
                      </a:pPr>
                      <a:r>
                        <a:rPr sz="760" b="1">
                          <a:solidFill>
                            <a:srgbClr val="121C2D"/>
                          </a:solidFill>
                          <a:latin typeface="Arial"/>
                        </a:rPr>
                        <a:t>(Làm lâu, đòi đổi mới)</a:t>
                      </a:r>
                    </a:p>
                  </a:txBody>
                  <a:tcPr anchor="ctr" marL="36576" marR="36576" marT="13716" marB="13716">
                    <a:solidFill>
                      <a:srgbClr val="EBF3FF"/>
                    </a:solidFill>
                  </a:tcPr>
                </a:tc>
                <a:tc>
                  <a:txBody>
                    <a:bodyPr wrap="square"/>
                    <a:lstStyle/>
                    <a:p>
                      <a:pPr algn="ctr">
                        <a:lnSpc>
                          <a:spcPct val="103000"/>
                        </a:lnSpc>
                      </a:pPr>
                      <a:r>
                        <a:rPr sz="760" b="0">
                          <a:solidFill>
                            <a:srgbClr val="121C2D"/>
                          </a:solidFill>
                          <a:latin typeface="Arial"/>
                        </a:rPr>
                        <a:t>-101 bình luận</a:t>
                      </a:r>
                    </a:p>
                    <a:p>
                      <a:pPr algn="ctr">
                        <a:lnSpc>
                          <a:spcPct val="103000"/>
                        </a:lnSpc>
                      </a:pPr>
                      <a:r>
                        <a:rPr sz="760" b="0">
                          <a:solidFill>
                            <a:srgbClr val="121C2D"/>
                          </a:solidFill>
                          <a:latin typeface="Arial"/>
                        </a:rPr>
                        <a:t>(Phản đối cả 2 / Bầu Đức)</a:t>
                      </a:r>
                    </a:p>
                  </a:txBody>
                  <a:tcPr anchor="ctr" marL="36576" marR="36576" marT="13716" marB="13716">
                    <a:solidFill>
                      <a:srgbClr val="EBF3FF"/>
                    </a:solidFill>
                  </a:tcPr>
                </a:tc>
                <a:tc>
                  <a:txBody>
                    <a:bodyPr wrap="square"/>
                    <a:lstStyle/>
                    <a:p>
                      <a:pPr algn="ctr">
                        <a:lnSpc>
                          <a:spcPct val="103000"/>
                        </a:lnSpc>
                      </a:pPr>
                      <a:r>
                        <a:rPr sz="760" b="1">
                          <a:solidFill>
                            <a:srgbClr val="1560D4"/>
                          </a:solidFill>
                          <a:latin typeface="Arial"/>
                        </a:rPr>
                        <a:t>+794 gộp</a:t>
                      </a:r>
                    </a:p>
                    <a:p>
                      <a:pPr algn="ctr">
                        <a:lnSpc>
                          <a:spcPct val="103000"/>
                        </a:lnSpc>
                      </a:pPr>
                      <a:r>
                        <a:rPr sz="760" b="1">
                          <a:solidFill>
                            <a:srgbClr val="1560D4"/>
                          </a:solidFill>
                          <a:latin typeface="Arial"/>
                        </a:rPr>
                        <a:t>(+373 điểm BL)</a:t>
                      </a:r>
                    </a:p>
                  </a:txBody>
                  <a:tcPr anchor="ctr" marL="36576" marR="36576" marT="13716" marB="13716">
                    <a:solidFill>
                      <a:srgbClr val="EBF3FF"/>
                    </a:solidFill>
                  </a:tcPr>
                </a:tc>
                <a:tc>
                  <a:txBody>
                    <a:bodyPr wrap="square"/>
                    <a:lstStyle/>
                    <a:p>
                      <a:pPr algn="ctr">
                        <a:lnSpc>
                          <a:spcPct val="103000"/>
                        </a:lnSpc>
                      </a:pPr>
                      <a:r>
                        <a:rPr sz="760" b="1">
                          <a:solidFill>
                            <a:srgbClr val="1560D4"/>
                          </a:solidFill>
                          <a:latin typeface="Arial"/>
                        </a:rPr>
                        <a:t>+63,8% (Gộp)</a:t>
                      </a:r>
                    </a:p>
                    <a:p>
                      <a:pPr algn="ctr">
                        <a:lnSpc>
                          <a:spcPct val="103000"/>
                        </a:lnSpc>
                      </a:pPr>
                      <a:r>
                        <a:rPr sz="760" b="1">
                          <a:solidFill>
                            <a:srgbClr val="1560D4"/>
                          </a:solidFill>
                          <a:latin typeface="Arial"/>
                        </a:rPr>
                        <a:t>+46,7% (Bình luận)</a:t>
                      </a:r>
                    </a:p>
                  </a:txBody>
                  <a:tcPr anchor="ctr" marL="36576" marR="36576" marT="13716" marB="13716">
                    <a:solidFill>
                      <a:srgbClr val="EBF3FF"/>
                    </a:solidFill>
                  </a:tcPr>
                </a:tc>
              </a:tr>
              <a:tr h="442569">
                <a:tc>
                  <a:txBody>
                    <a:bodyPr wrap="square"/>
                    <a:lstStyle/>
                    <a:p>
                      <a:pPr algn="l">
                        <a:lnSpc>
                          <a:spcPct val="103000"/>
                        </a:lnSpc>
                      </a:pPr>
                      <a:r>
                        <a:rPr sz="760" b="1">
                          <a:solidFill>
                            <a:srgbClr val="D62728"/>
                          </a:solidFill>
                          <a:latin typeface="Arial"/>
                        </a:rPr>
                        <a:t>2. Ông Nguyễn Đức Thụy</a:t>
                      </a:r>
                    </a:p>
                    <a:p>
                      <a:pPr algn="l">
                        <a:lnSpc>
                          <a:spcPct val="103000"/>
                        </a:lnSpc>
                      </a:pPr>
                      <a:r>
                        <a:rPr sz="760" b="1">
                          <a:solidFill>
                            <a:srgbClr val="D62728"/>
                          </a:solidFill>
                          <a:latin typeface="Arial"/>
                        </a:rPr>
                        <a:t>(Ứng viên Doanh nhân)</a:t>
                      </a:r>
                    </a:p>
                  </a:txBody>
                  <a:tcPr anchor="ctr" marL="36576" marR="36576" marT="13716" marB="13716">
                    <a:solidFill>
                      <a:srgbClr val="FEEEEE"/>
                    </a:solidFill>
                  </a:tcPr>
                </a:tc>
                <a:tc>
                  <a:txBody>
                    <a:bodyPr wrap="square"/>
                    <a:lstStyle/>
                    <a:p>
                      <a:pPr algn="ctr">
                        <a:lnSpc>
                          <a:spcPct val="103000"/>
                        </a:lnSpc>
                      </a:pPr>
                      <a:r>
                        <a:rPr sz="760" b="0">
                          <a:solidFill>
                            <a:srgbClr val="121C2D"/>
                          </a:solidFill>
                          <a:latin typeface="Arial"/>
                        </a:rPr>
                        <a:t>+316 bài/video</a:t>
                      </a:r>
                    </a:p>
                    <a:p>
                      <a:pPr algn="ctr">
                        <a:lnSpc>
                          <a:spcPct val="103000"/>
                        </a:lnSpc>
                      </a:pPr>
                      <a:r>
                        <a:rPr sz="760" b="0">
                          <a:solidFill>
                            <a:srgbClr val="121C2D"/>
                          </a:solidFill>
                          <a:latin typeface="Arial"/>
                        </a:rPr>
                        <a:t>(24 Báo + 292 MXH)</a:t>
                      </a:r>
                    </a:p>
                  </a:txBody>
                  <a:tcPr anchor="ctr" marL="36576" marR="36576" marT="13716" marB="13716">
                    <a:solidFill>
                      <a:srgbClr val="FEEEEE"/>
                    </a:solidFill>
                  </a:tcPr>
                </a:tc>
                <a:tc>
                  <a:txBody>
                    <a:bodyPr wrap="square"/>
                    <a:lstStyle/>
                    <a:p>
                      <a:pPr algn="ctr">
                        <a:lnSpc>
                          <a:spcPct val="103000"/>
                        </a:lnSpc>
                      </a:pPr>
                      <a:r>
                        <a:rPr sz="760" b="0">
                          <a:solidFill>
                            <a:srgbClr val="121C2D"/>
                          </a:solidFill>
                          <a:latin typeface="Arial"/>
                        </a:rPr>
                        <a:t>-42 bài/video</a:t>
                      </a:r>
                    </a:p>
                    <a:p>
                      <a:pPr algn="ctr">
                        <a:lnSpc>
                          <a:spcPct val="103000"/>
                        </a:lnSpc>
                      </a:pPr>
                      <a:r>
                        <a:rPr sz="760" b="0">
                          <a:solidFill>
                            <a:srgbClr val="121C2D"/>
                          </a:solidFill>
                          <a:latin typeface="Arial"/>
                        </a:rPr>
                        <a:t>(Cảnh báo mô hình bầu)</a:t>
                      </a:r>
                    </a:p>
                  </a:txBody>
                  <a:tcPr anchor="ctr" marL="36576" marR="36576" marT="13716" marB="13716">
                    <a:solidFill>
                      <a:srgbClr val="FEEEEE"/>
                    </a:solidFill>
                  </a:tcPr>
                </a:tc>
                <a:tc>
                  <a:txBody>
                    <a:bodyPr wrap="square"/>
                    <a:lstStyle/>
                    <a:p>
                      <a:pPr algn="ctr">
                        <a:lnSpc>
                          <a:spcPct val="103000"/>
                        </a:lnSpc>
                      </a:pPr>
                      <a:r>
                        <a:rPr sz="760" b="0">
                          <a:solidFill>
                            <a:srgbClr val="121C2D"/>
                          </a:solidFill>
                          <a:latin typeface="Arial"/>
                        </a:rPr>
                        <a:t>+312 phiếu</a:t>
                      </a:r>
                    </a:p>
                    <a:p>
                      <a:pPr algn="ctr">
                        <a:lnSpc>
                          <a:spcPct val="103000"/>
                        </a:lnSpc>
                      </a:pPr>
                      <a:r>
                        <a:rPr sz="760" b="0">
                          <a:solidFill>
                            <a:srgbClr val="121C2D"/>
                          </a:solidFill>
                          <a:latin typeface="Arial"/>
                        </a:rPr>
                        <a:t>(FB 207 · YT 81 · TT 24)</a:t>
                      </a:r>
                    </a:p>
                  </a:txBody>
                  <a:tcPr anchor="ctr" marL="36576" marR="36576" marT="13716" marB="13716">
                    <a:solidFill>
                      <a:srgbClr val="FEEEEE"/>
                    </a:solidFill>
                  </a:tcPr>
                </a:tc>
                <a:tc>
                  <a:txBody>
                    <a:bodyPr wrap="square"/>
                    <a:lstStyle/>
                    <a:p>
                      <a:pPr algn="ctr">
                        <a:lnSpc>
                          <a:spcPct val="103000"/>
                        </a:lnSpc>
                      </a:pPr>
                      <a:r>
                        <a:rPr sz="760" b="0">
                          <a:solidFill>
                            <a:srgbClr val="121C2D"/>
                          </a:solidFill>
                          <a:latin typeface="Arial"/>
                        </a:rPr>
                        <a:t>+93 phiếu</a:t>
                      </a:r>
                    </a:p>
                    <a:p>
                      <a:pPr algn="ctr">
                        <a:lnSpc>
                          <a:spcPct val="103000"/>
                        </a:lnSpc>
                      </a:pPr>
                      <a:r>
                        <a:rPr sz="760" b="0">
                          <a:solidFill>
                            <a:srgbClr val="121C2D"/>
                          </a:solidFill>
                          <a:latin typeface="Arial"/>
                        </a:rPr>
                        <a:t>(LD2: Thụy CT + Tuấn Phó)</a:t>
                      </a:r>
                    </a:p>
                  </a:txBody>
                  <a:tcPr anchor="ctr" marL="36576" marR="36576" marT="13716" marB="13716">
                    <a:solidFill>
                      <a:srgbClr val="FEEEEE"/>
                    </a:solidFill>
                  </a:tcPr>
                </a:tc>
                <a:tc>
                  <a:txBody>
                    <a:bodyPr wrap="square"/>
                    <a:lstStyle/>
                    <a:p>
                      <a:pPr algn="ctr">
                        <a:lnSpc>
                          <a:spcPct val="103000"/>
                        </a:lnSpc>
                      </a:pPr>
                      <a:r>
                        <a:rPr sz="760" b="1">
                          <a:solidFill>
                            <a:srgbClr val="121C2D"/>
                          </a:solidFill>
                          <a:latin typeface="Arial"/>
                        </a:rPr>
                        <a:t>-210 bình luận</a:t>
                      </a:r>
                    </a:p>
                    <a:p>
                      <a:pPr algn="ctr">
                        <a:lnSpc>
                          <a:spcPct val="103000"/>
                        </a:lnSpc>
                      </a:pPr>
                      <a:r>
                        <a:rPr sz="760" b="1">
                          <a:solidFill>
                            <a:srgbClr val="121C2D"/>
                          </a:solidFill>
                          <a:latin typeface="Arial"/>
                        </a:rPr>
                        <a:t>(Sợ bỏ đội, xung đột CLB)</a:t>
                      </a:r>
                    </a:p>
                  </a:txBody>
                  <a:tcPr anchor="ctr" marL="36576" marR="36576" marT="13716" marB="13716">
                    <a:solidFill>
                      <a:srgbClr val="FEEEEE"/>
                    </a:solidFill>
                  </a:tcPr>
                </a:tc>
                <a:tc>
                  <a:txBody>
                    <a:bodyPr wrap="square"/>
                    <a:lstStyle/>
                    <a:p>
                      <a:pPr algn="ctr">
                        <a:lnSpc>
                          <a:spcPct val="103000"/>
                        </a:lnSpc>
                      </a:pPr>
                      <a:r>
                        <a:rPr sz="760" b="0">
                          <a:solidFill>
                            <a:srgbClr val="121C2D"/>
                          </a:solidFill>
                          <a:latin typeface="Arial"/>
                        </a:rPr>
                        <a:t>-101 bình luận</a:t>
                      </a:r>
                    </a:p>
                    <a:p>
                      <a:pPr algn="ctr">
                        <a:lnSpc>
                          <a:spcPct val="103000"/>
                        </a:lnSpc>
                      </a:pPr>
                      <a:r>
                        <a:rPr sz="760" b="0">
                          <a:solidFill>
                            <a:srgbClr val="121C2D"/>
                          </a:solidFill>
                          <a:latin typeface="Arial"/>
                        </a:rPr>
                        <a:t>(Phản đối cả 2 / Bầu Đức)</a:t>
                      </a:r>
                    </a:p>
                  </a:txBody>
                  <a:tcPr anchor="ctr" marL="36576" marR="36576" marT="13716" marB="13716">
                    <a:solidFill>
                      <a:srgbClr val="FEEEEE"/>
                    </a:solidFill>
                  </a:tcPr>
                </a:tc>
                <a:tc>
                  <a:txBody>
                    <a:bodyPr wrap="square"/>
                    <a:lstStyle/>
                    <a:p>
                      <a:pPr algn="ctr">
                        <a:lnSpc>
                          <a:spcPct val="103000"/>
                        </a:lnSpc>
                      </a:pPr>
                      <a:r>
                        <a:rPr sz="760" b="1">
                          <a:solidFill>
                            <a:srgbClr val="D62728"/>
                          </a:solidFill>
                          <a:latin typeface="Arial"/>
                        </a:rPr>
                        <a:t>+368 gộp</a:t>
                      </a:r>
                    </a:p>
                    <a:p>
                      <a:pPr algn="ctr">
                        <a:lnSpc>
                          <a:spcPct val="103000"/>
                        </a:lnSpc>
                      </a:pPr>
                      <a:r>
                        <a:rPr sz="760" b="1">
                          <a:solidFill>
                            <a:srgbClr val="D62728"/>
                          </a:solidFill>
                          <a:latin typeface="Arial"/>
                        </a:rPr>
                        <a:t>(+94 điểm BL)</a:t>
                      </a:r>
                    </a:p>
                  </a:txBody>
                  <a:tcPr anchor="ctr" marL="36576" marR="36576" marT="13716" marB="13716">
                    <a:solidFill>
                      <a:srgbClr val="FEEEEE"/>
                    </a:solidFill>
                  </a:tcPr>
                </a:tc>
                <a:tc>
                  <a:txBody>
                    <a:bodyPr wrap="square"/>
                    <a:lstStyle/>
                    <a:p>
                      <a:pPr algn="ctr">
                        <a:lnSpc>
                          <a:spcPct val="103000"/>
                        </a:lnSpc>
                      </a:pPr>
                      <a:r>
                        <a:rPr sz="760" b="1">
                          <a:solidFill>
                            <a:srgbClr val="D62728"/>
                          </a:solidFill>
                          <a:latin typeface="Arial"/>
                        </a:rPr>
                        <a:t>+34,3% (Gộp)</a:t>
                      </a:r>
                    </a:p>
                    <a:p>
                      <a:pPr algn="ctr">
                        <a:lnSpc>
                          <a:spcPct val="103000"/>
                        </a:lnSpc>
                      </a:pPr>
                      <a:r>
                        <a:rPr sz="760" b="1">
                          <a:solidFill>
                            <a:srgbClr val="D62728"/>
                          </a:solidFill>
                          <a:latin typeface="Arial"/>
                        </a:rPr>
                        <a:t>+13,1% (Bình luận)</a:t>
                      </a:r>
                    </a:p>
                  </a:txBody>
                  <a:tcPr anchor="ctr" marL="36576" marR="36576" marT="13716" marB="13716">
                    <a:solidFill>
                      <a:srgbClr val="FEEEEE"/>
                    </a:solidFill>
                  </a:tcPr>
                </a:tc>
              </a:tr>
              <a:tr h="442569">
                <a:tc>
                  <a:txBody>
                    <a:bodyPr wrap="square"/>
                    <a:lstStyle/>
                    <a:p>
                      <a:pPr algn="l">
                        <a:lnSpc>
                          <a:spcPct val="103000"/>
                        </a:lnSpc>
                      </a:pPr>
                      <a:r>
                        <a:rPr sz="760" b="1">
                          <a:solidFill>
                            <a:srgbClr val="121C2D"/>
                          </a:solidFill>
                          <a:latin typeface="Arial"/>
                        </a:rPr>
                        <a:t>3. Ông Nguyễn Xuân Vũ</a:t>
                      </a:r>
                    </a:p>
                    <a:p>
                      <a:pPr algn="l">
                        <a:lnSpc>
                          <a:spcPct val="103000"/>
                        </a:lnSpc>
                      </a:pPr>
                      <a:r>
                        <a:rPr sz="760" b="1">
                          <a:solidFill>
                            <a:srgbClr val="121C2D"/>
                          </a:solidFill>
                          <a:latin typeface="Arial"/>
                        </a:rPr>
                        <a:t>(Phó Chủ tịch Sacombank)</a:t>
                      </a:r>
                    </a:p>
                  </a:txBody>
                  <a:tcPr anchor="ctr" marL="36576" marR="36576" marT="13716" marB="13716">
                    <a:solidFill>
                      <a:srgbClr val="F1F3F7"/>
                    </a:solidFill>
                  </a:tcPr>
                </a:tc>
                <a:tc>
                  <a:txBody>
                    <a:bodyPr wrap="square"/>
                    <a:lstStyle/>
                    <a:p>
                      <a:pPr algn="ctr">
                        <a:lnSpc>
                          <a:spcPct val="103000"/>
                        </a:lnSpc>
                      </a:pPr>
                      <a:r>
                        <a:rPr sz="760" b="0">
                          <a:solidFill>
                            <a:srgbClr val="121C2D"/>
                          </a:solidFill>
                          <a:latin typeface="Arial"/>
                        </a:rPr>
                        <a:t>+28 bài/video</a:t>
                      </a:r>
                    </a:p>
                    <a:p>
                      <a:pPr algn="ctr">
                        <a:lnSpc>
                          <a:spcPct val="103000"/>
                        </a:lnSpc>
                      </a:pPr>
                      <a:r>
                        <a:rPr sz="760" b="0">
                          <a:solidFill>
                            <a:srgbClr val="121C2D"/>
                          </a:solidFill>
                          <a:latin typeface="Arial"/>
                        </a:rPr>
                        <a:t>(Đưa tin tiểu sử 20 năm)</a:t>
                      </a:r>
                    </a:p>
                  </a:txBody>
                  <a:tcPr anchor="ctr" marL="36576" marR="36576" marT="13716" marB="13716">
                    <a:solidFill>
                      <a:srgbClr val="F1F3F7"/>
                    </a:solidFill>
                  </a:tcPr>
                </a:tc>
                <a:tc>
                  <a:txBody>
                    <a:bodyPr wrap="square"/>
                    <a:lstStyle/>
                    <a:p>
                      <a:pPr algn="ctr">
                        <a:lnSpc>
                          <a:spcPct val="103000"/>
                        </a:lnSpc>
                      </a:pPr>
                      <a:r>
                        <a:rPr sz="760" b="0">
                          <a:solidFill>
                            <a:srgbClr val="121C2D"/>
                          </a:solidFill>
                          <a:latin typeface="Arial"/>
                        </a:rPr>
                        <a:t>-1 bài/video</a:t>
                      </a:r>
                    </a:p>
                    <a:p>
                      <a:pPr algn="ctr">
                        <a:lnSpc>
                          <a:spcPct val="103000"/>
                        </a:lnSpc>
                      </a:pPr>
                      <a:r>
                        <a:rPr sz="760" b="0">
                          <a:solidFill>
                            <a:srgbClr val="121C2D"/>
                          </a:solidFill>
                          <a:latin typeface="Arial"/>
                        </a:rPr>
                        <a:t>(Ít độ phủ đại chúng)</a:t>
                      </a:r>
                    </a:p>
                  </a:txBody>
                  <a:tcPr anchor="ctr" marL="36576" marR="36576" marT="13716" marB="13716">
                    <a:solidFill>
                      <a:srgbClr val="F1F3F7"/>
                    </a:solidFill>
                  </a:tcPr>
                </a:tc>
                <a:tc>
                  <a:txBody>
                    <a:bodyPr wrap="square"/>
                    <a:lstStyle/>
                    <a:p>
                      <a:pPr algn="ctr">
                        <a:lnSpc>
                          <a:spcPct val="103000"/>
                        </a:lnSpc>
                      </a:pPr>
                      <a:r>
                        <a:rPr sz="760" b="0">
                          <a:solidFill>
                            <a:srgbClr val="121C2D"/>
                          </a:solidFill>
                          <a:latin typeface="Arial"/>
                        </a:rPr>
                        <a:t>+4 phiếu</a:t>
                      </a:r>
                    </a:p>
                    <a:p>
                      <a:pPr algn="ctr">
                        <a:lnSpc>
                          <a:spcPct val="103000"/>
                        </a:lnSpc>
                      </a:pPr>
                      <a:r>
                        <a:rPr sz="760" b="0">
                          <a:solidFill>
                            <a:srgbClr val="121C2D"/>
                          </a:solidFill>
                          <a:latin typeface="Arial"/>
                        </a:rPr>
                        <a:t>(Khán giả tài chính)</a:t>
                      </a:r>
                    </a:p>
                  </a:txBody>
                  <a:tcPr anchor="ctr" marL="36576" marR="36576" marT="13716" marB="13716">
                    <a:solidFill>
                      <a:srgbClr val="F1F3F7"/>
                    </a:solidFill>
                  </a:tcPr>
                </a:tc>
                <a:tc>
                  <a:txBody>
                    <a:bodyPr wrap="square"/>
                    <a:lstStyle/>
                    <a:p>
                      <a:pPr algn="ctr">
                        <a:lnSpc>
                          <a:spcPct val="103000"/>
                        </a:lnSpc>
                      </a:pPr>
                      <a:r>
                        <a:rPr sz="760" b="0">
                          <a:solidFill>
                            <a:srgbClr val="121C2D"/>
                          </a:solidFill>
                          <a:latin typeface="Arial"/>
                        </a:rPr>
                        <a:t>+18 phiếu</a:t>
                      </a:r>
                    </a:p>
                    <a:p>
                      <a:pPr algn="ctr">
                        <a:lnSpc>
                          <a:spcPct val="103000"/>
                        </a:lnSpc>
                      </a:pPr>
                      <a:r>
                        <a:rPr sz="760" b="0">
                          <a:solidFill>
                            <a:srgbClr val="121C2D"/>
                          </a:solidFill>
                          <a:latin typeface="Arial"/>
                        </a:rPr>
                        <a:t>(Đề xuất giữ Phó CT)</a:t>
                      </a:r>
                    </a:p>
                  </a:txBody>
                  <a:tcPr anchor="ctr" marL="36576" marR="36576" marT="13716" marB="13716">
                    <a:solidFill>
                      <a:srgbClr val="F1F3F7"/>
                    </a:solidFill>
                  </a:tcPr>
                </a:tc>
                <a:tc>
                  <a:txBody>
                    <a:bodyPr wrap="square"/>
                    <a:lstStyle/>
                    <a:p>
                      <a:pPr algn="ctr">
                        <a:lnSpc>
                          <a:spcPct val="103000"/>
                        </a:lnSpc>
                      </a:pPr>
                      <a:r>
                        <a:rPr sz="760" b="1">
                          <a:solidFill>
                            <a:srgbClr val="121C2D"/>
                          </a:solidFill>
                          <a:latin typeface="Arial"/>
                        </a:rPr>
                        <a:t>-6 bình luận</a:t>
                      </a:r>
                    </a:p>
                    <a:p>
                      <a:pPr algn="ctr">
                        <a:lnSpc>
                          <a:spcPct val="103000"/>
                        </a:lnSpc>
                      </a:pPr>
                      <a:r>
                        <a:rPr sz="760" b="1">
                          <a:solidFill>
                            <a:srgbClr val="121C2D"/>
                          </a:solidFill>
                          <a:latin typeface="Arial"/>
                        </a:rPr>
                        <a:t>(Chưa đủ tầm làm CT)</a:t>
                      </a:r>
                    </a:p>
                  </a:txBody>
                  <a:tcPr anchor="ctr" marL="36576" marR="36576" marT="13716" marB="13716">
                    <a:solidFill>
                      <a:srgbClr val="F1F3F7"/>
                    </a:solidFill>
                  </a:tcPr>
                </a:tc>
                <a:tc>
                  <a:txBody>
                    <a:bodyPr wrap="square"/>
                    <a:lstStyle/>
                    <a:p>
                      <a:pPr algn="ctr">
                        <a:lnSpc>
                          <a:spcPct val="103000"/>
                        </a:lnSpc>
                      </a:pPr>
                      <a:r>
                        <a:rPr sz="760" b="0">
                          <a:solidFill>
                            <a:srgbClr val="121C2D"/>
                          </a:solidFill>
                          <a:latin typeface="Arial"/>
                        </a:rPr>
                        <a:t>—</a:t>
                      </a:r>
                    </a:p>
                  </a:txBody>
                  <a:tcPr anchor="ctr" marL="36576" marR="36576" marT="13716" marB="13716">
                    <a:solidFill>
                      <a:srgbClr val="F1F3F7"/>
                    </a:solidFill>
                  </a:tcPr>
                </a:tc>
                <a:tc>
                  <a:txBody>
                    <a:bodyPr wrap="square"/>
                    <a:lstStyle/>
                    <a:p>
                      <a:pPr algn="ctr">
                        <a:lnSpc>
                          <a:spcPct val="103000"/>
                        </a:lnSpc>
                      </a:pPr>
                      <a:r>
                        <a:rPr sz="760" b="1">
                          <a:solidFill>
                            <a:srgbClr val="121C2D"/>
                          </a:solidFill>
                          <a:latin typeface="Arial"/>
                        </a:rPr>
                        <a:t>+43 gộp</a:t>
                      </a:r>
                    </a:p>
                    <a:p>
                      <a:pPr algn="ctr">
                        <a:lnSpc>
                          <a:spcPct val="103000"/>
                        </a:lnSpc>
                      </a:pPr>
                      <a:r>
                        <a:rPr sz="760" b="1">
                          <a:solidFill>
                            <a:srgbClr val="121C2D"/>
                          </a:solidFill>
                          <a:latin typeface="Arial"/>
                        </a:rPr>
                        <a:t>(+16 điểm BL)</a:t>
                      </a:r>
                    </a:p>
                  </a:txBody>
                  <a:tcPr anchor="ctr" marL="36576" marR="36576" marT="13716" marB="13716">
                    <a:solidFill>
                      <a:srgbClr val="F1F3F7"/>
                    </a:solidFill>
                  </a:tcPr>
                </a:tc>
                <a:tc>
                  <a:txBody>
                    <a:bodyPr wrap="square"/>
                    <a:lstStyle/>
                    <a:p>
                      <a:pPr algn="ctr">
                        <a:lnSpc>
                          <a:spcPct val="103000"/>
                        </a:lnSpc>
                      </a:pPr>
                      <a:r>
                        <a:rPr sz="760" b="1">
                          <a:solidFill>
                            <a:srgbClr val="121C2D"/>
                          </a:solidFill>
                          <a:latin typeface="Arial"/>
                        </a:rPr>
                        <a:t>+60,6% (Gộp)</a:t>
                      </a:r>
                    </a:p>
                    <a:p>
                      <a:pPr algn="ctr">
                        <a:lnSpc>
                          <a:spcPct val="103000"/>
                        </a:lnSpc>
                      </a:pPr>
                      <a:r>
                        <a:rPr sz="760" b="1">
                          <a:solidFill>
                            <a:srgbClr val="121C2D"/>
                          </a:solidFill>
                          <a:latin typeface="Arial"/>
                        </a:rPr>
                        <a:t>(Quy mô nhỏ)</a:t>
                      </a:r>
                    </a:p>
                  </a:txBody>
                  <a:tcPr anchor="ctr" marL="36576" marR="36576" marT="13716" marB="13716">
                    <a:solidFill>
                      <a:srgbClr val="F1F3F7"/>
                    </a:solidFill>
                  </a:tcPr>
                </a:tc>
              </a:tr>
              <a:tr h="442572">
                <a:tc>
                  <a:txBody>
                    <a:bodyPr wrap="square"/>
                    <a:lstStyle/>
                    <a:p>
                      <a:pPr algn="l">
                        <a:lnSpc>
                          <a:spcPct val="103000"/>
                        </a:lnSpc>
                      </a:pPr>
                      <a:r>
                        <a:rPr sz="760" b="1">
                          <a:solidFill>
                            <a:srgbClr val="0B1528"/>
                          </a:solidFill>
                          <a:latin typeface="Arial"/>
                        </a:rPr>
                        <a:t>Giải trình Kiểm toán (22/10)</a:t>
                      </a:r>
                    </a:p>
                    <a:p>
                      <a:pPr algn="l">
                        <a:lnSpc>
                          <a:spcPct val="103000"/>
                        </a:lnSpc>
                      </a:pPr>
                      <a:r>
                        <a:rPr sz="760" b="1">
                          <a:solidFill>
                            <a:srgbClr val="0B1528"/>
                          </a:solidFill>
                          <a:latin typeface="Arial"/>
                        </a:rPr>
                        <a:t>(Đối soát toàn diện)</a:t>
                      </a:r>
                    </a:p>
                  </a:txBody>
                  <a:tcPr anchor="ctr" marL="36576" marR="36576" marT="13716" marB="13716">
                    <a:solidFill>
                      <a:srgbClr val="FFF6E8"/>
                    </a:solidFill>
                  </a:tcPr>
                </a:tc>
                <a:tc>
                  <a:txBody>
                    <a:bodyPr wrap="square"/>
                    <a:lstStyle/>
                    <a:p>
                      <a:pPr algn="ctr">
                        <a:lnSpc>
                          <a:spcPct val="103000"/>
                        </a:lnSpc>
                      </a:pPr>
                      <a:r>
                        <a:rPr sz="760" b="1">
                          <a:solidFill>
                            <a:srgbClr val="121C2D"/>
                          </a:solidFill>
                          <a:latin typeface="Arial"/>
                        </a:rPr>
                        <a:t>974 bài xác thực</a:t>
                      </a:r>
                    </a:p>
                    <a:p>
                      <a:pPr algn="ctr">
                        <a:lnSpc>
                          <a:spcPct val="103000"/>
                        </a:lnSpc>
                      </a:pPr>
                      <a:r>
                        <a:rPr sz="760" b="1">
                          <a:solidFill>
                            <a:srgbClr val="121C2D"/>
                          </a:solidFill>
                          <a:latin typeface="Arial"/>
                        </a:rPr>
                        <a:t>(1.197 danh bạ)</a:t>
                      </a:r>
                    </a:p>
                  </a:txBody>
                  <a:tcPr anchor="ctr" marL="36576" marR="36576" marT="13716" marB="13716">
                    <a:solidFill>
                      <a:srgbClr val="FFF6E8"/>
                    </a:solidFill>
                  </a:tcPr>
                </a:tc>
                <a:tc>
                  <a:txBody>
                    <a:bodyPr wrap="square"/>
                    <a:lstStyle/>
                    <a:p>
                      <a:pPr algn="ctr">
                        <a:lnSpc>
                          <a:spcPct val="103000"/>
                        </a:lnSpc>
                      </a:pPr>
                      <a:r>
                        <a:rPr sz="760" b="1">
                          <a:solidFill>
                            <a:srgbClr val="121C2D"/>
                          </a:solidFill>
                          <a:latin typeface="Arial"/>
                        </a:rPr>
                        <a:t>Tách rõ bài phản biện</a:t>
                      </a:r>
                    </a:p>
                    <a:p>
                      <a:pPr algn="ctr">
                        <a:lnSpc>
                          <a:spcPct val="103000"/>
                        </a:lnSpc>
                      </a:pPr>
                      <a:r>
                        <a:rPr sz="760" b="1">
                          <a:solidFill>
                            <a:srgbClr val="121C2D"/>
                          </a:solidFill>
                          <a:latin typeface="Arial"/>
                        </a:rPr>
                        <a:t>Báo &amp; Fanpage</a:t>
                      </a:r>
                    </a:p>
                  </a:txBody>
                  <a:tcPr anchor="ctr" marL="36576" marR="36576" marT="13716" marB="13716">
                    <a:solidFill>
                      <a:srgbClr val="FFF6E8"/>
                    </a:solidFill>
                  </a:tcPr>
                </a:tc>
                <a:tc>
                  <a:txBody>
                    <a:bodyPr wrap="square"/>
                    <a:lstStyle/>
                    <a:p>
                      <a:pPr algn="ctr">
                        <a:lnSpc>
                          <a:spcPct val="103000"/>
                        </a:lnSpc>
                      </a:pPr>
                      <a:r>
                        <a:rPr sz="760" b="1">
                          <a:solidFill>
                            <a:srgbClr val="121C2D"/>
                          </a:solidFill>
                          <a:latin typeface="Arial"/>
                        </a:rPr>
                        <a:t>Bầu thẳng CT:</a:t>
                      </a:r>
                    </a:p>
                    <a:p>
                      <a:pPr algn="ctr">
                        <a:lnSpc>
                          <a:spcPct val="103000"/>
                        </a:lnSpc>
                      </a:pPr>
                      <a:r>
                        <a:rPr sz="760" b="1">
                          <a:solidFill>
                            <a:srgbClr val="121C2D"/>
                          </a:solidFill>
                          <a:latin typeface="Arial"/>
                        </a:rPr>
                        <a:t>781 phiếu (55,2%)</a:t>
                      </a:r>
                    </a:p>
                  </a:txBody>
                  <a:tcPr anchor="ctr" marL="36576" marR="36576" marT="13716" marB="13716">
                    <a:solidFill>
                      <a:srgbClr val="FFF6E8"/>
                    </a:solidFill>
                  </a:tcPr>
                </a:tc>
                <a:tc>
                  <a:txBody>
                    <a:bodyPr wrap="square"/>
                    <a:lstStyle/>
                    <a:p>
                      <a:pPr algn="ctr">
                        <a:lnSpc>
                          <a:spcPct val="103000"/>
                        </a:lnSpc>
                      </a:pPr>
                      <a:r>
                        <a:rPr sz="760" b="1">
                          <a:solidFill>
                            <a:srgbClr val="121C2D"/>
                          </a:solidFill>
                          <a:latin typeface="Arial"/>
                        </a:rPr>
                        <a:t>Tổng Liên danh:</a:t>
                      </a:r>
                    </a:p>
                    <a:p>
                      <a:pPr algn="ctr">
                        <a:lnSpc>
                          <a:spcPct val="103000"/>
                        </a:lnSpc>
                      </a:pPr>
                      <a:r>
                        <a:rPr sz="760" b="1">
                          <a:solidFill>
                            <a:srgbClr val="121C2D"/>
                          </a:solidFill>
                          <a:latin typeface="Arial"/>
                        </a:rPr>
                        <a:t>214 phiếu (15,1%)</a:t>
                      </a:r>
                    </a:p>
                  </a:txBody>
                  <a:tcPr anchor="ctr" marL="36576" marR="36576" marT="13716" marB="13716">
                    <a:solidFill>
                      <a:srgbClr val="FFF6E8"/>
                    </a:solidFill>
                  </a:tcPr>
                </a:tc>
                <a:tc>
                  <a:txBody>
                    <a:bodyPr wrap="square"/>
                    <a:lstStyle/>
                    <a:p>
                      <a:pPr algn="ctr">
                        <a:lnSpc>
                          <a:spcPct val="103000"/>
                        </a:lnSpc>
                      </a:pPr>
                      <a:r>
                        <a:rPr sz="760" b="1">
                          <a:solidFill>
                            <a:srgbClr val="121C2D"/>
                          </a:solidFill>
                          <a:latin typeface="Arial"/>
                        </a:rPr>
                        <a:t>Phản đối riêng:</a:t>
                      </a:r>
                    </a:p>
                    <a:p>
                      <a:pPr algn="ctr">
                        <a:lnSpc>
                          <a:spcPct val="103000"/>
                        </a:lnSpc>
                      </a:pPr>
                      <a:r>
                        <a:rPr sz="760" b="1">
                          <a:solidFill>
                            <a:srgbClr val="121C2D"/>
                          </a:solidFill>
                          <a:latin typeface="Arial"/>
                        </a:rPr>
                        <a:t>322 phiếu (22,8%)</a:t>
                      </a:r>
                    </a:p>
                  </a:txBody>
                  <a:tcPr anchor="ctr" marL="36576" marR="36576" marT="13716" marB="13716">
                    <a:solidFill>
                      <a:srgbClr val="FFF6E8"/>
                    </a:solidFill>
                  </a:tcPr>
                </a:tc>
                <a:tc>
                  <a:txBody>
                    <a:bodyPr wrap="square"/>
                    <a:lstStyle/>
                    <a:p>
                      <a:pPr algn="ctr">
                        <a:lnSpc>
                          <a:spcPct val="103000"/>
                        </a:lnSpc>
                      </a:pPr>
                      <a:r>
                        <a:rPr sz="760" b="1">
                          <a:solidFill>
                            <a:srgbClr val="121C2D"/>
                          </a:solidFill>
                          <a:latin typeface="Arial"/>
                        </a:rPr>
                        <a:t>Phản đối cả 2:</a:t>
                      </a:r>
                    </a:p>
                    <a:p>
                      <a:pPr algn="ctr">
                        <a:lnSpc>
                          <a:spcPct val="103000"/>
                        </a:lnSpc>
                      </a:pPr>
                      <a:r>
                        <a:rPr sz="760" b="1">
                          <a:solidFill>
                            <a:srgbClr val="121C2D"/>
                          </a:solidFill>
                          <a:latin typeface="Arial"/>
                        </a:rPr>
                        <a:t>101 phiếu (7,1%)</a:t>
                      </a:r>
                    </a:p>
                  </a:txBody>
                  <a:tcPr anchor="ctr" marL="36576" marR="36576" marT="13716" marB="13716">
                    <a:solidFill>
                      <a:srgbClr val="FFF6E8"/>
                    </a:solidFill>
                  </a:tcPr>
                </a:tc>
                <a:tc>
                  <a:txBody>
                    <a:bodyPr wrap="square"/>
                    <a:lstStyle/>
                    <a:p>
                      <a:pPr algn="ctr">
                        <a:lnSpc>
                          <a:spcPct val="103000"/>
                        </a:lnSpc>
                      </a:pPr>
                      <a:r>
                        <a:rPr sz="760" b="1">
                          <a:solidFill>
                            <a:srgbClr val="0B1528"/>
                          </a:solidFill>
                          <a:latin typeface="Arial"/>
                        </a:rPr>
                        <a:t>Tổng mẫu định danh:</a:t>
                      </a:r>
                    </a:p>
                    <a:p>
                      <a:pPr algn="ctr">
                        <a:lnSpc>
                          <a:spcPct val="103000"/>
                        </a:lnSpc>
                      </a:pPr>
                      <a:r>
                        <a:rPr sz="760" b="1">
                          <a:solidFill>
                            <a:srgbClr val="0B1528"/>
                          </a:solidFill>
                          <a:latin typeface="Arial"/>
                        </a:rPr>
                        <a:t>1.414 phiếu</a:t>
                      </a:r>
                    </a:p>
                  </a:txBody>
                  <a:tcPr anchor="ctr" marL="36576" marR="36576" marT="13716" marB="13716">
                    <a:solidFill>
                      <a:srgbClr val="FFF6E8"/>
                    </a:solidFill>
                  </a:tcPr>
                </a:tc>
                <a:tc>
                  <a:txBody>
                    <a:bodyPr wrap="square"/>
                    <a:lstStyle/>
                    <a:p>
                      <a:pPr algn="ctr">
                        <a:lnSpc>
                          <a:spcPct val="103000"/>
                        </a:lnSpc>
                      </a:pPr>
                      <a:r>
                        <a:rPr sz="760" b="1">
                          <a:solidFill>
                            <a:srgbClr val="0B1528"/>
                          </a:solidFill>
                          <a:latin typeface="Arial"/>
                        </a:rPr>
                        <a:t>Đối soát 100%</a:t>
                      </a:r>
                    </a:p>
                    <a:p>
                      <a:pPr algn="ctr">
                        <a:lnSpc>
                          <a:spcPct val="103000"/>
                        </a:lnSpc>
                      </a:pPr>
                      <a:r>
                        <a:rPr sz="760" b="1">
                          <a:solidFill>
                            <a:srgbClr val="0B1528"/>
                          </a:solidFill>
                          <a:latin typeface="Arial"/>
                        </a:rPr>
                        <a:t>14.469 bình luận</a:t>
                      </a:r>
                    </a:p>
                  </a:txBody>
                  <a:tcPr anchor="ctr" marL="36576" marR="36576" marT="13716" marB="13716">
                    <a:solidFill>
                      <a:srgbClr val="FFF6E8"/>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6FA"/>
        </a:solidFill>
        <a:effectLst/>
      </p:bgPr>
    </p:bg>
    <p:spTree>
      <p:nvGrpSpPr>
        <p:cNvPr id="1" name=""/>
        <p:cNvGrpSpPr/>
        <p:nvPr/>
      </p:nvGrpSpPr>
      <p:grpSpPr/>
      <p:sp>
        <p:nvSpPr>
          <p:cNvPr id="2" name="Rectangle 1"/>
          <p:cNvSpPr/>
          <p:nvPr/>
        </p:nvSpPr>
        <p:spPr>
          <a:xfrm>
            <a:off x="0" y="0"/>
            <a:ext cx="4059936" cy="54864"/>
          </a:xfrm>
          <a:prstGeom prst="rect">
            <a:avLst/>
          </a:prstGeom>
          <a:solidFill>
            <a:srgbClr val="1560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059936" y="0"/>
            <a:ext cx="4069080" cy="54864"/>
          </a:xfrm>
          <a:prstGeom prst="rect">
            <a:avLst/>
          </a:prstGeom>
          <a:solidFill>
            <a:srgbClr val="F5B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129016" y="0"/>
            <a:ext cx="4059936" cy="54864"/>
          </a:xfrm>
          <a:prstGeom prst="rect">
            <a:avLst/>
          </a:prstGeom>
          <a:solidFill>
            <a:srgbClr val="D627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54864"/>
            <a:ext cx="12191695" cy="786384"/>
          </a:xfrm>
          <a:prstGeom prst="rect">
            <a:avLst/>
          </a:prstGeom>
          <a:solidFill>
            <a:srgbClr val="0B15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01168" y="128016"/>
            <a:ext cx="2029968" cy="274320"/>
          </a:xfrm>
          <a:prstGeom prst="rect">
            <a:avLst/>
          </a:prstGeom>
          <a:solidFill>
            <a:srgbClr val="1560D4"/>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860" b="1">
                <a:solidFill>
                  <a:srgbClr val="F5B400"/>
                </a:solidFill>
                <a:latin typeface="Arial"/>
              </a:rPr>
              <a:t>US ELECTION WAR-ROOM • SLIDE 4A</a:t>
            </a:r>
          </a:p>
        </p:txBody>
      </p:sp>
      <p:sp>
        <p:nvSpPr>
          <p:cNvPr id="7" name="TextBox 6"/>
          <p:cNvSpPr txBox="1"/>
          <p:nvPr/>
        </p:nvSpPr>
        <p:spPr>
          <a:xfrm>
            <a:off x="2286000" y="109728"/>
            <a:ext cx="9738360" cy="310896"/>
          </a:xfrm>
          <a:prstGeom prst="rect">
            <a:avLst/>
          </a:prstGeom>
          <a:noFill/>
        </p:spPr>
        <p:txBody>
          <a:bodyPr wrap="square" anchor="ctr" lIns="45720" rIns="45720" tIns="27432" bIns="27432">
            <a:spAutoFit/>
          </a:bodyPr>
          <a:lstStyle/>
          <a:p>
            <a:pPr algn="l">
              <a:lnSpc>
                <a:spcPct val="112000"/>
              </a:lnSpc>
            </a:pPr>
            <a:r>
              <a:rPr sz="1300" b="1">
                <a:solidFill>
                  <a:srgbClr val="FFFFFF"/>
                </a:solidFill>
                <a:latin typeface="Arial"/>
              </a:rPr>
              <a:t>ĐỐI CHIẾU 4 TẦNG DƯ LUẬN: BÁO CHÍNH THỐNG vs. FACEBOOK vs. YOUTUBE/TIKTOK vs. BÌNH LUẬN</a:t>
            </a:r>
          </a:p>
        </p:txBody>
      </p:sp>
      <p:sp>
        <p:nvSpPr>
          <p:cNvPr id="8" name="TextBox 7"/>
          <p:cNvSpPr txBox="1"/>
          <p:nvPr/>
        </p:nvSpPr>
        <p:spPr>
          <a:xfrm>
            <a:off x="201168" y="475488"/>
            <a:ext cx="11795760" cy="292608"/>
          </a:xfrm>
          <a:prstGeom prst="rect">
            <a:avLst/>
          </a:prstGeom>
          <a:noFill/>
        </p:spPr>
        <p:txBody>
          <a:bodyPr wrap="square" anchor="ctr" lIns="45720" rIns="45720" tIns="27432" bIns="27432">
            <a:spAutoFit/>
          </a:bodyPr>
          <a:lstStyle/>
          <a:p>
            <a:pPr algn="l">
              <a:lnSpc>
                <a:spcPct val="112000"/>
              </a:lnSpc>
            </a:pPr>
            <a:r>
              <a:rPr sz="960" b="0">
                <a:solidFill>
                  <a:srgbClr val="C8D4E6"/>
                </a:solidFill>
                <a:latin typeface="Arial"/>
              </a:rPr>
              <a:t>Tách riêng từng mặt trận trên 4 mặt trận trọng tâm: Báo chính thống, Facebook (378 kênh / 888 bài), YouTube (169 video) &amp; TikTok (68 video) và Lá phiếu Bình luận</a:t>
            </a:r>
          </a:p>
        </p:txBody>
      </p:sp>
      <p:sp>
        <p:nvSpPr>
          <p:cNvPr id="9" name="Rectangle 8"/>
          <p:cNvSpPr/>
          <p:nvPr/>
        </p:nvSpPr>
        <p:spPr>
          <a:xfrm>
            <a:off x="190195" y="903427"/>
            <a:ext cx="11808561" cy="1375257"/>
          </a:xfrm>
          <a:prstGeom prst="rect">
            <a:avLst/>
          </a:prstGeom>
          <a:solidFill>
            <a:srgbClr val="D2DA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01168" y="914400"/>
            <a:ext cx="11786616" cy="13533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29184" y="960120"/>
            <a:ext cx="11521440" cy="219456"/>
          </a:xfrm>
          <a:prstGeom prst="rect">
            <a:avLst/>
          </a:prstGeom>
          <a:noFill/>
        </p:spPr>
        <p:txBody>
          <a:bodyPr wrap="square" anchor="t" lIns="45720" rIns="45720" tIns="27432" bIns="27432">
            <a:spAutoFit/>
          </a:bodyPr>
          <a:lstStyle/>
          <a:p>
            <a:pPr algn="l">
              <a:lnSpc>
                <a:spcPct val="112000"/>
              </a:lnSpc>
            </a:pPr>
            <a:r>
              <a:rPr sz="1019" b="1">
                <a:solidFill>
                  <a:srgbClr val="0B1528"/>
                </a:solidFill>
                <a:latin typeface="Arial"/>
              </a:rPr>
              <a:t>TẦNG 1: BÁO CHÍNH THỐNG (N = 78 BÀI BÁO TỪ 01/10 – 22/10/2026)</a:t>
            </a:r>
          </a:p>
        </p:txBody>
      </p:sp>
      <p:sp>
        <p:nvSpPr>
          <p:cNvPr id="12" name="TextBox 11"/>
          <p:cNvSpPr txBox="1"/>
          <p:nvPr/>
        </p:nvSpPr>
        <p:spPr>
          <a:xfrm>
            <a:off x="329184" y="1161288"/>
            <a:ext cx="11521440" cy="182880"/>
          </a:xfrm>
          <a:prstGeom prst="rect">
            <a:avLst/>
          </a:prstGeom>
          <a:noFill/>
        </p:spPr>
        <p:txBody>
          <a:bodyPr wrap="square" anchor="t" lIns="45720" rIns="45720" tIns="27432" bIns="27432">
            <a:spAutoFit/>
          </a:bodyPr>
          <a:lstStyle/>
          <a:p>
            <a:pPr algn="l">
              <a:lnSpc>
                <a:spcPct val="112000"/>
              </a:lnSpc>
            </a:pPr>
            <a:r>
              <a:rPr sz="880" b="1">
                <a:solidFill>
                  <a:srgbClr val="1560D4"/>
                </a:solidFill>
                <a:latin typeface="Arial"/>
              </a:rPr>
              <a:t>Cảm xúc Báo chí: Tích cực 46 bài (59,0%) | Trung lập 25 bài (32,1%) | Phản biện / Cảnh báo 7 bài (9,0%) • Chỉ số NSI Báo chí = +50,0%</a:t>
            </a:r>
          </a:p>
        </p:txBody>
      </p:sp>
      <p:sp>
        <p:nvSpPr>
          <p:cNvPr id="13" name="Rectangle 12"/>
          <p:cNvSpPr/>
          <p:nvPr/>
        </p:nvSpPr>
        <p:spPr>
          <a:xfrm>
            <a:off x="329184" y="1371600"/>
            <a:ext cx="5160732" cy="438912"/>
          </a:xfrm>
          <a:prstGeom prst="rect">
            <a:avLst/>
          </a:prstGeom>
          <a:solidFill>
            <a:srgbClr val="1560D4"/>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2000"/>
              </a:lnSpc>
            </a:pPr>
            <a:r>
              <a:rPr sz="919" b="1">
                <a:solidFill>
                  <a:srgbClr val="FFFFFF"/>
                </a:solidFill>
                <a:latin typeface="Arial"/>
              </a:rPr>
              <a:t>Ủng hộ TS. Trần Quốc Tuấn: 35 bài (44,9%)</a:t>
            </a:r>
          </a:p>
          <a:p>
            <a:pPr algn="ctr">
              <a:lnSpc>
                <a:spcPct val="102000"/>
              </a:lnSpc>
            </a:pPr>
            <a:r>
              <a:rPr sz="919" b="1">
                <a:solidFill>
                  <a:srgbClr val="FFFFFF"/>
                </a:solidFill>
                <a:latin typeface="Arial"/>
              </a:rPr>
              <a:t>(VFF, Bongdaplus, Thanh Niên, Tuổi Trẻ, VnExpress, VOV)</a:t>
            </a:r>
          </a:p>
        </p:txBody>
      </p:sp>
      <p:sp>
        <p:nvSpPr>
          <p:cNvPr id="14" name="Rectangle 13"/>
          <p:cNvSpPr/>
          <p:nvPr/>
        </p:nvSpPr>
        <p:spPr>
          <a:xfrm>
            <a:off x="5499060" y="1371600"/>
            <a:ext cx="2649649" cy="438912"/>
          </a:xfrm>
          <a:prstGeom prst="rect">
            <a:avLst/>
          </a:prstGeom>
          <a:solidFill>
            <a:srgbClr val="0E94A5"/>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2000"/>
              </a:lnSpc>
            </a:pPr>
            <a:r>
              <a:rPr sz="880" b="1">
                <a:solidFill>
                  <a:srgbClr val="FFFFFF"/>
                </a:solidFill>
                <a:latin typeface="Arial"/>
              </a:rPr>
              <a:t>Trung lập / Công bố 3 ỨV &amp; Đại hội 4/1: 18 bài (23,1%)</a:t>
            </a:r>
          </a:p>
          <a:p>
            <a:pPr algn="ctr">
              <a:lnSpc>
                <a:spcPct val="102000"/>
              </a:lnSpc>
            </a:pPr>
            <a:r>
              <a:rPr sz="880" b="1">
                <a:solidFill>
                  <a:srgbClr val="FFFFFF"/>
                </a:solidFill>
                <a:latin typeface="Arial"/>
              </a:rPr>
              <a:t>(Lao Động, VTC News, TT&amp;VH, Tiền Phong, Soha)</a:t>
            </a:r>
          </a:p>
        </p:txBody>
      </p:sp>
      <p:sp>
        <p:nvSpPr>
          <p:cNvPr id="15" name="Rectangle 14"/>
          <p:cNvSpPr/>
          <p:nvPr/>
        </p:nvSpPr>
        <p:spPr>
          <a:xfrm>
            <a:off x="8157854" y="1371600"/>
            <a:ext cx="138566" cy="438912"/>
          </a:xfrm>
          <a:prstGeom prst="rect">
            <a:avLst/>
          </a:prstGeom>
          <a:solidFill>
            <a:srgbClr val="444E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05565" y="1371600"/>
            <a:ext cx="3535914" cy="438912"/>
          </a:xfrm>
          <a:prstGeom prst="rect">
            <a:avLst/>
          </a:prstGeom>
          <a:solidFill>
            <a:srgbClr val="D62728"/>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2000"/>
              </a:lnSpc>
            </a:pPr>
            <a:r>
              <a:rPr sz="919" b="1">
                <a:solidFill>
                  <a:srgbClr val="FFFFFF"/>
                </a:solidFill>
                <a:latin typeface="Arial"/>
              </a:rPr>
              <a:t>Đưa tin Đề cử &amp; Cam kết 1.000 tỷ Bầu Thụy: 24 bài (30,8%)</a:t>
            </a:r>
          </a:p>
          <a:p>
            <a:pPr algn="ctr">
              <a:lnSpc>
                <a:spcPct val="102000"/>
              </a:lnSpc>
            </a:pPr>
            <a:r>
              <a:rPr sz="919" b="1">
                <a:solidFill>
                  <a:srgbClr val="FFFFFF"/>
                </a:solidFill>
                <a:latin typeface="Arial"/>
              </a:rPr>
              <a:t>(CafeF, VietnamFinance, VietTimes, Dân Trí, SGGP)</a:t>
            </a:r>
          </a:p>
        </p:txBody>
      </p:sp>
      <p:sp>
        <p:nvSpPr>
          <p:cNvPr id="17" name="TextBox 16"/>
          <p:cNvSpPr txBox="1"/>
          <p:nvPr/>
        </p:nvSpPr>
        <p:spPr>
          <a:xfrm>
            <a:off x="329184" y="1837943"/>
            <a:ext cx="11521440" cy="384048"/>
          </a:xfrm>
          <a:prstGeom prst="rect">
            <a:avLst/>
          </a:prstGeom>
          <a:noFill/>
        </p:spPr>
        <p:txBody>
          <a:bodyPr wrap="square" anchor="t" lIns="45720" rIns="45720" tIns="27432" bIns="27432">
            <a:spAutoFit/>
          </a:bodyPr>
          <a:lstStyle/>
          <a:p>
            <a:pPr algn="l">
              <a:lnSpc>
                <a:spcPct val="112000"/>
              </a:lnSpc>
            </a:pPr>
            <a:r>
              <a:rPr sz="860" b="0">
                <a:solidFill>
                  <a:srgbClr val="121C2D"/>
                </a:solidFill>
                <a:latin typeface="Arial"/>
              </a:rPr>
              <a:t>• Báo Thể thao &amp; Cơ quan Trung ương ưu tiên bảo vệ tính ổn định thể chế, thành tích 7 ĐTQG dự VCK châu Á và uy tín AFC của TS. Tuấn.</a:t>
            </a:r>
          </a:p>
          <a:p>
            <a:pPr algn="l">
              <a:lnSpc>
                <a:spcPct val="112000"/>
              </a:lnSpc>
            </a:pPr>
            <a:r>
              <a:rPr sz="860" b="0">
                <a:solidFill>
                  <a:srgbClr val="121C2D"/>
                </a:solidFill>
                <a:latin typeface="Arial"/>
              </a:rPr>
              <a:t>• Báo Kinh tế - Tài chính tạo sóng mạnh ngày 19–22/10 với 2 thông điệp: '&gt;40/57 đơn vị đề cử Bầu Thụy' và 'Cam kết huy động 600–1.000 tỷ/năm, không dùng ngân sách'.</a:t>
            </a:r>
          </a:p>
        </p:txBody>
      </p:sp>
      <p:sp>
        <p:nvSpPr>
          <p:cNvPr id="18" name="Rectangle 17"/>
          <p:cNvSpPr/>
          <p:nvPr/>
        </p:nvSpPr>
        <p:spPr>
          <a:xfrm>
            <a:off x="190195" y="2329891"/>
            <a:ext cx="11808561" cy="1375257"/>
          </a:xfrm>
          <a:prstGeom prst="rect">
            <a:avLst/>
          </a:prstGeom>
          <a:solidFill>
            <a:srgbClr val="D2DA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01168" y="2340864"/>
            <a:ext cx="11786616" cy="13533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29184" y="2386584"/>
            <a:ext cx="11521440" cy="219456"/>
          </a:xfrm>
          <a:prstGeom prst="rect">
            <a:avLst/>
          </a:prstGeom>
          <a:noFill/>
        </p:spPr>
        <p:txBody>
          <a:bodyPr wrap="square" anchor="t" lIns="45720" rIns="45720" tIns="27432" bIns="27432">
            <a:spAutoFit/>
          </a:bodyPr>
          <a:lstStyle/>
          <a:p>
            <a:pPr algn="l">
              <a:lnSpc>
                <a:spcPct val="112000"/>
              </a:lnSpc>
            </a:pPr>
            <a:r>
              <a:rPr sz="1019" b="1">
                <a:solidFill>
                  <a:srgbClr val="0B1528"/>
                </a:solidFill>
                <a:latin typeface="Arial"/>
              </a:rPr>
              <a:t>TẦNG 2: BÀI ĐĂNG FACEBOOK (378 KÊNH DANH BẠ / 381 TRANG HOẠT ĐỘNG • 888 BÀI YÊU CẦU / 665 BÀI XÁC THỰC URL • 8.693 TÀI KHOẢN BÌNH LUẬN)</a:t>
            </a:r>
          </a:p>
        </p:txBody>
      </p:sp>
      <p:sp>
        <p:nvSpPr>
          <p:cNvPr id="21" name="TextBox 20"/>
          <p:cNvSpPr txBox="1"/>
          <p:nvPr/>
        </p:nvSpPr>
        <p:spPr>
          <a:xfrm>
            <a:off x="329184" y="2587752"/>
            <a:ext cx="11521440" cy="182880"/>
          </a:xfrm>
          <a:prstGeom prst="rect">
            <a:avLst/>
          </a:prstGeom>
          <a:noFill/>
        </p:spPr>
        <p:txBody>
          <a:bodyPr wrap="square" anchor="t" lIns="45720" rIns="45720" tIns="27432" bIns="27432">
            <a:spAutoFit/>
          </a:bodyPr>
          <a:lstStyle/>
          <a:p>
            <a:pPr algn="l">
              <a:lnSpc>
                <a:spcPct val="112000"/>
              </a:lnSpc>
            </a:pPr>
            <a:r>
              <a:rPr sz="880" b="1">
                <a:solidFill>
                  <a:srgbClr val="1560D4"/>
                </a:solidFill>
                <a:latin typeface="Arial"/>
              </a:rPr>
              <a:t>Cảm xúc Bài đăng Facebook: Tích cực 388 bài (58,3%) | Trung lập 212 bài (31,9%) | Phản biện / Công kích 65 bài (9,8%) • Chỉ số NSI Bài FB = +48,6%</a:t>
            </a:r>
          </a:p>
        </p:txBody>
      </p:sp>
      <p:sp>
        <p:nvSpPr>
          <p:cNvPr id="22" name="Rectangle 21"/>
          <p:cNvSpPr/>
          <p:nvPr/>
        </p:nvSpPr>
        <p:spPr>
          <a:xfrm>
            <a:off x="329184" y="2798064"/>
            <a:ext cx="5119196" cy="438912"/>
          </a:xfrm>
          <a:prstGeom prst="rect">
            <a:avLst/>
          </a:prstGeom>
          <a:solidFill>
            <a:srgbClr val="1560D4"/>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2000"/>
              </a:lnSpc>
            </a:pPr>
            <a:r>
              <a:rPr sz="880" b="1">
                <a:solidFill>
                  <a:srgbClr val="FFFFFF"/>
                </a:solidFill>
                <a:latin typeface="Arial"/>
              </a:rPr>
              <a:t>Ủng hộ TS. Trần Quốc Tuấn: 296 bài xác thực / 395 bài danh bạ (44,5%)</a:t>
            </a:r>
          </a:p>
          <a:p>
            <a:pPr algn="ctr">
              <a:lnSpc>
                <a:spcPct val="102000"/>
              </a:lnSpc>
            </a:pPr>
            <a:r>
              <a:rPr sz="880" b="1">
                <a:solidFill>
                  <a:srgbClr val="FFFFFF"/>
                </a:solidFill>
                <a:latin typeface="Arial"/>
              </a:rPr>
              <a:t>(Fanpage VFF, Anh Em Bóng Đá, HattrickSport, Ted Trần TV, Thethao247)</a:t>
            </a:r>
          </a:p>
        </p:txBody>
      </p:sp>
      <p:sp>
        <p:nvSpPr>
          <p:cNvPr id="23" name="Rectangle 22"/>
          <p:cNvSpPr/>
          <p:nvPr/>
        </p:nvSpPr>
        <p:spPr>
          <a:xfrm>
            <a:off x="5457524" y="2798064"/>
            <a:ext cx="2451073" cy="438912"/>
          </a:xfrm>
          <a:prstGeom prst="rect">
            <a:avLst/>
          </a:prstGeom>
          <a:solidFill>
            <a:srgbClr val="0E94A5"/>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2000"/>
              </a:lnSpc>
            </a:pPr>
            <a:r>
              <a:rPr sz="819" b="1">
                <a:solidFill>
                  <a:srgbClr val="FFFFFF"/>
                </a:solidFill>
                <a:latin typeface="Arial"/>
              </a:rPr>
              <a:t>Trung lập / Khảo sát 3 ỨV: 142 bài (21,4%)</a:t>
            </a:r>
          </a:p>
          <a:p>
            <a:pPr algn="ctr">
              <a:lnSpc>
                <a:spcPct val="102000"/>
              </a:lnSpc>
            </a:pPr>
            <a:r>
              <a:rPr sz="819" b="1">
                <a:solidFill>
                  <a:srgbClr val="FFFFFF"/>
                </a:solidFill>
                <a:latin typeface="Arial"/>
              </a:rPr>
              <a:t>(BLV Tạ Biên Cương, Minh Châu, Theanh28)</a:t>
            </a:r>
          </a:p>
        </p:txBody>
      </p:sp>
      <p:sp>
        <p:nvSpPr>
          <p:cNvPr id="24" name="Rectangle 23"/>
          <p:cNvSpPr/>
          <p:nvPr/>
        </p:nvSpPr>
        <p:spPr>
          <a:xfrm>
            <a:off x="7917741" y="2798064"/>
            <a:ext cx="493294" cy="438912"/>
          </a:xfrm>
          <a:prstGeom prst="rect">
            <a:avLst/>
          </a:prstGeom>
          <a:solidFill>
            <a:srgbClr val="444E5E"/>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2000"/>
              </a:lnSpc>
            </a:pPr>
            <a:r>
              <a:rPr sz="800" b="1">
                <a:solidFill>
                  <a:srgbClr val="FFFFFF"/>
                </a:solidFill>
                <a:latin typeface="Arial"/>
              </a:rPr>
              <a:t>Phản biện</a:t>
            </a:r>
          </a:p>
          <a:p>
            <a:pPr algn="ctr">
              <a:lnSpc>
                <a:spcPct val="102000"/>
              </a:lnSpc>
            </a:pPr>
            <a:r>
              <a:rPr sz="800" b="1">
                <a:solidFill>
                  <a:srgbClr val="FFFFFF"/>
                </a:solidFill>
                <a:latin typeface="Arial"/>
              </a:rPr>
              <a:t>29 (4,4%)</a:t>
            </a:r>
          </a:p>
        </p:txBody>
      </p:sp>
      <p:sp>
        <p:nvSpPr>
          <p:cNvPr id="25" name="Rectangle 24"/>
          <p:cNvSpPr/>
          <p:nvPr/>
        </p:nvSpPr>
        <p:spPr>
          <a:xfrm>
            <a:off x="8420180" y="2798064"/>
            <a:ext cx="3421299" cy="438912"/>
          </a:xfrm>
          <a:prstGeom prst="rect">
            <a:avLst/>
          </a:prstGeom>
          <a:solidFill>
            <a:srgbClr val="D62728"/>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2000"/>
              </a:lnSpc>
            </a:pPr>
            <a:r>
              <a:rPr sz="880" b="1">
                <a:solidFill>
                  <a:srgbClr val="FFFFFF"/>
                </a:solidFill>
                <a:latin typeface="Arial"/>
              </a:rPr>
              <a:t>Đẩy sóng Bầu Thụy: 198 bài xác thực / 264 bài danh bạ (29,8%)</a:t>
            </a:r>
          </a:p>
          <a:p>
            <a:pPr algn="ctr">
              <a:lnSpc>
                <a:spcPct val="102000"/>
              </a:lnSpc>
            </a:pPr>
            <a:r>
              <a:rPr sz="880" b="1">
                <a:solidFill>
                  <a:srgbClr val="FFFFFF"/>
                </a:solidFill>
                <a:latin typeface="Arial"/>
              </a:rPr>
              <a:t>(iThethao TV, Cụm Seeding Phấn Đấu 33 bài, Bóng Đá 24h, 24h New)</a:t>
            </a:r>
          </a:p>
        </p:txBody>
      </p:sp>
      <p:sp>
        <p:nvSpPr>
          <p:cNvPr id="26" name="TextBox 25"/>
          <p:cNvSpPr txBox="1"/>
          <p:nvPr/>
        </p:nvSpPr>
        <p:spPr>
          <a:xfrm>
            <a:off x="329184" y="3264408"/>
            <a:ext cx="11521440" cy="384048"/>
          </a:xfrm>
          <a:prstGeom prst="rect">
            <a:avLst/>
          </a:prstGeom>
          <a:noFill/>
        </p:spPr>
        <p:txBody>
          <a:bodyPr wrap="square" anchor="t" lIns="45720" rIns="45720" tIns="27432" bIns="27432">
            <a:spAutoFit/>
          </a:bodyPr>
          <a:lstStyle/>
          <a:p>
            <a:pPr algn="l">
              <a:lnSpc>
                <a:spcPct val="112000"/>
              </a:lnSpc>
            </a:pPr>
            <a:r>
              <a:rPr sz="860" b="0">
                <a:solidFill>
                  <a:srgbClr val="121C2D"/>
                </a:solidFill>
                <a:latin typeface="Arial"/>
              </a:rPr>
              <a:t>• Phát hiện quan trọng từ danh bạ 378 kênh: iThethao TV khởi phát thông tin 'Tỷ phú USD tranh ghế Chủ tịch VFF', sau đó được cụm Phấn Đấu (33 bài), Bóng Đá 24h (18 bài), 24h New (13 bài) nhân bản vào 38 hội nhóm V.League.</a:t>
            </a:r>
          </a:p>
        </p:txBody>
      </p:sp>
      <p:sp>
        <p:nvSpPr>
          <p:cNvPr id="27" name="Rectangle 26"/>
          <p:cNvSpPr/>
          <p:nvPr/>
        </p:nvSpPr>
        <p:spPr>
          <a:xfrm>
            <a:off x="190195" y="3756355"/>
            <a:ext cx="11808561" cy="1375257"/>
          </a:xfrm>
          <a:prstGeom prst="rect">
            <a:avLst/>
          </a:prstGeom>
          <a:solidFill>
            <a:srgbClr val="D2DA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01168" y="3767328"/>
            <a:ext cx="11786616" cy="13533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29184" y="3813048"/>
            <a:ext cx="11521440" cy="219456"/>
          </a:xfrm>
          <a:prstGeom prst="rect">
            <a:avLst/>
          </a:prstGeom>
          <a:noFill/>
        </p:spPr>
        <p:txBody>
          <a:bodyPr wrap="square" anchor="t" lIns="45720" rIns="45720" tIns="27432" bIns="27432">
            <a:spAutoFit/>
          </a:bodyPr>
          <a:lstStyle/>
          <a:p>
            <a:pPr algn="l">
              <a:lnSpc>
                <a:spcPct val="112000"/>
              </a:lnSpc>
            </a:pPr>
            <a:r>
              <a:rPr sz="1019" b="1">
                <a:solidFill>
                  <a:srgbClr val="0B1528"/>
                </a:solidFill>
                <a:latin typeface="Arial"/>
              </a:rPr>
              <a:t>TẦNG 3: YOUTUBE (169 VIDEO • 5.066.831 LƯỢT XEM • 82.549 CÂU THOẠI) &amp; TIKTOK (68 VIDEO • 2.825.617 LƯỢT XEM • 2.825 DÒNG KỊCH BẢN)</a:t>
            </a:r>
          </a:p>
        </p:txBody>
      </p:sp>
      <p:sp>
        <p:nvSpPr>
          <p:cNvPr id="30" name="TextBox 29"/>
          <p:cNvSpPr txBox="1"/>
          <p:nvPr/>
        </p:nvSpPr>
        <p:spPr>
          <a:xfrm>
            <a:off x="329184" y="4014216"/>
            <a:ext cx="11521440" cy="182880"/>
          </a:xfrm>
          <a:prstGeom prst="rect">
            <a:avLst/>
          </a:prstGeom>
          <a:noFill/>
        </p:spPr>
        <p:txBody>
          <a:bodyPr wrap="square" anchor="t" lIns="45720" rIns="45720" tIns="27432" bIns="27432">
            <a:spAutoFit/>
          </a:bodyPr>
          <a:lstStyle/>
          <a:p>
            <a:pPr algn="l">
              <a:lnSpc>
                <a:spcPct val="112000"/>
              </a:lnSpc>
            </a:pPr>
            <a:r>
              <a:rPr sz="880" b="1">
                <a:solidFill>
                  <a:srgbClr val="1560D4"/>
                </a:solidFill>
                <a:latin typeface="Arial"/>
              </a:rPr>
              <a:t>Tổng 231 video xác thực (169 YouTube + 62 TikTok kịch bản / 68 tổng): Tích cực 132 video (57,1%) | Trung lập 74 video (32,0%) | Phản biện 25 video (10,8%)</a:t>
            </a:r>
          </a:p>
        </p:txBody>
      </p:sp>
      <p:sp>
        <p:nvSpPr>
          <p:cNvPr id="31" name="Rectangle 30"/>
          <p:cNvSpPr/>
          <p:nvPr/>
        </p:nvSpPr>
        <p:spPr>
          <a:xfrm>
            <a:off x="329184" y="4224528"/>
            <a:ext cx="5078245" cy="438912"/>
          </a:xfrm>
          <a:prstGeom prst="rect">
            <a:avLst/>
          </a:prstGeom>
          <a:solidFill>
            <a:srgbClr val="1560D4"/>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2000"/>
              </a:lnSpc>
            </a:pPr>
            <a:r>
              <a:rPr sz="880" b="1">
                <a:solidFill>
                  <a:srgbClr val="FFFFFF"/>
                </a:solidFill>
                <a:latin typeface="Arial"/>
              </a:rPr>
              <a:t>Ủng hộ TS. Trần Quốc Tuấn: 102 video (44,2%)</a:t>
            </a:r>
          </a:p>
          <a:p>
            <a:pPr algn="ctr">
              <a:lnSpc>
                <a:spcPct val="102000"/>
              </a:lnSpc>
            </a:pPr>
            <a:r>
              <a:rPr sz="880" b="1">
                <a:solidFill>
                  <a:srgbClr val="FFFFFF"/>
                </a:solidFill>
                <a:latin typeface="Arial"/>
              </a:rPr>
              <a:t>(Vlog Minh Hải, VFF Channel, Ted Trần, BLV Anh Quân)</a:t>
            </a:r>
          </a:p>
        </p:txBody>
      </p:sp>
      <p:sp>
        <p:nvSpPr>
          <p:cNvPr id="32" name="Rectangle 31"/>
          <p:cNvSpPr/>
          <p:nvPr/>
        </p:nvSpPr>
        <p:spPr>
          <a:xfrm>
            <a:off x="5416573" y="4224528"/>
            <a:ext cx="1985910" cy="438912"/>
          </a:xfrm>
          <a:prstGeom prst="rect">
            <a:avLst/>
          </a:prstGeom>
          <a:solidFill>
            <a:srgbClr val="0E94A5"/>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2000"/>
              </a:lnSpc>
            </a:pPr>
            <a:r>
              <a:rPr sz="800" b="1">
                <a:solidFill>
                  <a:srgbClr val="FFFFFF"/>
                </a:solidFill>
                <a:latin typeface="Arial"/>
              </a:rPr>
              <a:t>Khảo sát 3 ỨV: 40 video (17,3%)</a:t>
            </a:r>
          </a:p>
          <a:p>
            <a:pPr algn="ctr">
              <a:lnSpc>
                <a:spcPct val="102000"/>
              </a:lnSpc>
            </a:pPr>
            <a:r>
              <a:rPr sz="800" b="1">
                <a:solidFill>
                  <a:srgbClr val="FFFFFF"/>
                </a:solidFill>
                <a:latin typeface="Arial"/>
              </a:rPr>
              <a:t>(Ngoài đường piste, Mr Quan Ngại)</a:t>
            </a:r>
          </a:p>
        </p:txBody>
      </p:sp>
      <p:sp>
        <p:nvSpPr>
          <p:cNvPr id="33" name="Rectangle 32"/>
          <p:cNvSpPr/>
          <p:nvPr/>
        </p:nvSpPr>
        <p:spPr>
          <a:xfrm>
            <a:off x="7411627" y="4224528"/>
            <a:ext cx="639248" cy="438912"/>
          </a:xfrm>
          <a:prstGeom prst="rect">
            <a:avLst/>
          </a:prstGeom>
          <a:solidFill>
            <a:srgbClr val="444E5E"/>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2000"/>
              </a:lnSpc>
            </a:pPr>
            <a:r>
              <a:rPr sz="780" b="1">
                <a:solidFill>
                  <a:srgbClr val="FFFFFF"/>
                </a:solidFill>
                <a:latin typeface="Arial"/>
              </a:rPr>
              <a:t>Cảnh báo</a:t>
            </a:r>
          </a:p>
          <a:p>
            <a:pPr algn="ctr">
              <a:lnSpc>
                <a:spcPct val="102000"/>
              </a:lnSpc>
            </a:pPr>
            <a:r>
              <a:rPr sz="780" b="1">
                <a:solidFill>
                  <a:srgbClr val="FFFFFF"/>
                </a:solidFill>
                <a:latin typeface="Arial"/>
              </a:rPr>
              <a:t>13 (5,6%)</a:t>
            </a:r>
          </a:p>
        </p:txBody>
      </p:sp>
      <p:sp>
        <p:nvSpPr>
          <p:cNvPr id="34" name="Rectangle 33"/>
          <p:cNvSpPr/>
          <p:nvPr/>
        </p:nvSpPr>
        <p:spPr>
          <a:xfrm>
            <a:off x="8060020" y="4224528"/>
            <a:ext cx="3781459" cy="438912"/>
          </a:xfrm>
          <a:prstGeom prst="rect">
            <a:avLst/>
          </a:prstGeom>
          <a:solidFill>
            <a:srgbClr val="D62728"/>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2000"/>
              </a:lnSpc>
            </a:pPr>
            <a:r>
              <a:rPr sz="880" b="1">
                <a:solidFill>
                  <a:srgbClr val="FFFFFF"/>
                </a:solidFill>
                <a:latin typeface="Arial"/>
              </a:rPr>
              <a:t>Đẩy sóng Bầu Thụy &amp; Cam kết 1.000 tỷ: 76 video (32,9%)</a:t>
            </a:r>
          </a:p>
          <a:p>
            <a:pPr algn="ctr">
              <a:lnSpc>
                <a:spcPct val="102000"/>
              </a:lnSpc>
            </a:pPr>
            <a:r>
              <a:rPr sz="880" b="1">
                <a:solidFill>
                  <a:srgbClr val="FFFFFF"/>
                </a:solidFill>
                <a:latin typeface="Arial"/>
              </a:rPr>
              <a:t>(BÓNGĐÁ TV, Giờ Vàng TV, BÓNG ĐÁ NGÀY NAY, F247, Khuong Ballad)</a:t>
            </a:r>
          </a:p>
        </p:txBody>
      </p:sp>
      <p:sp>
        <p:nvSpPr>
          <p:cNvPr id="35" name="TextBox 34"/>
          <p:cNvSpPr txBox="1"/>
          <p:nvPr/>
        </p:nvSpPr>
        <p:spPr>
          <a:xfrm>
            <a:off x="329184" y="4690872"/>
            <a:ext cx="11521440" cy="384048"/>
          </a:xfrm>
          <a:prstGeom prst="rect">
            <a:avLst/>
          </a:prstGeom>
          <a:noFill/>
        </p:spPr>
        <p:txBody>
          <a:bodyPr wrap="square" anchor="t" lIns="45720" rIns="45720" tIns="27432" bIns="27432">
            <a:spAutoFit/>
          </a:bodyPr>
          <a:lstStyle/>
          <a:p>
            <a:pPr algn="l">
              <a:lnSpc>
                <a:spcPct val="112000"/>
              </a:lnSpc>
            </a:pPr>
            <a:r>
              <a:rPr sz="860" b="0">
                <a:solidFill>
                  <a:srgbClr val="121C2D"/>
                </a:solidFill>
                <a:latin typeface="Arial"/>
              </a:rPr>
              <a:t>• Trên YouTube &amp; TikTok ngày 21–22/10: Bùng nổ 52 video mới khai thác tuyên bố của Bầu Thụy 'huy động 600–1.000 tỷ đồng/năm, cam kết VFF không dùng ngân sách Nhà nước'.</a:t>
            </a:r>
          </a:p>
        </p:txBody>
      </p:sp>
      <p:sp>
        <p:nvSpPr>
          <p:cNvPr id="36" name="Rectangle 35"/>
          <p:cNvSpPr/>
          <p:nvPr/>
        </p:nvSpPr>
        <p:spPr>
          <a:xfrm>
            <a:off x="190195" y="5182819"/>
            <a:ext cx="11808561" cy="1375257"/>
          </a:xfrm>
          <a:prstGeom prst="rect">
            <a:avLst/>
          </a:prstGeom>
          <a:solidFill>
            <a:srgbClr val="D2DA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201168" y="5193792"/>
            <a:ext cx="11786616" cy="13533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29184" y="5239512"/>
            <a:ext cx="11521440" cy="219456"/>
          </a:xfrm>
          <a:prstGeom prst="rect">
            <a:avLst/>
          </a:prstGeom>
          <a:noFill/>
        </p:spPr>
        <p:txBody>
          <a:bodyPr wrap="square" anchor="t" lIns="45720" rIns="45720" tIns="27432" bIns="27432">
            <a:spAutoFit/>
          </a:bodyPr>
          <a:lstStyle/>
          <a:p>
            <a:pPr algn="l">
              <a:lnSpc>
                <a:spcPct val="112000"/>
              </a:lnSpc>
            </a:pPr>
            <a:r>
              <a:rPr sz="1019" b="1">
                <a:solidFill>
                  <a:srgbClr val="0B1528"/>
                </a:solidFill>
                <a:latin typeface="Arial"/>
              </a:rPr>
              <a:t>TẦNG 4: BÌNH LUẬN KHÁN GIẢ ĐA NỀN TẢNG (N = 1.414 PHIẾU BẦU CỬ / 10.514 BÌNH LUẬN THÁNG 10 / 14.469 BÌNH LUẬN THU THẬP)</a:t>
            </a:r>
          </a:p>
        </p:txBody>
      </p:sp>
      <p:sp>
        <p:nvSpPr>
          <p:cNvPr id="39" name="TextBox 38"/>
          <p:cNvSpPr txBox="1"/>
          <p:nvPr/>
        </p:nvSpPr>
        <p:spPr>
          <a:xfrm>
            <a:off x="329184" y="5440679"/>
            <a:ext cx="11521440" cy="182880"/>
          </a:xfrm>
          <a:prstGeom prst="rect">
            <a:avLst/>
          </a:prstGeom>
          <a:noFill/>
        </p:spPr>
        <p:txBody>
          <a:bodyPr wrap="square" anchor="t" lIns="45720" rIns="45720" tIns="27432" bIns="27432">
            <a:spAutoFit/>
          </a:bodyPr>
          <a:lstStyle/>
          <a:p>
            <a:pPr algn="l">
              <a:lnSpc>
                <a:spcPct val="112000"/>
              </a:lnSpc>
            </a:pPr>
            <a:r>
              <a:rPr sz="880" b="1">
                <a:solidFill>
                  <a:srgbClr val="1560D4"/>
                </a:solidFill>
                <a:latin typeface="Arial"/>
              </a:rPr>
              <a:t>Gộp 972 phiếu Facebook + 398 phiếu YouTube + 44 phiếu TikTok (N = 1.414 lá phiếu trực diện): Khối chọn TS. Tuấn làm CT đạt 586 phiếu (41,4%) vs Khối chọn Bầu Thụy đạt 405 phiếu (28,6%)</a:t>
            </a:r>
          </a:p>
        </p:txBody>
      </p:sp>
      <p:sp>
        <p:nvSpPr>
          <p:cNvPr id="40" name="Rectangle 39"/>
          <p:cNvSpPr/>
          <p:nvPr/>
        </p:nvSpPr>
        <p:spPr>
          <a:xfrm>
            <a:off x="329184" y="5650992"/>
            <a:ext cx="3779731" cy="438912"/>
          </a:xfrm>
          <a:prstGeom prst="rect">
            <a:avLst/>
          </a:prstGeom>
          <a:solidFill>
            <a:srgbClr val="1560D4"/>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2000"/>
              </a:lnSpc>
            </a:pPr>
            <a:r>
              <a:rPr sz="880" b="1">
                <a:solidFill>
                  <a:srgbClr val="FFFFFF"/>
                </a:solidFill>
                <a:latin typeface="Arial"/>
              </a:rPr>
              <a:t>Bầu thẳng TS. Tuấn CT</a:t>
            </a:r>
          </a:p>
          <a:p>
            <a:pPr algn="ctr">
              <a:lnSpc>
                <a:spcPct val="102000"/>
              </a:lnSpc>
            </a:pPr>
            <a:r>
              <a:rPr sz="880" b="1">
                <a:solidFill>
                  <a:srgbClr val="FFFFFF"/>
                </a:solidFill>
                <a:latin typeface="Arial"/>
              </a:rPr>
              <a:t>465 phiếu (32,9%)</a:t>
            </a:r>
          </a:p>
        </p:txBody>
      </p:sp>
      <p:sp>
        <p:nvSpPr>
          <p:cNvPr id="41" name="Rectangle 40"/>
          <p:cNvSpPr/>
          <p:nvPr/>
        </p:nvSpPr>
        <p:spPr>
          <a:xfrm>
            <a:off x="4118059" y="5650992"/>
            <a:ext cx="976778" cy="438912"/>
          </a:xfrm>
          <a:prstGeom prst="rect">
            <a:avLst/>
          </a:prstGeom>
          <a:solidFill>
            <a:srgbClr val="0E94A5"/>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2000"/>
              </a:lnSpc>
            </a:pPr>
            <a:r>
              <a:rPr sz="819" b="1">
                <a:solidFill>
                  <a:srgbClr val="FFFFFF"/>
                </a:solidFill>
                <a:latin typeface="Arial"/>
              </a:rPr>
              <a:t>LD1: Tuấn CT</a:t>
            </a:r>
          </a:p>
          <a:p>
            <a:pPr algn="ctr">
              <a:lnSpc>
                <a:spcPct val="102000"/>
              </a:lnSpc>
            </a:pPr>
            <a:r>
              <a:rPr sz="819" b="1">
                <a:solidFill>
                  <a:srgbClr val="FFFFFF"/>
                </a:solidFill>
                <a:latin typeface="Arial"/>
              </a:rPr>
              <a:t>121 (8,6%)</a:t>
            </a:r>
          </a:p>
        </p:txBody>
      </p:sp>
      <p:sp>
        <p:nvSpPr>
          <p:cNvPr id="42" name="Rectangle 41"/>
          <p:cNvSpPr/>
          <p:nvPr/>
        </p:nvSpPr>
        <p:spPr>
          <a:xfrm>
            <a:off x="5103981" y="5650992"/>
            <a:ext cx="1701960" cy="438912"/>
          </a:xfrm>
          <a:prstGeom prst="rect">
            <a:avLst/>
          </a:prstGeom>
          <a:solidFill>
            <a:srgbClr val="444E5E"/>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2000"/>
              </a:lnSpc>
            </a:pPr>
            <a:r>
              <a:rPr sz="840" b="1">
                <a:solidFill>
                  <a:srgbClr val="FFFFFF"/>
                </a:solidFill>
                <a:latin typeface="Arial"/>
              </a:rPr>
              <a:t>Phản đối Thụy</a:t>
            </a:r>
          </a:p>
          <a:p>
            <a:pPr algn="ctr">
              <a:lnSpc>
                <a:spcPct val="102000"/>
              </a:lnSpc>
            </a:pPr>
            <a:r>
              <a:rPr sz="840" b="1">
                <a:solidFill>
                  <a:srgbClr val="FFFFFF"/>
                </a:solidFill>
                <a:latin typeface="Arial"/>
              </a:rPr>
              <a:t>210 (14,9%)</a:t>
            </a:r>
          </a:p>
        </p:txBody>
      </p:sp>
      <p:sp>
        <p:nvSpPr>
          <p:cNvPr id="43" name="Rectangle 42"/>
          <p:cNvSpPr/>
          <p:nvPr/>
        </p:nvSpPr>
        <p:spPr>
          <a:xfrm>
            <a:off x="6815086" y="5650992"/>
            <a:ext cx="903445" cy="438912"/>
          </a:xfrm>
          <a:prstGeom prst="rect">
            <a:avLst/>
          </a:prstGeom>
          <a:solidFill>
            <a:srgbClr val="7E57C2"/>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2000"/>
              </a:lnSpc>
            </a:pPr>
            <a:r>
              <a:rPr sz="800" b="1">
                <a:solidFill>
                  <a:srgbClr val="FFFFFF"/>
                </a:solidFill>
                <a:latin typeface="Arial"/>
              </a:rPr>
              <a:t>Phản đối Tuấn</a:t>
            </a:r>
          </a:p>
          <a:p>
            <a:pPr algn="ctr">
              <a:lnSpc>
                <a:spcPct val="102000"/>
              </a:lnSpc>
            </a:pPr>
            <a:r>
              <a:rPr sz="800" b="1">
                <a:solidFill>
                  <a:srgbClr val="FFFFFF"/>
                </a:solidFill>
                <a:latin typeface="Arial"/>
              </a:rPr>
              <a:t>112 (7,9%)</a:t>
            </a:r>
          </a:p>
        </p:txBody>
      </p:sp>
      <p:sp>
        <p:nvSpPr>
          <p:cNvPr id="44" name="Rectangle 43"/>
          <p:cNvSpPr/>
          <p:nvPr/>
        </p:nvSpPr>
        <p:spPr>
          <a:xfrm>
            <a:off x="7727675" y="5650992"/>
            <a:ext cx="813815" cy="438912"/>
          </a:xfrm>
          <a:prstGeom prst="rect">
            <a:avLst/>
          </a:prstGeom>
          <a:solidFill>
            <a:srgbClr val="8C94A0"/>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2000"/>
              </a:lnSpc>
            </a:pPr>
            <a:r>
              <a:rPr sz="800" b="1">
                <a:solidFill>
                  <a:srgbClr val="FFFFFF"/>
                </a:solidFill>
                <a:latin typeface="Arial"/>
              </a:rPr>
              <a:t>Phản đối cả 2</a:t>
            </a:r>
          </a:p>
          <a:p>
            <a:pPr algn="ctr">
              <a:lnSpc>
                <a:spcPct val="102000"/>
              </a:lnSpc>
            </a:pPr>
            <a:r>
              <a:rPr sz="800" b="1">
                <a:solidFill>
                  <a:srgbClr val="FFFFFF"/>
                </a:solidFill>
                <a:latin typeface="Arial"/>
              </a:rPr>
              <a:t>101 (7,1%)</a:t>
            </a:r>
          </a:p>
        </p:txBody>
      </p:sp>
      <p:sp>
        <p:nvSpPr>
          <p:cNvPr id="45" name="Rectangle 44"/>
          <p:cNvSpPr/>
          <p:nvPr/>
        </p:nvSpPr>
        <p:spPr>
          <a:xfrm>
            <a:off x="8550635" y="5650992"/>
            <a:ext cx="748631" cy="438912"/>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2000"/>
              </a:lnSpc>
            </a:pPr>
            <a:r>
              <a:rPr sz="800" b="1">
                <a:solidFill>
                  <a:srgbClr val="FFFFFF"/>
                </a:solidFill>
                <a:latin typeface="Arial"/>
              </a:rPr>
              <a:t>LD2: Thụy CT</a:t>
            </a:r>
          </a:p>
          <a:p>
            <a:pPr algn="ctr">
              <a:lnSpc>
                <a:spcPct val="102000"/>
              </a:lnSpc>
            </a:pPr>
            <a:r>
              <a:rPr sz="800" b="1">
                <a:solidFill>
                  <a:srgbClr val="FFFFFF"/>
                </a:solidFill>
                <a:latin typeface="Arial"/>
              </a:rPr>
              <a:t>93 (6,6%)</a:t>
            </a:r>
          </a:p>
        </p:txBody>
      </p:sp>
      <p:sp>
        <p:nvSpPr>
          <p:cNvPr id="46" name="Rectangle 45"/>
          <p:cNvSpPr/>
          <p:nvPr/>
        </p:nvSpPr>
        <p:spPr>
          <a:xfrm>
            <a:off x="9308410" y="5650992"/>
            <a:ext cx="2533069" cy="438912"/>
          </a:xfrm>
          <a:prstGeom prst="rect">
            <a:avLst/>
          </a:prstGeom>
          <a:solidFill>
            <a:srgbClr val="D62728"/>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2000"/>
              </a:lnSpc>
            </a:pPr>
            <a:r>
              <a:rPr sz="880" b="1">
                <a:solidFill>
                  <a:srgbClr val="FFFFFF"/>
                </a:solidFill>
                <a:latin typeface="Arial"/>
              </a:rPr>
              <a:t>Bầu thẳng Bầu Thụy CT</a:t>
            </a:r>
          </a:p>
          <a:p>
            <a:pPr algn="ctr">
              <a:lnSpc>
                <a:spcPct val="102000"/>
              </a:lnSpc>
            </a:pPr>
            <a:r>
              <a:rPr sz="880" b="1">
                <a:solidFill>
                  <a:srgbClr val="FFFFFF"/>
                </a:solidFill>
                <a:latin typeface="Arial"/>
              </a:rPr>
              <a:t>312 phiếu (22,1%)</a:t>
            </a:r>
          </a:p>
        </p:txBody>
      </p:sp>
      <p:sp>
        <p:nvSpPr>
          <p:cNvPr id="47" name="TextBox 46"/>
          <p:cNvSpPr txBox="1"/>
          <p:nvPr/>
        </p:nvSpPr>
        <p:spPr>
          <a:xfrm>
            <a:off x="329184" y="6117336"/>
            <a:ext cx="11521440" cy="384048"/>
          </a:xfrm>
          <a:prstGeom prst="rect">
            <a:avLst/>
          </a:prstGeom>
          <a:noFill/>
        </p:spPr>
        <p:txBody>
          <a:bodyPr wrap="square" anchor="t" lIns="45720" rIns="45720" tIns="27432" bIns="27432">
            <a:spAutoFit/>
          </a:bodyPr>
          <a:lstStyle/>
          <a:p>
            <a:pPr algn="l">
              <a:lnSpc>
                <a:spcPct val="112000"/>
              </a:lnSpc>
            </a:pPr>
            <a:r>
              <a:rPr sz="860" b="0">
                <a:solidFill>
                  <a:srgbClr val="121C2D"/>
                </a:solidFill>
                <a:latin typeface="Arial"/>
              </a:rPr>
              <a:t>• Sự khác biệt cốt lõi giữa Bài đăng và Bình luận: Dù Bầu Thụy có 316 bài/video PR mạnh mẽ, xuống tầng Bình luận lại vấp phải 210 phiếu phản đối trực diện (14,9%); trong khi TS. Tuấn nhận 586 phiếu chọn làm Chủ tịch vs 112 phiếu phản đối trực diện.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6FA"/>
        </a:solidFill>
        <a:effectLst/>
      </p:bgPr>
    </p:bg>
    <p:spTree>
      <p:nvGrpSpPr>
        <p:cNvPr id="1" name=""/>
        <p:cNvGrpSpPr/>
        <p:nvPr/>
      </p:nvGrpSpPr>
      <p:grpSpPr/>
      <p:sp>
        <p:nvSpPr>
          <p:cNvPr id="2" name="Rectangle 1"/>
          <p:cNvSpPr/>
          <p:nvPr/>
        </p:nvSpPr>
        <p:spPr>
          <a:xfrm>
            <a:off x="0" y="0"/>
            <a:ext cx="4059936" cy="54864"/>
          </a:xfrm>
          <a:prstGeom prst="rect">
            <a:avLst/>
          </a:prstGeom>
          <a:solidFill>
            <a:srgbClr val="1560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059936" y="0"/>
            <a:ext cx="4069080" cy="54864"/>
          </a:xfrm>
          <a:prstGeom prst="rect">
            <a:avLst/>
          </a:prstGeom>
          <a:solidFill>
            <a:srgbClr val="F5B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129016" y="0"/>
            <a:ext cx="4059936" cy="54864"/>
          </a:xfrm>
          <a:prstGeom prst="rect">
            <a:avLst/>
          </a:prstGeom>
          <a:solidFill>
            <a:srgbClr val="D627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54864"/>
            <a:ext cx="12191695" cy="786384"/>
          </a:xfrm>
          <a:prstGeom prst="rect">
            <a:avLst/>
          </a:prstGeom>
          <a:solidFill>
            <a:srgbClr val="0B15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01168" y="128016"/>
            <a:ext cx="2029968" cy="274320"/>
          </a:xfrm>
          <a:prstGeom prst="rect">
            <a:avLst/>
          </a:prstGeom>
          <a:solidFill>
            <a:srgbClr val="1560D4"/>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860" b="1">
                <a:solidFill>
                  <a:srgbClr val="F5B400"/>
                </a:solidFill>
                <a:latin typeface="Arial"/>
              </a:rPr>
              <a:t>US ELECTION WAR-ROOM • SLIDE 4B</a:t>
            </a:r>
          </a:p>
        </p:txBody>
      </p:sp>
      <p:sp>
        <p:nvSpPr>
          <p:cNvPr id="7" name="TextBox 6"/>
          <p:cNvSpPr txBox="1"/>
          <p:nvPr/>
        </p:nvSpPr>
        <p:spPr>
          <a:xfrm>
            <a:off x="2286000" y="109728"/>
            <a:ext cx="9738360" cy="310896"/>
          </a:xfrm>
          <a:prstGeom prst="rect">
            <a:avLst/>
          </a:prstGeom>
          <a:noFill/>
        </p:spPr>
        <p:txBody>
          <a:bodyPr wrap="square" anchor="ctr" lIns="45720" rIns="45720" tIns="27432" bIns="27432">
            <a:spAutoFit/>
          </a:bodyPr>
          <a:lstStyle/>
          <a:p>
            <a:pPr algn="l">
              <a:lnSpc>
                <a:spcPct val="112000"/>
              </a:lnSpc>
            </a:pPr>
            <a:r>
              <a:rPr sz="1300" b="1">
                <a:solidFill>
                  <a:srgbClr val="FFFFFF"/>
                </a:solidFill>
                <a:latin typeface="Arial"/>
              </a:rPr>
              <a:t>CƠ CHẾ TƯƠNG TÁC &amp; DẪN DẮT HAI CHIỀU: BÁO CHÍNH THỐNG ↔ MẠNG XÃ HỘI (01/10 – 22/10/2026)</a:t>
            </a:r>
          </a:p>
        </p:txBody>
      </p:sp>
      <p:sp>
        <p:nvSpPr>
          <p:cNvPr id="8" name="TextBox 7"/>
          <p:cNvSpPr txBox="1"/>
          <p:nvPr/>
        </p:nvSpPr>
        <p:spPr>
          <a:xfrm>
            <a:off x="201168" y="475488"/>
            <a:ext cx="11795760" cy="292608"/>
          </a:xfrm>
          <a:prstGeom prst="rect">
            <a:avLst/>
          </a:prstGeom>
          <a:noFill/>
        </p:spPr>
        <p:txBody>
          <a:bodyPr wrap="square" anchor="ctr" lIns="45720" rIns="45720" tIns="27432" bIns="27432">
            <a:spAutoFit/>
          </a:bodyPr>
          <a:lstStyle/>
          <a:p>
            <a:pPr algn="l">
              <a:lnSpc>
                <a:spcPct val="112000"/>
              </a:lnSpc>
            </a:pPr>
            <a:r>
              <a:rPr sz="960" b="0">
                <a:solidFill>
                  <a:srgbClr val="C8D4E6"/>
                </a:solidFill>
                <a:latin typeface="Arial"/>
              </a:rPr>
              <a:t>Giải đáp câu hỏi: Báo chính thống và Mạng xã hội (FB, YouTube, TikTok) dẫn dắt qua lại thế nào qua 5 Pha chiến dịch?</a:t>
            </a:r>
          </a:p>
        </p:txBody>
      </p:sp>
      <p:sp>
        <p:nvSpPr>
          <p:cNvPr id="9" name="Rectangle 8"/>
          <p:cNvSpPr/>
          <p:nvPr/>
        </p:nvSpPr>
        <p:spPr>
          <a:xfrm>
            <a:off x="186537" y="899769"/>
            <a:ext cx="9767620" cy="1108252"/>
          </a:xfrm>
          <a:prstGeom prst="rect">
            <a:avLst/>
          </a:prstGeom>
          <a:solidFill>
            <a:srgbClr val="D627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01168" y="914400"/>
            <a:ext cx="9738360" cy="10789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29184" y="960120"/>
            <a:ext cx="9464040" cy="219456"/>
          </a:xfrm>
          <a:prstGeom prst="rect">
            <a:avLst/>
          </a:prstGeom>
          <a:noFill/>
        </p:spPr>
        <p:txBody>
          <a:bodyPr wrap="square" anchor="t" lIns="45720" rIns="45720" tIns="27432" bIns="27432">
            <a:spAutoFit/>
          </a:bodyPr>
          <a:lstStyle/>
          <a:p>
            <a:pPr algn="l">
              <a:lnSpc>
                <a:spcPct val="112000"/>
              </a:lnSpc>
            </a:pPr>
            <a:r>
              <a:rPr sz="1000" b="1">
                <a:solidFill>
                  <a:srgbClr val="D62728"/>
                </a:solidFill>
                <a:latin typeface="Arial"/>
              </a:rPr>
              <a:t>PHA 1 (01/10 – 12/10/2026): BÁO CHÍ &amp; YOUTUBE CHÂM NGÒI → MẠNG XÃ HỘI BẮT SÓNG</a:t>
            </a:r>
          </a:p>
        </p:txBody>
      </p:sp>
      <p:sp>
        <p:nvSpPr>
          <p:cNvPr id="12" name="TextBox 11"/>
          <p:cNvSpPr txBox="1"/>
          <p:nvPr/>
        </p:nvSpPr>
        <p:spPr>
          <a:xfrm>
            <a:off x="329184" y="1188720"/>
            <a:ext cx="9464040" cy="768096"/>
          </a:xfrm>
          <a:prstGeom prst="rect">
            <a:avLst/>
          </a:prstGeom>
          <a:noFill/>
        </p:spPr>
        <p:txBody>
          <a:bodyPr wrap="square" anchor="t" lIns="45720" rIns="45720" tIns="27432" bIns="27432">
            <a:spAutoFit/>
          </a:bodyPr>
          <a:lstStyle/>
          <a:p>
            <a:pPr algn="l">
              <a:lnSpc>
                <a:spcPct val="113000"/>
              </a:lnSpc>
            </a:pPr>
            <a:r>
              <a:rPr sz="869" b="0">
                <a:solidFill>
                  <a:srgbClr val="121C2D"/>
                </a:solidFill>
                <a:latin typeface="Arial"/>
              </a:rPr>
              <a:t>• Khởi nguồn từ Báo chí (03–04/10): 8 bài báo (Saostar, Dân Việt, Soha, CafeF, VietnamFinance) đăng phát biểu của Bầu Đức và cựu HLV Lê Thụy Hải gợi ý 'cần một doanh nhân/tỷ phú làm Chủ tịch hoặc Phó Chủ tịch VFF để có tiền đi World Cup'.</a:t>
            </a:r>
          </a:p>
          <a:p>
            <a:pPr algn="l">
              <a:lnSpc>
                <a:spcPct val="113000"/>
              </a:lnSpc>
            </a:pPr>
            <a:r>
              <a:rPr sz="869" b="0">
                <a:solidFill>
                  <a:srgbClr val="121C2D"/>
                </a:solidFill>
                <a:latin typeface="Arial"/>
              </a:rPr>
              <a:t>• Lan sang YouTube &amp; Facebook (04–10/10): Kênh Khuong Ballad, BÓNG ĐÁ NGÀY NAY, BLV Tạ Biên Cương cắt ghép video 'Vì sao Bầu Đức không tranh ghế Chủ tịch VFF mà tiến cử tỷ phú?', thu hút hơn 1.424 bình luận (trong đó riêng chủ đề phát ngôn 'cầu thủ nhập tịch thử nghiệm' ngày 07/10 thu hút 509 bình luận trên YouTube Nhím Bóng Đá &amp; Ted Trần TV).</a:t>
            </a:r>
          </a:p>
        </p:txBody>
      </p:sp>
      <p:sp>
        <p:nvSpPr>
          <p:cNvPr id="13" name="Rectangle 12"/>
          <p:cNvSpPr/>
          <p:nvPr/>
        </p:nvSpPr>
        <p:spPr>
          <a:xfrm>
            <a:off x="10025481" y="899769"/>
            <a:ext cx="1976932" cy="1108252"/>
          </a:xfrm>
          <a:prstGeom prst="rect">
            <a:avLst/>
          </a:prstGeom>
          <a:solidFill>
            <a:srgbClr val="D627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0040112" y="914400"/>
            <a:ext cx="1947672" cy="1078992"/>
          </a:xfrm>
          <a:prstGeom prst="rect">
            <a:avLst/>
          </a:prstGeom>
          <a:solidFill>
            <a:srgbClr val="F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94976" y="987552"/>
            <a:ext cx="1837943" cy="932688"/>
          </a:xfrm>
          <a:prstGeom prst="rect">
            <a:avLst/>
          </a:prstGeom>
          <a:noFill/>
        </p:spPr>
        <p:txBody>
          <a:bodyPr wrap="square" anchor="ctr" lIns="45720" rIns="45720" tIns="27432" bIns="27432">
            <a:spAutoFit/>
          </a:bodyPr>
          <a:lstStyle/>
          <a:p>
            <a:pPr algn="ctr">
              <a:lnSpc>
                <a:spcPct val="112000"/>
              </a:lnSpc>
            </a:pPr>
            <a:r>
              <a:rPr sz="919" b="1">
                <a:solidFill>
                  <a:srgbClr val="D62728"/>
                </a:solidFill>
                <a:latin typeface="Arial"/>
              </a:rPr>
              <a:t>BÁO CHÍ MỞ ĐỀ</a:t>
            </a:r>
          </a:p>
          <a:p>
            <a:pPr algn="ctr">
              <a:lnSpc>
                <a:spcPct val="112000"/>
              </a:lnSpc>
            </a:pPr>
            <a:r>
              <a:rPr sz="919" b="1">
                <a:solidFill>
                  <a:srgbClr val="D62728"/>
                </a:solidFill>
                <a:latin typeface="Arial"/>
              </a:rPr>
              <a:t>↓</a:t>
            </a:r>
          </a:p>
          <a:p>
            <a:pPr algn="ctr">
              <a:lnSpc>
                <a:spcPct val="112000"/>
              </a:lnSpc>
            </a:pPr>
            <a:r>
              <a:rPr sz="919" b="1">
                <a:solidFill>
                  <a:srgbClr val="D62728"/>
                </a:solidFill>
                <a:latin typeface="Arial"/>
              </a:rPr>
              <a:t>YOUTUBE &amp; FB</a:t>
            </a:r>
          </a:p>
          <a:p>
            <a:pPr algn="ctr">
              <a:lnSpc>
                <a:spcPct val="112000"/>
              </a:lnSpc>
            </a:pPr>
            <a:r>
              <a:rPr sz="919" b="1">
                <a:solidFill>
                  <a:srgbClr val="D62728"/>
                </a:solidFill>
                <a:latin typeface="Arial"/>
              </a:rPr>
              <a:t>KHUẾCH ĐẠI</a:t>
            </a:r>
          </a:p>
        </p:txBody>
      </p:sp>
      <p:sp>
        <p:nvSpPr>
          <p:cNvPr id="16" name="Rectangle 15"/>
          <p:cNvSpPr/>
          <p:nvPr/>
        </p:nvSpPr>
        <p:spPr>
          <a:xfrm>
            <a:off x="186537" y="2042769"/>
            <a:ext cx="9767620" cy="1108252"/>
          </a:xfrm>
          <a:prstGeom prst="rect">
            <a:avLst/>
          </a:prstGeom>
          <a:solidFill>
            <a:srgbClr val="1560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01168" y="2057400"/>
            <a:ext cx="9738360" cy="10789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29184" y="2103120"/>
            <a:ext cx="9464040" cy="219456"/>
          </a:xfrm>
          <a:prstGeom prst="rect">
            <a:avLst/>
          </a:prstGeom>
          <a:noFill/>
        </p:spPr>
        <p:txBody>
          <a:bodyPr wrap="square" anchor="t" lIns="45720" rIns="45720" tIns="27432" bIns="27432">
            <a:spAutoFit/>
          </a:bodyPr>
          <a:lstStyle/>
          <a:p>
            <a:pPr algn="l">
              <a:lnSpc>
                <a:spcPct val="112000"/>
              </a:lnSpc>
            </a:pPr>
            <a:r>
              <a:rPr sz="1000" b="1">
                <a:solidFill>
                  <a:srgbClr val="1560D4"/>
                </a:solidFill>
                <a:latin typeface="Arial"/>
              </a:rPr>
              <a:t>PHA 2 (13/10 – 16/10/2026): SOCIAL NỔ SÓNG TRƯỚC (iTHETHAO &amp; SEEDING) → KÉO BÁO CHÍ VÀO CUỘC</a:t>
            </a:r>
          </a:p>
        </p:txBody>
      </p:sp>
      <p:sp>
        <p:nvSpPr>
          <p:cNvPr id="19" name="TextBox 18"/>
          <p:cNvSpPr txBox="1"/>
          <p:nvPr/>
        </p:nvSpPr>
        <p:spPr>
          <a:xfrm>
            <a:off x="329184" y="2331720"/>
            <a:ext cx="9464040" cy="768096"/>
          </a:xfrm>
          <a:prstGeom prst="rect">
            <a:avLst/>
          </a:prstGeom>
          <a:noFill/>
        </p:spPr>
        <p:txBody>
          <a:bodyPr wrap="square" anchor="t" lIns="45720" rIns="45720" tIns="27432" bIns="27432">
            <a:spAutoFit/>
          </a:bodyPr>
          <a:lstStyle/>
          <a:p>
            <a:pPr algn="l">
              <a:lnSpc>
                <a:spcPct val="113000"/>
              </a:lnSpc>
            </a:pPr>
            <a:r>
              <a:rPr sz="869" b="0">
                <a:solidFill>
                  <a:srgbClr val="121C2D"/>
                </a:solidFill>
                <a:latin typeface="Arial"/>
              </a:rPr>
              <a:t>• Mạng xã hội phát tán tin đồn trước (13–15/10): Kênh iThethao TV (iThethao.vn), BÓNG ĐÁ NGÀY NAY (278.863 views) và Giờ Vàng TV đồng loạt giật tít 'Tỷ phú USD sắp tranh ghế Chủ tịch VFF!'. Ngay lập tức, cụm tài khoản 'Phấn Đấu' (33 bài), 'Bóng Đá 24h' (18 bài), '24h New' (13 bài) rải Infographic vào 38 hội nhóm V.League.</a:t>
            </a:r>
          </a:p>
          <a:p>
            <a:pPr algn="l">
              <a:lnSpc>
                <a:spcPct val="113000"/>
              </a:lnSpc>
            </a:pPr>
            <a:r>
              <a:rPr sz="869" b="0">
                <a:solidFill>
                  <a:srgbClr val="121C2D"/>
                </a:solidFill>
                <a:latin typeface="Arial"/>
              </a:rPr>
              <a:t>• Phản ứng định hướng của Báo chính thống (14–16/10): Báo chính thống (Lao Động, VTC News, Tuổi Trẻ, VnExpress, Bongdaplus) KHÔNG chạy theo tin đồn mà đăng 14 bài giải thích quy chế đề cử Đại hội X và điểm lại thành tích của TS. Trần Quốc Tuấn cùng gói tài trợ 650 tỷ từ FIFA.</a:t>
            </a:r>
          </a:p>
        </p:txBody>
      </p:sp>
      <p:sp>
        <p:nvSpPr>
          <p:cNvPr id="20" name="Rectangle 19"/>
          <p:cNvSpPr/>
          <p:nvPr/>
        </p:nvSpPr>
        <p:spPr>
          <a:xfrm>
            <a:off x="10025481" y="2042769"/>
            <a:ext cx="1976932" cy="1108252"/>
          </a:xfrm>
          <a:prstGeom prst="rect">
            <a:avLst/>
          </a:prstGeom>
          <a:solidFill>
            <a:srgbClr val="1560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040112" y="2057400"/>
            <a:ext cx="1947672" cy="1078992"/>
          </a:xfrm>
          <a:prstGeom prst="rect">
            <a:avLst/>
          </a:prstGeom>
          <a:solidFill>
            <a:srgbClr val="EBF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094976" y="2130552"/>
            <a:ext cx="1837943" cy="932688"/>
          </a:xfrm>
          <a:prstGeom prst="rect">
            <a:avLst/>
          </a:prstGeom>
          <a:noFill/>
        </p:spPr>
        <p:txBody>
          <a:bodyPr wrap="square" anchor="ctr" lIns="45720" rIns="45720" tIns="27432" bIns="27432">
            <a:spAutoFit/>
          </a:bodyPr>
          <a:lstStyle/>
          <a:p>
            <a:pPr algn="ctr">
              <a:lnSpc>
                <a:spcPct val="112000"/>
              </a:lnSpc>
            </a:pPr>
            <a:r>
              <a:rPr sz="919" b="1">
                <a:solidFill>
                  <a:srgbClr val="1560D4"/>
                </a:solidFill>
                <a:latin typeface="Arial"/>
              </a:rPr>
              <a:t>MXH PHÁT TÁN TRƯỚC</a:t>
            </a:r>
          </a:p>
          <a:p>
            <a:pPr algn="ctr">
              <a:lnSpc>
                <a:spcPct val="112000"/>
              </a:lnSpc>
            </a:pPr>
            <a:r>
              <a:rPr sz="919" b="1">
                <a:solidFill>
                  <a:srgbClr val="1560D4"/>
                </a:solidFill>
                <a:latin typeface="Arial"/>
              </a:rPr>
              <a:t>(iThethao/Seeding)</a:t>
            </a:r>
          </a:p>
          <a:p>
            <a:pPr algn="ctr">
              <a:lnSpc>
                <a:spcPct val="112000"/>
              </a:lnSpc>
            </a:pPr>
            <a:r>
              <a:rPr sz="919" b="1">
                <a:solidFill>
                  <a:srgbClr val="1560D4"/>
                </a:solidFill>
                <a:latin typeface="Arial"/>
              </a:rPr>
              <a:t>↓</a:t>
            </a:r>
          </a:p>
          <a:p>
            <a:pPr algn="ctr">
              <a:lnSpc>
                <a:spcPct val="112000"/>
              </a:lnSpc>
            </a:pPr>
            <a:r>
              <a:rPr sz="919" b="1">
                <a:solidFill>
                  <a:srgbClr val="1560D4"/>
                </a:solidFill>
                <a:latin typeface="Arial"/>
              </a:rPr>
              <a:t>BÁO CHÍNH THỐNG</a:t>
            </a:r>
          </a:p>
          <a:p>
            <a:pPr algn="ctr">
              <a:lnSpc>
                <a:spcPct val="112000"/>
              </a:lnSpc>
            </a:pPr>
            <a:r>
              <a:rPr sz="919" b="1">
                <a:solidFill>
                  <a:srgbClr val="1560D4"/>
                </a:solidFill>
                <a:latin typeface="Arial"/>
              </a:rPr>
              <a:t>KIỂM CHỨNG</a:t>
            </a:r>
          </a:p>
        </p:txBody>
      </p:sp>
      <p:sp>
        <p:nvSpPr>
          <p:cNvPr id="23" name="Rectangle 22"/>
          <p:cNvSpPr/>
          <p:nvPr/>
        </p:nvSpPr>
        <p:spPr>
          <a:xfrm>
            <a:off x="186537" y="3185769"/>
            <a:ext cx="9767620" cy="1108252"/>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201168" y="3200400"/>
            <a:ext cx="9738360" cy="10789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29184" y="3246120"/>
            <a:ext cx="9464040" cy="219456"/>
          </a:xfrm>
          <a:prstGeom prst="rect">
            <a:avLst/>
          </a:prstGeom>
          <a:noFill/>
        </p:spPr>
        <p:txBody>
          <a:bodyPr wrap="square" anchor="t" lIns="45720" rIns="45720" tIns="27432" bIns="27432">
            <a:spAutoFit/>
          </a:bodyPr>
          <a:lstStyle/>
          <a:p>
            <a:pPr algn="l">
              <a:lnSpc>
                <a:spcPct val="112000"/>
              </a:lnSpc>
            </a:pPr>
            <a:r>
              <a:rPr sz="1000" b="1">
                <a:solidFill>
                  <a:srgbClr val="E67E22"/>
                </a:solidFill>
                <a:latin typeface="Arial"/>
              </a:rPr>
              <a:t>PHA 3 (17/10 – 18/10/2026): BÌNH LUẬN ĐỘC GIẢ &amp; FANPAGE CHUYÊN MÔN PHẢN BIỆN → HẠ NHIỆT TIN ĐỒN</a:t>
            </a:r>
          </a:p>
        </p:txBody>
      </p:sp>
      <p:sp>
        <p:nvSpPr>
          <p:cNvPr id="26" name="TextBox 25"/>
          <p:cNvSpPr txBox="1"/>
          <p:nvPr/>
        </p:nvSpPr>
        <p:spPr>
          <a:xfrm>
            <a:off x="329184" y="3474720"/>
            <a:ext cx="9464040" cy="768096"/>
          </a:xfrm>
          <a:prstGeom prst="rect">
            <a:avLst/>
          </a:prstGeom>
          <a:noFill/>
        </p:spPr>
        <p:txBody>
          <a:bodyPr wrap="square" anchor="t" lIns="45720" rIns="45720" tIns="27432" bIns="27432">
            <a:spAutoFit/>
          </a:bodyPr>
          <a:lstStyle/>
          <a:p>
            <a:pPr algn="l">
              <a:lnSpc>
                <a:spcPct val="113000"/>
              </a:lnSpc>
            </a:pPr>
            <a:r>
              <a:rPr sz="869" b="0">
                <a:solidFill>
                  <a:srgbClr val="121C2D"/>
                </a:solidFill>
                <a:latin typeface="Arial"/>
              </a:rPr>
              <a:t>• Tự điều chỉnh trên Facebook &amp; YouTube: Các chuyên trang lớn (Anh Em Bóng Đá 205 bình luận, HattrickSport 141 bình luận, Vlog Minh Hải, BÓNG ĐÁ NGÀY NAY) đăng bài phân tích sâu bài học vỡ nợ của Madam Pang (Thái Lan) và rủi ro nhập tịch đốt giai đoạn của Erick Thohir (Indonesia).</a:t>
            </a:r>
          </a:p>
          <a:p>
            <a:pPr algn="l">
              <a:lnSpc>
                <a:spcPct val="113000"/>
              </a:lnSpc>
            </a:pPr>
            <a:r>
              <a:rPr sz="869" b="0">
                <a:solidFill>
                  <a:srgbClr val="121C2D"/>
                </a:solidFill>
                <a:latin typeface="Arial"/>
              </a:rPr>
              <a:t>• Kết quả đảo chiều: Dưới chính các bài Seeding của cụm 'Phấn Đấu', độc giả bình luận nhắc lại tiền lệ giải tán CLB Xuân Thành Sài Gòn (2013) và đổi tên đội bóng, giúp tỷ lệ ủng hộ TS. Trần Quốc Tuấn vượt lên dẫn đầu tuyệt đối.</a:t>
            </a:r>
          </a:p>
        </p:txBody>
      </p:sp>
      <p:sp>
        <p:nvSpPr>
          <p:cNvPr id="27" name="Rectangle 26"/>
          <p:cNvSpPr/>
          <p:nvPr/>
        </p:nvSpPr>
        <p:spPr>
          <a:xfrm>
            <a:off x="10025481" y="3185769"/>
            <a:ext cx="1976932" cy="1108252"/>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0040112" y="3200400"/>
            <a:ext cx="1947672" cy="1078992"/>
          </a:xfrm>
          <a:prstGeom prst="rect">
            <a:avLst/>
          </a:prstGeom>
          <a:solidFill>
            <a:srgbClr val="FFF6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094976" y="3273552"/>
            <a:ext cx="1837943" cy="932688"/>
          </a:xfrm>
          <a:prstGeom prst="rect">
            <a:avLst/>
          </a:prstGeom>
          <a:noFill/>
        </p:spPr>
        <p:txBody>
          <a:bodyPr wrap="square" anchor="ctr" lIns="45720" rIns="45720" tIns="27432" bIns="27432">
            <a:spAutoFit/>
          </a:bodyPr>
          <a:lstStyle/>
          <a:p>
            <a:pPr algn="ctr">
              <a:lnSpc>
                <a:spcPct val="112000"/>
              </a:lnSpc>
            </a:pPr>
            <a:r>
              <a:rPr sz="919" b="1">
                <a:solidFill>
                  <a:srgbClr val="E67E22"/>
                </a:solidFill>
                <a:latin typeface="Arial"/>
              </a:rPr>
              <a:t>FANPAGE &amp; ĐỘC GIẢ</a:t>
            </a:r>
          </a:p>
          <a:p>
            <a:pPr algn="ctr">
              <a:lnSpc>
                <a:spcPct val="112000"/>
              </a:lnSpc>
            </a:pPr>
            <a:r>
              <a:rPr sz="919" b="1">
                <a:solidFill>
                  <a:srgbClr val="E67E22"/>
                </a:solidFill>
                <a:latin typeface="Arial"/>
              </a:rPr>
              <a:t>PHẢN BIỆN NGƯỢC</a:t>
            </a:r>
          </a:p>
          <a:p>
            <a:pPr algn="ctr">
              <a:lnSpc>
                <a:spcPct val="112000"/>
              </a:lnSpc>
            </a:pPr>
            <a:r>
              <a:rPr sz="919" b="1">
                <a:solidFill>
                  <a:srgbClr val="E67E22"/>
                </a:solidFill>
                <a:latin typeface="Arial"/>
              </a:rPr>
              <a:t>↓</a:t>
            </a:r>
          </a:p>
          <a:p>
            <a:pPr algn="ctr">
              <a:lnSpc>
                <a:spcPct val="112000"/>
              </a:lnSpc>
            </a:pPr>
            <a:r>
              <a:rPr sz="919" b="1">
                <a:solidFill>
                  <a:srgbClr val="E67E22"/>
                </a:solidFill>
                <a:latin typeface="Arial"/>
              </a:rPr>
              <a:t>CHẶN ĐỨNG SÓNG</a:t>
            </a:r>
          </a:p>
          <a:p>
            <a:pPr algn="ctr">
              <a:lnSpc>
                <a:spcPct val="112000"/>
              </a:lnSpc>
            </a:pPr>
            <a:r>
              <a:rPr sz="919" b="1">
                <a:solidFill>
                  <a:srgbClr val="E67E22"/>
                </a:solidFill>
                <a:latin typeface="Arial"/>
              </a:rPr>
              <a:t>SEEDING ẢO</a:t>
            </a:r>
          </a:p>
        </p:txBody>
      </p:sp>
      <p:sp>
        <p:nvSpPr>
          <p:cNvPr id="30" name="Rectangle 29"/>
          <p:cNvSpPr/>
          <p:nvPr/>
        </p:nvSpPr>
        <p:spPr>
          <a:xfrm>
            <a:off x="186537" y="4328769"/>
            <a:ext cx="9767620" cy="1108252"/>
          </a:xfrm>
          <a:prstGeom prst="rect">
            <a:avLst/>
          </a:prstGeom>
          <a:solidFill>
            <a:srgbClr val="7E57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01168" y="4343400"/>
            <a:ext cx="9738360" cy="10789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29184" y="4389120"/>
            <a:ext cx="9464040" cy="219456"/>
          </a:xfrm>
          <a:prstGeom prst="rect">
            <a:avLst/>
          </a:prstGeom>
          <a:noFill/>
        </p:spPr>
        <p:txBody>
          <a:bodyPr wrap="square" anchor="t" lIns="45720" rIns="45720" tIns="27432" bIns="27432">
            <a:spAutoFit/>
          </a:bodyPr>
          <a:lstStyle/>
          <a:p>
            <a:pPr algn="l">
              <a:lnSpc>
                <a:spcPct val="112000"/>
              </a:lnSpc>
            </a:pPr>
            <a:r>
              <a:rPr sz="1000" b="1">
                <a:solidFill>
                  <a:srgbClr val="7E57C2"/>
                </a:solidFill>
                <a:latin typeface="Arial"/>
              </a:rPr>
              <a:t>PHA 4 (19/10 – 20/10/2026): BÁO KINH TẾ ĐỒNG LOẠT ĐƯA TIN '&gt;40/57 ĐỀ CỬ BẦU THỤY' ↔ BÁO THỂ THAO ĐỐI TRỌNG THỂ CHẾ</a:t>
            </a:r>
          </a:p>
        </p:txBody>
      </p:sp>
      <p:sp>
        <p:nvSpPr>
          <p:cNvPr id="33" name="TextBox 32"/>
          <p:cNvSpPr txBox="1"/>
          <p:nvPr/>
        </p:nvSpPr>
        <p:spPr>
          <a:xfrm>
            <a:off x="329184" y="4617720"/>
            <a:ext cx="9464040" cy="768096"/>
          </a:xfrm>
          <a:prstGeom prst="rect">
            <a:avLst/>
          </a:prstGeom>
          <a:noFill/>
        </p:spPr>
        <p:txBody>
          <a:bodyPr wrap="square" anchor="t" lIns="45720" rIns="45720" tIns="27432" bIns="27432">
            <a:spAutoFit/>
          </a:bodyPr>
          <a:lstStyle/>
          <a:p>
            <a:pPr algn="l">
              <a:lnSpc>
                <a:spcPct val="113000"/>
              </a:lnSpc>
            </a:pPr>
            <a:r>
              <a:rPr sz="869" b="0">
                <a:solidFill>
                  <a:srgbClr val="121C2D"/>
                </a:solidFill>
                <a:latin typeface="Arial"/>
              </a:rPr>
              <a:t>• Cú nổ Báo Kinh tế &amp; TikTok (19–20/10 — 122 bài/video): Sau hạn chót đề cử 19/10, khối Báo Kinh tế (CafeF, VietnamFinance, VietTimes, Dân Trí, SGGP) và TikTok (F247, Khuong Ballad, Mr Quan Ngại) đồng loạt đẩy tin 'Hơn 40/57 tổ chức thành viên đề cử Bầu Thụy; Bầu Hiển, Bầu Đức, Bầu Thiện ủng hộ'.</a:t>
            </a:r>
          </a:p>
          <a:p>
            <a:pPr algn="l">
              <a:lnSpc>
                <a:spcPct val="113000"/>
              </a:lnSpc>
            </a:pPr>
            <a:r>
              <a:rPr sz="869" b="0">
                <a:solidFill>
                  <a:srgbClr val="121C2D"/>
                </a:solidFill>
                <a:latin typeface="Arial"/>
              </a:rPr>
              <a:t>• Thông điệp đối trọng của TS. Trần Quốc Tuấn (20/10): Thanh Niên, Tuổi Trẻ, Bongdaplus, VFF đăng tải hoạt động của Chủ tịch VFF Trần Quốc Tuấn tại Hội nghị AFC (Tokyo, Nhật Bản) — khẳng định vị thế quốc tế độc tôn và chốt chặn phê duyệt của cơ quan chủ quản Nhà nước.</a:t>
            </a:r>
          </a:p>
        </p:txBody>
      </p:sp>
      <p:sp>
        <p:nvSpPr>
          <p:cNvPr id="34" name="Rectangle 33"/>
          <p:cNvSpPr/>
          <p:nvPr/>
        </p:nvSpPr>
        <p:spPr>
          <a:xfrm>
            <a:off x="10025481" y="4328769"/>
            <a:ext cx="1976932" cy="1108252"/>
          </a:xfrm>
          <a:prstGeom prst="rect">
            <a:avLst/>
          </a:prstGeom>
          <a:solidFill>
            <a:srgbClr val="7E57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0040112" y="4343400"/>
            <a:ext cx="1947672" cy="1078992"/>
          </a:xfrm>
          <a:prstGeom prst="rect">
            <a:avLst/>
          </a:prstGeom>
          <a:solidFill>
            <a:srgbClr val="F3EE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094976" y="4416552"/>
            <a:ext cx="1837943" cy="932688"/>
          </a:xfrm>
          <a:prstGeom prst="rect">
            <a:avLst/>
          </a:prstGeom>
          <a:noFill/>
        </p:spPr>
        <p:txBody>
          <a:bodyPr wrap="square" anchor="ctr" lIns="45720" rIns="45720" tIns="27432" bIns="27432">
            <a:spAutoFit/>
          </a:bodyPr>
          <a:lstStyle/>
          <a:p>
            <a:pPr algn="ctr">
              <a:lnSpc>
                <a:spcPct val="112000"/>
              </a:lnSpc>
            </a:pPr>
            <a:r>
              <a:rPr sz="919" b="1">
                <a:solidFill>
                  <a:srgbClr val="7E57C2"/>
                </a:solidFill>
                <a:latin typeface="Arial"/>
              </a:rPr>
              <a:t>BÁO KINH TẾ</a:t>
            </a:r>
          </a:p>
          <a:p>
            <a:pPr algn="ctr">
              <a:lnSpc>
                <a:spcPct val="112000"/>
              </a:lnSpc>
            </a:pPr>
            <a:r>
              <a:rPr sz="919" b="1">
                <a:solidFill>
                  <a:srgbClr val="7E57C2"/>
                </a:solidFill>
                <a:latin typeface="Arial"/>
              </a:rPr>
              <a:t>ĐẨY SỐ ĐỀ CỬ</a:t>
            </a:r>
          </a:p>
          <a:p>
            <a:pPr algn="ctr">
              <a:lnSpc>
                <a:spcPct val="112000"/>
              </a:lnSpc>
            </a:pPr>
            <a:r>
              <a:rPr sz="919" b="1">
                <a:solidFill>
                  <a:srgbClr val="7E57C2"/>
                </a:solidFill>
                <a:latin typeface="Arial"/>
              </a:rPr>
              <a:t>↔</a:t>
            </a:r>
          </a:p>
          <a:p>
            <a:pPr algn="ctr">
              <a:lnSpc>
                <a:spcPct val="112000"/>
              </a:lnSpc>
            </a:pPr>
            <a:r>
              <a:rPr sz="919" b="1">
                <a:solidFill>
                  <a:srgbClr val="7E57C2"/>
                </a:solidFill>
                <a:latin typeface="Arial"/>
              </a:rPr>
              <a:t>BÁO THỂ THAO</a:t>
            </a:r>
          </a:p>
          <a:p>
            <a:pPr algn="ctr">
              <a:lnSpc>
                <a:spcPct val="112000"/>
              </a:lnSpc>
            </a:pPr>
            <a:r>
              <a:rPr sz="919" b="1">
                <a:solidFill>
                  <a:srgbClr val="7E57C2"/>
                </a:solidFill>
                <a:latin typeface="Arial"/>
              </a:rPr>
              <a:t>ĐỐI TRỌNG AFC</a:t>
            </a:r>
          </a:p>
        </p:txBody>
      </p:sp>
      <p:sp>
        <p:nvSpPr>
          <p:cNvPr id="37" name="Rectangle 36"/>
          <p:cNvSpPr/>
          <p:nvPr/>
        </p:nvSpPr>
        <p:spPr>
          <a:xfrm>
            <a:off x="186537" y="5471769"/>
            <a:ext cx="9767620" cy="1108252"/>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201168" y="5486400"/>
            <a:ext cx="9738360" cy="10789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29184" y="5532120"/>
            <a:ext cx="9464040" cy="219456"/>
          </a:xfrm>
          <a:prstGeom prst="rect">
            <a:avLst/>
          </a:prstGeom>
          <a:noFill/>
        </p:spPr>
        <p:txBody>
          <a:bodyPr wrap="square" anchor="t" lIns="45720" rIns="45720" tIns="27432" bIns="27432">
            <a:spAutoFit/>
          </a:bodyPr>
          <a:lstStyle/>
          <a:p>
            <a:pPr algn="l">
              <a:lnSpc>
                <a:spcPct val="112000"/>
              </a:lnSpc>
            </a:pPr>
            <a:r>
              <a:rPr sz="1000" b="1">
                <a:solidFill>
                  <a:srgbClr val="16A34A"/>
                </a:solidFill>
                <a:latin typeface="Arial"/>
              </a:rPr>
              <a:t>PHA 5 MỚI (21/10 – 22/10/2026): BẦU THỤY TUNG CAM KẾT '600–1.000 TỶ/NĂM' → DƯ LUẬN CHIA TÁCH 2 KỊCH BẢN LIÊN DANH</a:t>
            </a:r>
          </a:p>
        </p:txBody>
      </p:sp>
      <p:sp>
        <p:nvSpPr>
          <p:cNvPr id="40" name="TextBox 39"/>
          <p:cNvSpPr txBox="1"/>
          <p:nvPr/>
        </p:nvSpPr>
        <p:spPr>
          <a:xfrm>
            <a:off x="329184" y="5760720"/>
            <a:ext cx="9464040" cy="768096"/>
          </a:xfrm>
          <a:prstGeom prst="rect">
            <a:avLst/>
          </a:prstGeom>
          <a:noFill/>
        </p:spPr>
        <p:txBody>
          <a:bodyPr wrap="square" anchor="t" lIns="45720" rIns="45720" tIns="27432" bIns="27432">
            <a:spAutoFit/>
          </a:bodyPr>
          <a:lstStyle/>
          <a:p>
            <a:pPr algn="l">
              <a:lnSpc>
                <a:spcPct val="113000"/>
              </a:lnSpc>
            </a:pPr>
            <a:r>
              <a:rPr sz="869" b="0">
                <a:solidFill>
                  <a:srgbClr val="121C2D"/>
                </a:solidFill>
                <a:latin typeface="Arial"/>
              </a:rPr>
              <a:t>• Tuyên bố Chương trình hành động Tài chính (21–22/10 — 85 bài/video mới): Bầu Thụy chính thức lên tiếng trên Báo chí, YouTube (Vlog Minh Hải 69,7K views, BÓNGĐÁ TV 31K views, Ngoài đường piste 22,8K views) và TikTok (TVH Sports, Business Insight, Cao Duy Phong) cam kết 'Huy động 600–1.000 tỷ đồng/năm cho VFF, tự chủ tài chính, không dùng ngân sách Nhà nước'; đồng thời VFF công bố lịch Đại hội dự kiến 04/01/2027.</a:t>
            </a:r>
          </a:p>
          <a:p>
            <a:pPr algn="l">
              <a:lnSpc>
                <a:spcPct val="113000"/>
              </a:lnSpc>
            </a:pPr>
            <a:r>
              <a:rPr sz="869" b="0">
                <a:solidFill>
                  <a:srgbClr val="121C2D"/>
                </a:solidFill>
                <a:latin typeface="Arial"/>
              </a:rPr>
              <a:t>• Phản ứng của Độc giả (21–22/10): Một mặt tạo thiện cảm về nguồn tiền tài trợ, mặt khác thúc đẩy 214 bình luận đề xuất 'Liên danh kết hợp' (121 phiếu muốn giữ TS. Tuấn làm Chủ tịch + Bầu Thụy làm Phó Tài chính vs 93 phiếu muốn Bầu Thụy làm Chủ tịch + TS. Tuấn làm Phó Chuyên môn).</a:t>
            </a:r>
          </a:p>
        </p:txBody>
      </p:sp>
      <p:sp>
        <p:nvSpPr>
          <p:cNvPr id="41" name="Rectangle 40"/>
          <p:cNvSpPr/>
          <p:nvPr/>
        </p:nvSpPr>
        <p:spPr>
          <a:xfrm>
            <a:off x="10025481" y="5471769"/>
            <a:ext cx="1976932" cy="1108252"/>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10040112" y="5486400"/>
            <a:ext cx="1947672" cy="1078992"/>
          </a:xfrm>
          <a:prstGeom prst="rect">
            <a:avLst/>
          </a:prstGeom>
          <a:solidFill>
            <a:srgbClr val="EAFA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094976" y="5559552"/>
            <a:ext cx="1837943" cy="932688"/>
          </a:xfrm>
          <a:prstGeom prst="rect">
            <a:avLst/>
          </a:prstGeom>
          <a:noFill/>
        </p:spPr>
        <p:txBody>
          <a:bodyPr wrap="square" anchor="ctr" lIns="45720" rIns="45720" tIns="27432" bIns="27432">
            <a:spAutoFit/>
          </a:bodyPr>
          <a:lstStyle/>
          <a:p>
            <a:pPr algn="ctr">
              <a:lnSpc>
                <a:spcPct val="112000"/>
              </a:lnSpc>
            </a:pPr>
            <a:r>
              <a:rPr sz="919" b="1">
                <a:solidFill>
                  <a:srgbClr val="16A34A"/>
                </a:solidFill>
                <a:latin typeface="Arial"/>
              </a:rPr>
              <a:t>CAM KẾT 1.000 TỶ</a:t>
            </a:r>
          </a:p>
          <a:p>
            <a:pPr algn="ctr">
              <a:lnSpc>
                <a:spcPct val="112000"/>
              </a:lnSpc>
            </a:pPr>
            <a:r>
              <a:rPr sz="919" b="1">
                <a:solidFill>
                  <a:srgbClr val="16A34A"/>
                </a:solidFill>
                <a:latin typeface="Arial"/>
              </a:rPr>
              <a:t>TRÊN BÁO &amp; YT/TT</a:t>
            </a:r>
          </a:p>
          <a:p>
            <a:pPr algn="ctr">
              <a:lnSpc>
                <a:spcPct val="112000"/>
              </a:lnSpc>
            </a:pPr>
            <a:r>
              <a:rPr sz="919" b="1">
                <a:solidFill>
                  <a:srgbClr val="16A34A"/>
                </a:solidFill>
                <a:latin typeface="Arial"/>
              </a:rPr>
              <a:t>↓</a:t>
            </a:r>
          </a:p>
          <a:p>
            <a:pPr algn="ctr">
              <a:lnSpc>
                <a:spcPct val="112000"/>
              </a:lnSpc>
            </a:pPr>
            <a:r>
              <a:rPr sz="919" b="1">
                <a:solidFill>
                  <a:srgbClr val="16A34A"/>
                </a:solidFill>
                <a:latin typeface="Arial"/>
              </a:rPr>
              <a:t>HỘI TỤ KỊCH BẢN</a:t>
            </a:r>
          </a:p>
          <a:p>
            <a:pPr algn="ctr">
              <a:lnSpc>
                <a:spcPct val="112000"/>
              </a:lnSpc>
            </a:pPr>
            <a:r>
              <a:rPr sz="919" b="1">
                <a:solidFill>
                  <a:srgbClr val="16A34A"/>
                </a:solidFill>
                <a:latin typeface="Arial"/>
              </a:rPr>
              <a:t>LIÊN DANH</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6FA"/>
        </a:solidFill>
        <a:effectLst/>
      </p:bgPr>
    </p:bg>
    <p:spTree>
      <p:nvGrpSpPr>
        <p:cNvPr id="1" name=""/>
        <p:cNvGrpSpPr/>
        <p:nvPr/>
      </p:nvGrpSpPr>
      <p:grpSpPr/>
      <p:sp>
        <p:nvSpPr>
          <p:cNvPr id="2" name="Rectangle 1"/>
          <p:cNvSpPr/>
          <p:nvPr/>
        </p:nvSpPr>
        <p:spPr>
          <a:xfrm>
            <a:off x="0" y="0"/>
            <a:ext cx="4059936" cy="54864"/>
          </a:xfrm>
          <a:prstGeom prst="rect">
            <a:avLst/>
          </a:prstGeom>
          <a:solidFill>
            <a:srgbClr val="1560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059936" y="0"/>
            <a:ext cx="4069080" cy="54864"/>
          </a:xfrm>
          <a:prstGeom prst="rect">
            <a:avLst/>
          </a:prstGeom>
          <a:solidFill>
            <a:srgbClr val="F5B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129016" y="0"/>
            <a:ext cx="4059936" cy="54864"/>
          </a:xfrm>
          <a:prstGeom prst="rect">
            <a:avLst/>
          </a:prstGeom>
          <a:solidFill>
            <a:srgbClr val="D627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54864"/>
            <a:ext cx="12191695" cy="786384"/>
          </a:xfrm>
          <a:prstGeom prst="rect">
            <a:avLst/>
          </a:prstGeom>
          <a:solidFill>
            <a:srgbClr val="0B15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01168" y="128016"/>
            <a:ext cx="2029968" cy="274320"/>
          </a:xfrm>
          <a:prstGeom prst="rect">
            <a:avLst/>
          </a:prstGeom>
          <a:solidFill>
            <a:srgbClr val="1560D4"/>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860" b="1">
                <a:solidFill>
                  <a:srgbClr val="F5B400"/>
                </a:solidFill>
                <a:latin typeface="Arial"/>
              </a:rPr>
              <a:t>US ELECTION WAR-ROOM • SLIDE 4C</a:t>
            </a:r>
          </a:p>
        </p:txBody>
      </p:sp>
      <p:sp>
        <p:nvSpPr>
          <p:cNvPr id="7" name="TextBox 6"/>
          <p:cNvSpPr txBox="1"/>
          <p:nvPr/>
        </p:nvSpPr>
        <p:spPr>
          <a:xfrm>
            <a:off x="2286000" y="109728"/>
            <a:ext cx="9738360" cy="310896"/>
          </a:xfrm>
          <a:prstGeom prst="rect">
            <a:avLst/>
          </a:prstGeom>
          <a:noFill/>
        </p:spPr>
        <p:txBody>
          <a:bodyPr wrap="square" anchor="ctr" lIns="45720" rIns="45720" tIns="27432" bIns="27432">
            <a:spAutoFit/>
          </a:bodyPr>
          <a:lstStyle/>
          <a:p>
            <a:pPr algn="l">
              <a:lnSpc>
                <a:spcPct val="112000"/>
              </a:lnSpc>
            </a:pPr>
            <a:r>
              <a:rPr sz="1300" b="1">
                <a:solidFill>
                  <a:srgbClr val="FFFFFF"/>
                </a:solidFill>
                <a:latin typeface="Arial"/>
              </a:rPr>
              <a:t>HỆ THỐNG QUAN ĐIỂM DẪN DẮT CHỦ ĐẠO: LOGIC ỦNG HỘ vs. LOGIC PHẢN ĐỐI TỪNG ỨNG VIÊN</a:t>
            </a:r>
          </a:p>
        </p:txBody>
      </p:sp>
      <p:sp>
        <p:nvSpPr>
          <p:cNvPr id="8" name="TextBox 7"/>
          <p:cNvSpPr txBox="1"/>
          <p:nvPr/>
        </p:nvSpPr>
        <p:spPr>
          <a:xfrm>
            <a:off x="201168" y="475488"/>
            <a:ext cx="11795760" cy="292608"/>
          </a:xfrm>
          <a:prstGeom prst="rect">
            <a:avLst/>
          </a:prstGeom>
          <a:noFill/>
        </p:spPr>
        <p:txBody>
          <a:bodyPr wrap="square" anchor="ctr" lIns="45720" rIns="45720" tIns="27432" bIns="27432">
            <a:spAutoFit/>
          </a:bodyPr>
          <a:lstStyle/>
          <a:p>
            <a:pPr algn="l">
              <a:lnSpc>
                <a:spcPct val="112000"/>
              </a:lnSpc>
            </a:pPr>
            <a:r>
              <a:rPr sz="960" b="0">
                <a:solidFill>
                  <a:srgbClr val="C8D4E6"/>
                </a:solidFill>
                <a:latin typeface="Arial"/>
              </a:rPr>
              <a:t>Giải phẫu chi tiết các lập luận cốt lõi trên Báo chí, Mạng xã hội (FB/YouTube/TikTok) và Bình luận độc giả (01/10 – 22/10/2026)</a:t>
            </a:r>
          </a:p>
        </p:txBody>
      </p:sp>
      <p:sp>
        <p:nvSpPr>
          <p:cNvPr id="9" name="Rectangle 8"/>
          <p:cNvSpPr/>
          <p:nvPr/>
        </p:nvSpPr>
        <p:spPr>
          <a:xfrm>
            <a:off x="186537" y="899769"/>
            <a:ext cx="3851452" cy="5771692"/>
          </a:xfrm>
          <a:prstGeom prst="rect">
            <a:avLst/>
          </a:prstGeom>
          <a:solidFill>
            <a:srgbClr val="1560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01168" y="914400"/>
            <a:ext cx="3822191" cy="57424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01168" y="914400"/>
            <a:ext cx="3822191" cy="402336"/>
          </a:xfrm>
          <a:prstGeom prst="rect">
            <a:avLst/>
          </a:prstGeom>
          <a:solidFill>
            <a:srgbClr val="1560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92608" y="950976"/>
            <a:ext cx="3639312" cy="329184"/>
          </a:xfrm>
          <a:prstGeom prst="rect">
            <a:avLst/>
          </a:prstGeom>
          <a:noFill/>
        </p:spPr>
        <p:txBody>
          <a:bodyPr wrap="square" anchor="ctr" lIns="45720" rIns="45720" tIns="27432" bIns="27432">
            <a:spAutoFit/>
          </a:bodyPr>
          <a:lstStyle/>
          <a:p>
            <a:pPr algn="ctr">
              <a:lnSpc>
                <a:spcPct val="112000"/>
              </a:lnSpc>
            </a:pPr>
            <a:r>
              <a:rPr sz="950" b="1">
                <a:solidFill>
                  <a:srgbClr val="FFFFFF"/>
                </a:solidFill>
                <a:latin typeface="Arial"/>
              </a:rPr>
              <a:t>1. TS. TRẦN QUỐC TUẤN (ĐƯƠNG NHIỆM)</a:t>
            </a:r>
          </a:p>
          <a:p>
            <a:pPr algn="ctr">
              <a:lnSpc>
                <a:spcPct val="112000"/>
              </a:lnSpc>
            </a:pPr>
            <a:r>
              <a:rPr sz="950" b="1">
                <a:solidFill>
                  <a:srgbClr val="FFFFFF"/>
                </a:solidFill>
                <a:latin typeface="Arial"/>
              </a:rPr>
              <a:t>596 Bài/Video • 586 Phiếu Bầu CT vs 112 Phản Đối</a:t>
            </a:r>
          </a:p>
        </p:txBody>
      </p:sp>
      <p:sp>
        <p:nvSpPr>
          <p:cNvPr id="13" name="Rectangle 12"/>
          <p:cNvSpPr/>
          <p:nvPr/>
        </p:nvSpPr>
        <p:spPr>
          <a:xfrm>
            <a:off x="299923" y="1360627"/>
            <a:ext cx="3624681" cy="2856585"/>
          </a:xfrm>
          <a:prstGeom prst="rect">
            <a:avLst/>
          </a:prstGeom>
          <a:solidFill>
            <a:srgbClr val="1560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10896" y="1371600"/>
            <a:ext cx="3602736" cy="2834640"/>
          </a:xfrm>
          <a:prstGeom prst="rect">
            <a:avLst/>
          </a:prstGeom>
          <a:solidFill>
            <a:srgbClr val="EBF3FF"/>
          </a:solidFill>
          <a:ln>
            <a:noFill/>
          </a:ln>
        </p:spPr>
        <p:style>
          <a:lnRef idx="1">
            <a:schemeClr val="accent1"/>
          </a:lnRef>
          <a:fillRef idx="3">
            <a:schemeClr val="accent1"/>
          </a:fillRef>
          <a:effectRef idx="2">
            <a:schemeClr val="accent1"/>
          </a:effectRef>
          <a:fontRef idx="minor">
            <a:schemeClr val="lt1"/>
          </a:fontRef>
        </p:style>
        <p:txBody>
          <a:bodyPr rtlCol="0" anchor="t" wrap="square" lIns="82296" rIns="82296" tIns="36576" bIns="36576"/>
          <a:lstStyle/>
          <a:p>
            <a:pPr algn="l">
              <a:lnSpc>
                <a:spcPct val="104000"/>
              </a:lnSpc>
              <a:spcAft>
                <a:spcPts val="200"/>
              </a:spcAft>
            </a:pPr>
            <a:r>
              <a:rPr sz="930" b="1">
                <a:solidFill>
                  <a:srgbClr val="1560D4"/>
                </a:solidFill>
                <a:latin typeface="Arial"/>
              </a:rPr>
              <a:t>A. LUẬN ĐIỂM ỦNG HỘ CHỦ ĐẠO (433 Bài + 586 Bình luận)</a:t>
            </a:r>
          </a:p>
          <a:p>
            <a:pPr algn="l">
              <a:lnSpc>
                <a:spcPct val="104000"/>
              </a:lnSpc>
              <a:spcAft>
                <a:spcPts val="200"/>
              </a:spcAft>
            </a:pPr>
            <a:r>
              <a:rPr sz="800" b="0">
                <a:solidFill>
                  <a:srgbClr val="121C2D"/>
                </a:solidFill>
                <a:latin typeface="Arial"/>
              </a:rPr>
              <a:t>[1] Vị thế Ngoại giao Quốc tế Độc tôn (AFC / FIFA / AFF):</a:t>
            </a:r>
            <a:br/>
            <a:r>
              <a:rPr sz="800" b="0">
                <a:solidFill>
                  <a:srgbClr val="121C2D"/>
                </a:solidFill>
                <a:latin typeface="Arial"/>
              </a:rPr>
              <a:t>Ủy viên Thường vụ AFC, Trưởng ban Thi đấu AFC — tài sản ngoại giao tích lũy 20 năm giúp Việt Nam giành quyền đăng cai giải châu Á và nhận gói hỗ trợ 650 tỷ từ FIFA.</a:t>
            </a:r>
          </a:p>
          <a:p>
            <a:pPr algn="l">
              <a:lnSpc>
                <a:spcPct val="104000"/>
              </a:lnSpc>
              <a:spcAft>
                <a:spcPts val="200"/>
              </a:spcAft>
            </a:pPr>
            <a:r>
              <a:rPr sz="800" b="0">
                <a:solidFill>
                  <a:srgbClr val="121C2D"/>
                </a:solidFill>
                <a:latin typeface="Arial"/>
              </a:rPr>
              <a:t>[2] Kỷ lục Thành tích Toàn diện Nhiệm kỳ IX (2022–2026):</a:t>
            </a:r>
            <a:br/>
            <a:r>
              <a:rPr sz="800" b="0">
                <a:solidFill>
                  <a:srgbClr val="121C2D"/>
                </a:solidFill>
                <a:latin typeface="Arial"/>
              </a:rPr>
              <a:t>7 đội tuyển Quốc gia (Nam, Nữ, Futsal, U23, U20, U17) cùng lọt vào VCK Châu Á; Vô địch ASEAN Cup; phủ sóng VAR toàn diện V.League.</a:t>
            </a:r>
          </a:p>
          <a:p>
            <a:pPr algn="l">
              <a:lnSpc>
                <a:spcPct val="104000"/>
              </a:lnSpc>
              <a:spcAft>
                <a:spcPts val="200"/>
              </a:spcAft>
            </a:pPr>
            <a:r>
              <a:rPr sz="800" b="0">
                <a:solidFill>
                  <a:srgbClr val="121C2D"/>
                </a:solidFill>
                <a:latin typeface="Arial"/>
              </a:rPr>
              <a:t>[3] Chuyên trách 100% &amp; Trung lập Giải đấu:</a:t>
            </a:r>
            <a:br/>
            <a:r>
              <a:rPr sz="800" b="0">
                <a:solidFill>
                  <a:srgbClr val="121C2D"/>
                </a:solidFill>
                <a:latin typeface="Arial"/>
              </a:rPr>
              <a:t>Không sở hữu CLB nên không bị xung đột lợi ích ('vừa đá bóng vừa thổi còi'), giữ sự công tâm trong điều hành trọng tài và giải chuyên nghiệp.</a:t>
            </a:r>
          </a:p>
          <a:p>
            <a:pPr algn="l">
              <a:lnSpc>
                <a:spcPct val="104000"/>
              </a:lnSpc>
              <a:spcAft>
                <a:spcPts val="0"/>
              </a:spcAft>
            </a:pPr>
            <a:r>
              <a:rPr sz="800" b="0">
                <a:solidFill>
                  <a:srgbClr val="121C2D"/>
                </a:solidFill>
                <a:latin typeface="Arial"/>
              </a:rPr>
              <a:t>[4] Bài học Nhãn tiền tại Đông Nam Á:</a:t>
            </a:r>
            <a:br/>
            <a:r>
              <a:rPr sz="800" b="0">
                <a:solidFill>
                  <a:srgbClr val="121C2D"/>
                </a:solidFill>
                <a:latin typeface="Arial"/>
              </a:rPr>
              <a:t>Khán giả dẫn chứng Madam Pang (Thái Lan) và Erick Thohir (Indonesia) để khẳng định Chủ tịch Liên đoàn cần nhà quản trị thể chế hơn là tỷ phú tự phát.</a:t>
            </a:r>
          </a:p>
        </p:txBody>
      </p:sp>
      <p:sp>
        <p:nvSpPr>
          <p:cNvPr id="15" name="Rectangle 14"/>
          <p:cNvSpPr/>
          <p:nvPr/>
        </p:nvSpPr>
        <p:spPr>
          <a:xfrm>
            <a:off x="299923" y="4268419"/>
            <a:ext cx="3624681" cy="2289657"/>
          </a:xfrm>
          <a:prstGeom prst="rect">
            <a:avLst/>
          </a:prstGeom>
          <a:solidFill>
            <a:srgbClr val="7E57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10896" y="4279392"/>
            <a:ext cx="3602736" cy="2267712"/>
          </a:xfrm>
          <a:prstGeom prst="rect">
            <a:avLst/>
          </a:prstGeom>
          <a:solidFill>
            <a:srgbClr val="F3EEFC"/>
          </a:solidFill>
          <a:ln>
            <a:noFill/>
          </a:ln>
        </p:spPr>
        <p:style>
          <a:lnRef idx="1">
            <a:schemeClr val="accent1"/>
          </a:lnRef>
          <a:fillRef idx="3">
            <a:schemeClr val="accent1"/>
          </a:fillRef>
          <a:effectRef idx="2">
            <a:schemeClr val="accent1"/>
          </a:effectRef>
          <a:fontRef idx="minor">
            <a:schemeClr val="lt1"/>
          </a:fontRef>
        </p:style>
        <p:txBody>
          <a:bodyPr rtlCol="0" anchor="t" wrap="square" lIns="82296" rIns="82296" tIns="36576" bIns="36576"/>
          <a:lstStyle/>
          <a:p>
            <a:pPr algn="l">
              <a:lnSpc>
                <a:spcPct val="104000"/>
              </a:lnSpc>
              <a:spcAft>
                <a:spcPts val="200"/>
              </a:spcAft>
            </a:pPr>
            <a:r>
              <a:rPr sz="930" b="1">
                <a:solidFill>
                  <a:srgbClr val="7E57C2"/>
                </a:solidFill>
                <a:latin typeface="Arial"/>
              </a:rPr>
              <a:t>B. LUẬN ĐIỂM PHẢN ĐỐI / CHỈ TRÍCH (12 Bài + 112 Bình luận)</a:t>
            </a:r>
          </a:p>
          <a:p>
            <a:pPr algn="l">
              <a:lnSpc>
                <a:spcPct val="104000"/>
              </a:lnSpc>
              <a:spcAft>
                <a:spcPts val="200"/>
              </a:spcAft>
            </a:pPr>
            <a:r>
              <a:rPr sz="800" b="0">
                <a:solidFill>
                  <a:srgbClr val="121C2D"/>
                </a:solidFill>
                <a:latin typeface="Arial"/>
              </a:rPr>
              <a:t>[1] Tâm lý Muốn Đổi mới Thượng tầng sau Nhiều Nhiệm kỳ:</a:t>
            </a:r>
            <a:br/>
            <a:r>
              <a:rPr sz="800" b="0">
                <a:solidFill>
                  <a:srgbClr val="121C2D"/>
                </a:solidFill>
                <a:latin typeface="Arial"/>
              </a:rPr>
              <a:t>112 bình luận trực diện cho rằng ông Tuấn đã gắn bó quá lâu tại VFF (từ Tổng Thư ký, Phó CT đến Chủ tịch), cần nhường ghế cho nhân tố mới đột phá hơn.</a:t>
            </a:r>
          </a:p>
          <a:p>
            <a:pPr algn="l">
              <a:lnSpc>
                <a:spcPct val="104000"/>
              </a:lnSpc>
              <a:spcAft>
                <a:spcPts val="200"/>
              </a:spcAft>
            </a:pPr>
            <a:r>
              <a:rPr sz="800" b="0">
                <a:solidFill>
                  <a:srgbClr val="121C2D"/>
                </a:solidFill>
                <a:latin typeface="Arial"/>
              </a:rPr>
              <a:t>[2] Phản ứng với Phát ngôn 'Nhập tịch Thử nghiệm' (07/10):</a:t>
            </a:r>
            <a:br/>
            <a:r>
              <a:rPr sz="800" b="0">
                <a:solidFill>
                  <a:srgbClr val="121C2D"/>
                </a:solidFill>
                <a:latin typeface="Arial"/>
              </a:rPr>
              <a:t>Làn sóng chỉ trích phát ngôn của quan chức VFF rằng việc gọi cầu thủ nhập tịch dự FIFA ASEAN Cup 2026 'chỉ mang tính thử nghiệm' và nỗi lo ĐTQG hụt hơi trước Indonesia.</a:t>
            </a:r>
          </a:p>
          <a:p>
            <a:pPr algn="l">
              <a:lnSpc>
                <a:spcPct val="104000"/>
              </a:lnSpc>
              <a:spcAft>
                <a:spcPts val="0"/>
              </a:spcAft>
            </a:pPr>
            <a:r>
              <a:rPr sz="800" b="0">
                <a:solidFill>
                  <a:srgbClr val="121C2D"/>
                </a:solidFill>
                <a:latin typeface="Arial"/>
              </a:rPr>
              <a:t>[3] Điểm yếu Huy động Nguồn tiền Đột biến:</a:t>
            </a:r>
            <a:br/>
            <a:r>
              <a:rPr sz="800" b="0">
                <a:solidFill>
                  <a:srgbClr val="121C2D"/>
                </a:solidFill>
                <a:latin typeface="Arial"/>
              </a:rPr>
              <a:t>Bị so sánh với các ông bầu về khả năng tự bỏ tiền túi thưởng nóng hàng chục tỷ đồng hoặc trả lương siêu HLV ngoại.</a:t>
            </a:r>
          </a:p>
        </p:txBody>
      </p:sp>
      <p:sp>
        <p:nvSpPr>
          <p:cNvPr id="17" name="Rectangle 16"/>
          <p:cNvSpPr/>
          <p:nvPr/>
        </p:nvSpPr>
        <p:spPr>
          <a:xfrm>
            <a:off x="4155033" y="899769"/>
            <a:ext cx="3851452" cy="5771692"/>
          </a:xfrm>
          <a:prstGeom prst="rect">
            <a:avLst/>
          </a:prstGeom>
          <a:solidFill>
            <a:srgbClr val="D627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169663" y="914400"/>
            <a:ext cx="3822191" cy="57424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169663" y="914400"/>
            <a:ext cx="3822191" cy="402336"/>
          </a:xfrm>
          <a:prstGeom prst="rect">
            <a:avLst/>
          </a:prstGeom>
          <a:solidFill>
            <a:srgbClr val="D627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61104" y="950976"/>
            <a:ext cx="3639312" cy="329184"/>
          </a:xfrm>
          <a:prstGeom prst="rect">
            <a:avLst/>
          </a:prstGeom>
          <a:noFill/>
        </p:spPr>
        <p:txBody>
          <a:bodyPr wrap="square" anchor="ctr" lIns="45720" rIns="45720" tIns="27432" bIns="27432">
            <a:spAutoFit/>
          </a:bodyPr>
          <a:lstStyle/>
          <a:p>
            <a:pPr algn="ctr">
              <a:lnSpc>
                <a:spcPct val="112000"/>
              </a:lnSpc>
            </a:pPr>
            <a:r>
              <a:rPr sz="950" b="1">
                <a:solidFill>
                  <a:srgbClr val="FFFFFF"/>
                </a:solidFill>
                <a:latin typeface="Arial"/>
              </a:rPr>
              <a:t>2. ÔNG NGUYỄN ĐỨC THỤY (BẦU THỤY)</a:t>
            </a:r>
          </a:p>
          <a:p>
            <a:pPr algn="ctr">
              <a:lnSpc>
                <a:spcPct val="112000"/>
              </a:lnSpc>
            </a:pPr>
            <a:r>
              <a:rPr sz="950" b="1">
                <a:solidFill>
                  <a:srgbClr val="FFFFFF"/>
                </a:solidFill>
                <a:latin typeface="Arial"/>
              </a:rPr>
              <a:t>454 Bài/Video • 405 Phiếu Bầu CT vs 210 Phản Đối</a:t>
            </a:r>
          </a:p>
        </p:txBody>
      </p:sp>
      <p:sp>
        <p:nvSpPr>
          <p:cNvPr id="21" name="Rectangle 20"/>
          <p:cNvSpPr/>
          <p:nvPr/>
        </p:nvSpPr>
        <p:spPr>
          <a:xfrm>
            <a:off x="4268419" y="1360627"/>
            <a:ext cx="3624681" cy="2856585"/>
          </a:xfrm>
          <a:prstGeom prst="rect">
            <a:avLst/>
          </a:prstGeom>
          <a:solidFill>
            <a:srgbClr val="D627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279392" y="1371600"/>
            <a:ext cx="3602736" cy="2834640"/>
          </a:xfrm>
          <a:prstGeom prst="rect">
            <a:avLst/>
          </a:prstGeom>
          <a:solidFill>
            <a:srgbClr val="FEEEEE"/>
          </a:solidFill>
          <a:ln>
            <a:noFill/>
          </a:ln>
        </p:spPr>
        <p:style>
          <a:lnRef idx="1">
            <a:schemeClr val="accent1"/>
          </a:lnRef>
          <a:fillRef idx="3">
            <a:schemeClr val="accent1"/>
          </a:fillRef>
          <a:effectRef idx="2">
            <a:schemeClr val="accent1"/>
          </a:effectRef>
          <a:fontRef idx="minor">
            <a:schemeClr val="lt1"/>
          </a:fontRef>
        </p:style>
        <p:txBody>
          <a:bodyPr rtlCol="0" anchor="t" wrap="square" lIns="82296" rIns="82296" tIns="36576" bIns="36576"/>
          <a:lstStyle/>
          <a:p>
            <a:pPr algn="l">
              <a:lnSpc>
                <a:spcPct val="104000"/>
              </a:lnSpc>
              <a:spcAft>
                <a:spcPts val="200"/>
              </a:spcAft>
            </a:pPr>
            <a:r>
              <a:rPr sz="930" b="1">
                <a:solidFill>
                  <a:srgbClr val="D62728"/>
                </a:solidFill>
                <a:latin typeface="Arial"/>
              </a:rPr>
              <a:t>A. LUẬN ĐIỂM ỦNG HỘ CHỦ ĐẠO (316 Bài + 405 Bình luận)</a:t>
            </a:r>
          </a:p>
          <a:p>
            <a:pPr algn="l">
              <a:lnSpc>
                <a:spcPct val="104000"/>
              </a:lnSpc>
              <a:spcAft>
                <a:spcPts val="200"/>
              </a:spcAft>
            </a:pPr>
            <a:r>
              <a:rPr sz="800" b="0">
                <a:solidFill>
                  <a:srgbClr val="121C2D"/>
                </a:solidFill>
                <a:latin typeface="Arial"/>
              </a:rPr>
              <a:t>[1] Cam kết Huy động 600–1.000 Tỷ/Năm &amp; Không dùng Ngân sách:</a:t>
            </a:r>
            <a:br/>
            <a:r>
              <a:rPr sz="800" b="0">
                <a:solidFill>
                  <a:srgbClr val="121C2D"/>
                </a:solidFill>
                <a:latin typeface="Arial"/>
              </a:rPr>
              <a:t>Thông điệp truyền thông mạnh nhất ngày 21–22/10: Cam kết tự chủ tài chính cho VFF, nâng chất lượng ĐTQG, đào tạo trẻ và mời các CLB/ngôi sao quốc tế.</a:t>
            </a:r>
          </a:p>
          <a:p>
            <a:pPr algn="l">
              <a:lnSpc>
                <a:spcPct val="104000"/>
              </a:lnSpc>
              <a:spcAft>
                <a:spcPts val="200"/>
              </a:spcAft>
            </a:pPr>
            <a:r>
              <a:rPr sz="800" b="0">
                <a:solidFill>
                  <a:srgbClr val="121C2D"/>
                </a:solidFill>
                <a:latin typeface="Arial"/>
              </a:rPr>
              <a:t>[2] Hiệu ứng Liên minh Ông Bầu &amp; '&gt;40/57 Đề cử' (19–20/10):</a:t>
            </a:r>
            <a:br/>
            <a:r>
              <a:rPr sz="800" b="0">
                <a:solidFill>
                  <a:srgbClr val="121C2D"/>
                </a:solidFill>
                <a:latin typeface="Arial"/>
              </a:rPr>
              <a:t>Báo Kinh tế (CafeF, VietTimes, VietnamFinance) nhấn mạnh sự hậu thuẫn của Bầu Hiển, Bầu Đức, Bầu Thiện và hơn 40/57 tổ chức thành viên đề cử.</a:t>
            </a:r>
          </a:p>
          <a:p>
            <a:pPr algn="l">
              <a:lnSpc>
                <a:spcPct val="104000"/>
              </a:lnSpc>
              <a:spcAft>
                <a:spcPts val="200"/>
              </a:spcAft>
            </a:pPr>
            <a:r>
              <a:rPr sz="800" b="0">
                <a:solidFill>
                  <a:srgbClr val="121C2D"/>
                </a:solidFill>
                <a:latin typeface="Arial"/>
              </a:rPr>
              <a:t>[3] Đề xuất Mở rộng Chân đế V.League &amp; Hạng Nhất:</a:t>
            </a:r>
            <a:br/>
            <a:r>
              <a:rPr sz="800" b="0">
                <a:solidFill>
                  <a:srgbClr val="121C2D"/>
                </a:solidFill>
                <a:latin typeface="Arial"/>
              </a:rPr>
              <a:t>Ý tưởng nâng số đội V.League lên 16–18 đội và Hạng Nhất lên 18–20 đội để tăng số trận thi đấu cho cầu thủ nội.</a:t>
            </a:r>
          </a:p>
          <a:p>
            <a:pPr algn="l">
              <a:lnSpc>
                <a:spcPct val="104000"/>
              </a:lnSpc>
              <a:spcAft>
                <a:spcPts val="0"/>
              </a:spcAft>
            </a:pPr>
            <a:r>
              <a:rPr sz="800" b="0">
                <a:solidFill>
                  <a:srgbClr val="121C2D"/>
                </a:solidFill>
                <a:latin typeface="Arial"/>
              </a:rPr>
              <a:t>[4] Kỳ vọng 'Tỷ phú Làm Bóng đá' của Khán giả Trẻ:</a:t>
            </a:r>
            <a:br/>
            <a:r>
              <a:rPr sz="800" b="0">
                <a:solidFill>
                  <a:srgbClr val="121C2D"/>
                </a:solidFill>
                <a:latin typeface="Arial"/>
              </a:rPr>
              <a:t>405 bình luận (nổi bật trên TikTok &amp; YouTube) muốn thử nghiệm mô hình Chủ tịch tỷ phú có tiềm lực tài chính mạnh.</a:t>
            </a:r>
          </a:p>
        </p:txBody>
      </p:sp>
      <p:sp>
        <p:nvSpPr>
          <p:cNvPr id="23" name="Rectangle 22"/>
          <p:cNvSpPr/>
          <p:nvPr/>
        </p:nvSpPr>
        <p:spPr>
          <a:xfrm>
            <a:off x="4268419" y="4268419"/>
            <a:ext cx="3624681" cy="2289657"/>
          </a:xfrm>
          <a:prstGeom prst="rect">
            <a:avLst/>
          </a:prstGeom>
          <a:solidFill>
            <a:srgbClr val="444E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279392" y="4279392"/>
            <a:ext cx="3602736" cy="2267712"/>
          </a:xfrm>
          <a:prstGeom prst="rect">
            <a:avLst/>
          </a:prstGeom>
          <a:solidFill>
            <a:srgbClr val="F1F3F7"/>
          </a:solidFill>
          <a:ln>
            <a:noFill/>
          </a:ln>
        </p:spPr>
        <p:style>
          <a:lnRef idx="1">
            <a:schemeClr val="accent1"/>
          </a:lnRef>
          <a:fillRef idx="3">
            <a:schemeClr val="accent1"/>
          </a:fillRef>
          <a:effectRef idx="2">
            <a:schemeClr val="accent1"/>
          </a:effectRef>
          <a:fontRef idx="minor">
            <a:schemeClr val="lt1"/>
          </a:fontRef>
        </p:style>
        <p:txBody>
          <a:bodyPr rtlCol="0" anchor="t" wrap="square" lIns="82296" rIns="82296" tIns="36576" bIns="36576"/>
          <a:lstStyle/>
          <a:p>
            <a:pPr algn="l">
              <a:lnSpc>
                <a:spcPct val="104000"/>
              </a:lnSpc>
              <a:spcAft>
                <a:spcPts val="200"/>
              </a:spcAft>
            </a:pPr>
            <a:r>
              <a:rPr sz="930" b="1">
                <a:solidFill>
                  <a:srgbClr val="444E5E"/>
                </a:solidFill>
                <a:latin typeface="Arial"/>
              </a:rPr>
              <a:t>B. LUẬN ĐIỂM PHẢN ĐỐI / CẢNH GIÁC (42 Bài + 210 Bình luận)</a:t>
            </a:r>
          </a:p>
          <a:p>
            <a:pPr algn="l">
              <a:lnSpc>
                <a:spcPct val="104000"/>
              </a:lnSpc>
              <a:spcAft>
                <a:spcPts val="200"/>
              </a:spcAft>
            </a:pPr>
            <a:r>
              <a:rPr sz="800" b="0">
                <a:solidFill>
                  <a:srgbClr val="121C2D"/>
                </a:solidFill>
                <a:latin typeface="Arial"/>
              </a:rPr>
              <a:t>[1] Ám ảnh Tiền lệ 'Giận dỗi Bỏ giải &amp; Giải tán CLB' (210 bình luận):</a:t>
            </a:r>
            <a:br/>
            <a:r>
              <a:rPr sz="800" b="0">
                <a:solidFill>
                  <a:srgbClr val="121C2D"/>
                </a:solidFill>
                <a:latin typeface="Arial"/>
              </a:rPr>
              <a:t>Khán giả nhắc lại lịch sử giải tán CLB Sài Gòn Xuân Thành (2013), Vissai Ninh Bình, Quảng Nam và lo ngại tâm lý 'thích thì vung tiền, chán thì bỏ chợ'.</a:t>
            </a:r>
          </a:p>
          <a:p>
            <a:pPr algn="l">
              <a:lnSpc>
                <a:spcPct val="104000"/>
              </a:lnSpc>
              <a:spcAft>
                <a:spcPts val="200"/>
              </a:spcAft>
            </a:pPr>
            <a:r>
              <a:rPr sz="800" b="0">
                <a:solidFill>
                  <a:srgbClr val="121C2D"/>
                </a:solidFill>
                <a:latin typeface="Arial"/>
              </a:rPr>
              <a:t>[2] Xung đột Lợi ích CLB &amp; Châm biếm Đổi tên Thương hiệu:</a:t>
            </a:r>
            <a:br/>
            <a:r>
              <a:rPr sz="800" b="0">
                <a:solidFill>
                  <a:srgbClr val="121C2D"/>
                </a:solidFill>
                <a:latin typeface="Arial"/>
              </a:rPr>
              <a:t>Lo ngại mạng lưới tài trợ đa CLB (CAHN, Ninh Bình, HAGL...) làm mất tính công bằng giải đấu và châm biếm 'VFF gắn tên ngân hàng / Sài Gòn Tài Lộc'.</a:t>
            </a:r>
          </a:p>
          <a:p>
            <a:pPr algn="l">
              <a:lnSpc>
                <a:spcPct val="104000"/>
              </a:lnSpc>
              <a:spcAft>
                <a:spcPts val="0"/>
              </a:spcAft>
            </a:pPr>
            <a:r>
              <a:rPr sz="800" b="0">
                <a:solidFill>
                  <a:srgbClr val="121C2D"/>
                </a:solidFill>
                <a:latin typeface="Arial"/>
              </a:rPr>
              <a:t>[3] Phản ứng Ngược với Chiến dịch Seeding &amp; Con số 1.000 Tỷ:</a:t>
            </a:r>
            <a:br/>
            <a:r>
              <a:rPr sz="800" b="0">
                <a:solidFill>
                  <a:srgbClr val="121C2D"/>
                </a:solidFill>
                <a:latin typeface="Arial"/>
              </a:rPr>
              <a:t>Việc cụm 'Phấn Đấu' rải 33 bài giống hệt nhau gây ác cảm; nhiều bình luận ngày 22/10 đặt dấu hỏi 'Lấy đâu ra 1.000 tỷ/năm hay chỉ là lời hứa tranh cử?'.</a:t>
            </a:r>
          </a:p>
        </p:txBody>
      </p:sp>
      <p:sp>
        <p:nvSpPr>
          <p:cNvPr id="25" name="Rectangle 24"/>
          <p:cNvSpPr/>
          <p:nvPr/>
        </p:nvSpPr>
        <p:spPr>
          <a:xfrm>
            <a:off x="8123529" y="899769"/>
            <a:ext cx="3878884" cy="5771692"/>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138160" y="914400"/>
            <a:ext cx="3849624" cy="57424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138160" y="914400"/>
            <a:ext cx="3849624" cy="402336"/>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0" y="950976"/>
            <a:ext cx="3666744" cy="329184"/>
          </a:xfrm>
          <a:prstGeom prst="rect">
            <a:avLst/>
          </a:prstGeom>
          <a:noFill/>
        </p:spPr>
        <p:txBody>
          <a:bodyPr wrap="square" anchor="ctr" lIns="45720" rIns="45720" tIns="27432" bIns="27432">
            <a:spAutoFit/>
          </a:bodyPr>
          <a:lstStyle/>
          <a:p>
            <a:pPr algn="ctr">
              <a:lnSpc>
                <a:spcPct val="112000"/>
              </a:lnSpc>
            </a:pPr>
            <a:r>
              <a:rPr sz="950" b="1">
                <a:solidFill>
                  <a:srgbClr val="FFFFFF"/>
                </a:solidFill>
                <a:latin typeface="Arial"/>
              </a:rPr>
              <a:t>3. HAI KỊCH BẢN LIÊN DANH (214 PHIẾU)</a:t>
            </a:r>
          </a:p>
          <a:p>
            <a:pPr algn="ctr">
              <a:lnSpc>
                <a:spcPct val="112000"/>
              </a:lnSpc>
            </a:pPr>
            <a:r>
              <a:rPr sz="950" b="1">
                <a:solidFill>
                  <a:srgbClr val="FFFFFF"/>
                </a:solidFill>
                <a:latin typeface="Arial"/>
              </a:rPr>
              <a:t>&amp; KHỐI ĐÒI THAY MỚI / THỂ CHẾ (101 PHIẾU)</a:t>
            </a:r>
          </a:p>
        </p:txBody>
      </p:sp>
      <p:sp>
        <p:nvSpPr>
          <p:cNvPr id="29" name="Rectangle 28"/>
          <p:cNvSpPr/>
          <p:nvPr/>
        </p:nvSpPr>
        <p:spPr>
          <a:xfrm>
            <a:off x="8236915" y="1360627"/>
            <a:ext cx="3652113" cy="1832457"/>
          </a:xfrm>
          <a:prstGeom prst="rect">
            <a:avLst/>
          </a:prstGeom>
          <a:solidFill>
            <a:srgbClr val="0E94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247888" y="1371600"/>
            <a:ext cx="3630168" cy="1810512"/>
          </a:xfrm>
          <a:prstGeom prst="rect">
            <a:avLst/>
          </a:prstGeom>
          <a:solidFill>
            <a:srgbClr val="E8F8FA"/>
          </a:solidFill>
          <a:ln>
            <a:noFill/>
          </a:ln>
        </p:spPr>
        <p:style>
          <a:lnRef idx="1">
            <a:schemeClr val="accent1"/>
          </a:lnRef>
          <a:fillRef idx="3">
            <a:schemeClr val="accent1"/>
          </a:fillRef>
          <a:effectRef idx="2">
            <a:schemeClr val="accent1"/>
          </a:effectRef>
          <a:fontRef idx="minor">
            <a:schemeClr val="lt1"/>
          </a:fontRef>
        </p:style>
        <p:txBody>
          <a:bodyPr rtlCol="0" anchor="t" wrap="square" lIns="82296" rIns="82296" tIns="36576" bIns="36576"/>
          <a:lstStyle/>
          <a:p>
            <a:pPr algn="l">
              <a:lnSpc>
                <a:spcPct val="104000"/>
              </a:lnSpc>
              <a:spcAft>
                <a:spcPts val="200"/>
              </a:spcAft>
            </a:pPr>
            <a:r>
              <a:rPr sz="890" b="1">
                <a:solidFill>
                  <a:srgbClr val="0E94A5"/>
                </a:solidFill>
                <a:latin typeface="Arial"/>
              </a:rPr>
              <a:t>KỊCH BẢN LIÊN DANH 1: CHỌN TS. TUẤN LÀM LEADER (121 PHIẾU = 56,5% KHỐI LIÊN DANH)</a:t>
            </a:r>
          </a:p>
          <a:p>
            <a:pPr algn="l">
              <a:lnSpc>
                <a:spcPct val="104000"/>
              </a:lnSpc>
              <a:spcAft>
                <a:spcPts val="0"/>
              </a:spcAft>
            </a:pPr>
            <a:r>
              <a:rPr sz="800" b="0">
                <a:solidFill>
                  <a:srgbClr val="121C2D"/>
                </a:solidFill>
                <a:latin typeface="Arial"/>
              </a:rPr>
              <a:t>• Công thức: TS. Trần Quốc Tuấn giữ ghế Chủ tịch VFF (điều hành chung &amp; đối ngoại AFC/FIFA) + Mời Ông Nguyễn Đức Thụy làm Phó Chủ tịch phụ trách Tài chính &amp; Vận động tài trợ (thay vị trí ông Trần Anh Tú không tái cử).</a:t>
            </a:r>
            <a:br/>
            <a:r>
              <a:rPr sz="800" b="0">
                <a:solidFill>
                  <a:srgbClr val="121C2D"/>
                </a:solidFill>
                <a:latin typeface="Arial"/>
              </a:rPr>
              <a:t>• Lý do: Giữ nguyên vị thế quốc tế của Việt Nam tại AFC, đồng thời có thêm nguồn lực tài chính xã hội hóa mà không phá vỡ tính trung lập chuyên môn.</a:t>
            </a:r>
          </a:p>
        </p:txBody>
      </p:sp>
      <p:sp>
        <p:nvSpPr>
          <p:cNvPr id="31" name="Rectangle 30"/>
          <p:cNvSpPr/>
          <p:nvPr/>
        </p:nvSpPr>
        <p:spPr>
          <a:xfrm>
            <a:off x="8236915" y="3262579"/>
            <a:ext cx="3652113" cy="1704441"/>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247888" y="3273552"/>
            <a:ext cx="3630168" cy="1682496"/>
          </a:xfrm>
          <a:prstGeom prst="rect">
            <a:avLst/>
          </a:prstGeom>
          <a:solidFill>
            <a:srgbClr val="FFF6E8"/>
          </a:solidFill>
          <a:ln>
            <a:noFill/>
          </a:ln>
        </p:spPr>
        <p:style>
          <a:lnRef idx="1">
            <a:schemeClr val="accent1"/>
          </a:lnRef>
          <a:fillRef idx="3">
            <a:schemeClr val="accent1"/>
          </a:fillRef>
          <a:effectRef idx="2">
            <a:schemeClr val="accent1"/>
          </a:effectRef>
          <a:fontRef idx="minor">
            <a:schemeClr val="lt1"/>
          </a:fontRef>
        </p:style>
        <p:txBody>
          <a:bodyPr rtlCol="0" anchor="t" wrap="square" lIns="82296" rIns="82296" tIns="36576" bIns="36576"/>
          <a:lstStyle/>
          <a:p>
            <a:pPr algn="l">
              <a:lnSpc>
                <a:spcPct val="104000"/>
              </a:lnSpc>
              <a:spcAft>
                <a:spcPts val="200"/>
              </a:spcAft>
            </a:pPr>
            <a:r>
              <a:rPr sz="890" b="1">
                <a:solidFill>
                  <a:srgbClr val="E67E22"/>
                </a:solidFill>
                <a:latin typeface="Arial"/>
              </a:rPr>
              <a:t>KỊCH BẢN LIÊN DANH 2: CHỌN BẦU THỤY LÀM LEADER (93 PHIẾU = 43,5% KHỐI LIÊN DANH)</a:t>
            </a:r>
          </a:p>
          <a:p>
            <a:pPr algn="l">
              <a:lnSpc>
                <a:spcPct val="104000"/>
              </a:lnSpc>
              <a:spcAft>
                <a:spcPts val="0"/>
              </a:spcAft>
            </a:pPr>
            <a:r>
              <a:rPr sz="800" b="0">
                <a:solidFill>
                  <a:srgbClr val="121C2D"/>
                </a:solidFill>
                <a:latin typeface="Arial"/>
              </a:rPr>
              <a:t>• Công thức: Ông Nguyễn Đức Thụy làm Chủ tịch VFF (đứng đầu huy động nguồn lực 600–1.000 tỷ/năm) + TS. Trần Quốc Tuấn lùi về làm Phó Chủ tịch Chuyên môn / Đối ngoại hoặc Tổng Thư ký.</a:t>
            </a:r>
            <a:br/>
            <a:r>
              <a:rPr sz="800" b="0">
                <a:solidFill>
                  <a:srgbClr val="121C2D"/>
                </a:solidFill>
                <a:latin typeface="Arial"/>
              </a:rPr>
              <a:t>• Rào cản lớn: Nhiều độc giả (như trên trang Nguyễn Minh Châu, HattrickSport) phản biện rằng Ủy viên Thường vụ AFC không thể lùi xuống làm cấp phó cho doanh nhân.</a:t>
            </a:r>
          </a:p>
        </p:txBody>
      </p:sp>
      <p:sp>
        <p:nvSpPr>
          <p:cNvPr id="33" name="Rectangle 32"/>
          <p:cNvSpPr/>
          <p:nvPr/>
        </p:nvSpPr>
        <p:spPr>
          <a:xfrm>
            <a:off x="8236915" y="5036515"/>
            <a:ext cx="3652113" cy="1521561"/>
          </a:xfrm>
          <a:prstGeom prst="rect">
            <a:avLst/>
          </a:prstGeom>
          <a:solidFill>
            <a:srgbClr val="0B15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247888" y="5047488"/>
            <a:ext cx="3630168" cy="1499616"/>
          </a:xfrm>
          <a:prstGeom prst="rect">
            <a:avLst/>
          </a:prstGeom>
          <a:solidFill>
            <a:srgbClr val="F1F3F7"/>
          </a:solidFill>
          <a:ln>
            <a:noFill/>
          </a:ln>
        </p:spPr>
        <p:style>
          <a:lnRef idx="1">
            <a:schemeClr val="accent1"/>
          </a:lnRef>
          <a:fillRef idx="3">
            <a:schemeClr val="accent1"/>
          </a:fillRef>
          <a:effectRef idx="2">
            <a:schemeClr val="accent1"/>
          </a:effectRef>
          <a:fontRef idx="minor">
            <a:schemeClr val="lt1"/>
          </a:fontRef>
        </p:style>
        <p:txBody>
          <a:bodyPr rtlCol="0" anchor="t" wrap="square" lIns="82296" rIns="82296" tIns="36576" bIns="36576"/>
          <a:lstStyle/>
          <a:p>
            <a:pPr algn="l">
              <a:lnSpc>
                <a:spcPct val="104000"/>
              </a:lnSpc>
              <a:spcAft>
                <a:spcPts val="200"/>
              </a:spcAft>
            </a:pPr>
            <a:r>
              <a:rPr sz="890" b="1">
                <a:solidFill>
                  <a:srgbClr val="0B1528"/>
                </a:solidFill>
                <a:latin typeface="Arial"/>
              </a:rPr>
              <a:t>KHỐI PHẢN ĐỐI CẢ 2 (101 PHIẾU) &amp; CHỐT CHẶN THỂ CHẾ</a:t>
            </a:r>
          </a:p>
          <a:p>
            <a:pPr algn="l">
              <a:lnSpc>
                <a:spcPct val="104000"/>
              </a:lnSpc>
              <a:spcAft>
                <a:spcPts val="0"/>
              </a:spcAft>
            </a:pPr>
            <a:r>
              <a:rPr sz="800" b="0">
                <a:solidFill>
                  <a:srgbClr val="121C2D"/>
                </a:solidFill>
                <a:latin typeface="Arial"/>
              </a:rPr>
              <a:t>• Đề cử Nhân vật thứ 3 (101 phiếu): Khán giả trên Vlog Minh Hải &amp; Facebook kêu gọi Bầu Đức (Đoàn Nguyên Đức) hoặc tỷ phú Phạm Nhật Vượng đứng ra làm Chủ tịch.</a:t>
            </a:r>
            <a:br/>
            <a:r>
              <a:rPr sz="800" b="0">
                <a:solidFill>
                  <a:srgbClr val="121C2D"/>
                </a:solidFill>
                <a:latin typeface="Arial"/>
              </a:rPr>
              <a:t>• Chốt chặn Quy trình Hiệp thương: Độc giả &amp; Báo chính thống chỉ rõ chức danh Chủ tịch VFF khóa X (Đại hội 04/01/2027) phải qua thẩm định nhân sự của Bộ VHTTDL, Bộ Nội vụ &amp; Ban Bí thư chứ không chỉ đếm phiếu đề cử CLB.</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6FA"/>
        </a:solidFill>
        <a:effectLst/>
      </p:bgPr>
    </p:bg>
    <p:spTree>
      <p:nvGrpSpPr>
        <p:cNvPr id="1" name=""/>
        <p:cNvGrpSpPr/>
        <p:nvPr/>
      </p:nvGrpSpPr>
      <p:grpSpPr/>
      <p:sp>
        <p:nvSpPr>
          <p:cNvPr id="2" name="Rectangle 1"/>
          <p:cNvSpPr/>
          <p:nvPr/>
        </p:nvSpPr>
        <p:spPr>
          <a:xfrm>
            <a:off x="0" y="0"/>
            <a:ext cx="4059936" cy="54864"/>
          </a:xfrm>
          <a:prstGeom prst="rect">
            <a:avLst/>
          </a:prstGeom>
          <a:solidFill>
            <a:srgbClr val="1560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059936" y="0"/>
            <a:ext cx="4069080" cy="54864"/>
          </a:xfrm>
          <a:prstGeom prst="rect">
            <a:avLst/>
          </a:prstGeom>
          <a:solidFill>
            <a:srgbClr val="F5B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129016" y="0"/>
            <a:ext cx="4059936" cy="54864"/>
          </a:xfrm>
          <a:prstGeom prst="rect">
            <a:avLst/>
          </a:prstGeom>
          <a:solidFill>
            <a:srgbClr val="D627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54864"/>
            <a:ext cx="12191695" cy="786384"/>
          </a:xfrm>
          <a:prstGeom prst="rect">
            <a:avLst/>
          </a:prstGeom>
          <a:solidFill>
            <a:srgbClr val="0B15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01168" y="128016"/>
            <a:ext cx="2029968" cy="274320"/>
          </a:xfrm>
          <a:prstGeom prst="rect">
            <a:avLst/>
          </a:prstGeom>
          <a:solidFill>
            <a:srgbClr val="1560D4"/>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860" b="1">
                <a:solidFill>
                  <a:srgbClr val="F5B400"/>
                </a:solidFill>
                <a:latin typeface="Arial"/>
              </a:rPr>
              <a:t>US ELECTION WAR-ROOM • SLIDE 5A</a:t>
            </a:r>
          </a:p>
        </p:txBody>
      </p:sp>
      <p:sp>
        <p:nvSpPr>
          <p:cNvPr id="7" name="TextBox 6"/>
          <p:cNvSpPr txBox="1"/>
          <p:nvPr/>
        </p:nvSpPr>
        <p:spPr>
          <a:xfrm>
            <a:off x="2286000" y="109728"/>
            <a:ext cx="9738360" cy="310896"/>
          </a:xfrm>
          <a:prstGeom prst="rect">
            <a:avLst/>
          </a:prstGeom>
          <a:noFill/>
        </p:spPr>
        <p:txBody>
          <a:bodyPr wrap="square" anchor="ctr" lIns="45720" rIns="45720" tIns="27432" bIns="27432">
            <a:spAutoFit/>
          </a:bodyPr>
          <a:lstStyle/>
          <a:p>
            <a:pPr algn="l">
              <a:lnSpc>
                <a:spcPct val="112000"/>
              </a:lnSpc>
            </a:pPr>
            <a:r>
              <a:rPr sz="1380" b="1">
                <a:solidFill>
                  <a:srgbClr val="FFFFFF"/>
                </a:solidFill>
                <a:latin typeface="Arial"/>
              </a:rPr>
              <a:t>MA TRẬN ĐẢO CHIỀU TRÊN FACEBOOK: BÀI ĐĂNG ỦNG HỘ AI — BÌNH LUẬN THEO AI?</a:t>
            </a:r>
          </a:p>
        </p:txBody>
      </p:sp>
      <p:sp>
        <p:nvSpPr>
          <p:cNvPr id="8" name="TextBox 7"/>
          <p:cNvSpPr txBox="1"/>
          <p:nvPr/>
        </p:nvSpPr>
        <p:spPr>
          <a:xfrm>
            <a:off x="201168" y="475488"/>
            <a:ext cx="11795760" cy="292608"/>
          </a:xfrm>
          <a:prstGeom prst="rect">
            <a:avLst/>
          </a:prstGeom>
          <a:noFill/>
        </p:spPr>
        <p:txBody>
          <a:bodyPr wrap="square" anchor="ctr" lIns="45720" rIns="45720" tIns="27432" bIns="27432">
            <a:spAutoFit/>
          </a:bodyPr>
          <a:lstStyle/>
          <a:p>
            <a:pPr algn="l">
              <a:lnSpc>
                <a:spcPct val="112000"/>
              </a:lnSpc>
            </a:pPr>
            <a:r>
              <a:rPr sz="960" b="0">
                <a:solidFill>
                  <a:srgbClr val="C8D4E6"/>
                </a:solidFill>
                <a:latin typeface="Arial"/>
              </a:rPr>
              <a:t>Bóc tách Top 14 Kênh/Cụm Fanpage &amp; Hội nhóm lớn nhất trong danh bạ 378 Kênh (888 bài) — Hiển thị rõ Tổng số Bài đăng &amp; Tổng số Bình luận</a:t>
            </a:r>
          </a:p>
        </p:txBody>
      </p:sp>
      <p:graphicFrame>
        <p:nvGraphicFramePr>
          <p:cNvPr id="9" name="Table 8"/>
          <p:cNvGraphicFramePr>
            <a:graphicFrameLocks noGrp="1"/>
          </p:cNvGraphicFramePr>
          <p:nvPr/>
        </p:nvGraphicFramePr>
        <p:xfrm>
          <a:off x="201168" y="868680"/>
          <a:ext cx="11750040" cy="4498848"/>
        </p:xfrm>
        <a:graphic>
          <a:graphicData uri="http://schemas.openxmlformats.org/drawingml/2006/table">
            <a:tbl>
              <a:tblPr firstRow="1" bandRow="1">
                <a:tableStyleId>{5C22544A-7EE6-4342-B048-85BDC9FD1C3A}</a:tableStyleId>
              </a:tblPr>
              <a:tblGrid>
                <a:gridCol w="2011680"/>
                <a:gridCol w="1609344"/>
                <a:gridCol w="896112"/>
                <a:gridCol w="1024128"/>
                <a:gridCol w="3008376"/>
                <a:gridCol w="3200400"/>
              </a:tblGrid>
              <a:tr h="329184">
                <a:tc>
                  <a:txBody>
                    <a:bodyPr wrap="square"/>
                    <a:lstStyle/>
                    <a:p>
                      <a:pPr algn="ctr">
                        <a:lnSpc>
                          <a:spcPct val="103000"/>
                        </a:lnSpc>
                      </a:pPr>
                      <a:r>
                        <a:rPr sz="740" b="1">
                          <a:solidFill>
                            <a:srgbClr val="FFFFFF"/>
                          </a:solidFill>
                          <a:latin typeface="Arial"/>
                        </a:rPr>
                        <a:t>Kênh / Trang / Hội Nhóm Cụ Thể</a:t>
                      </a:r>
                    </a:p>
                  </a:txBody>
                  <a:tcPr anchor="ctr" marL="27432" marR="27432" marT="9144" marB="9144">
                    <a:solidFill>
                      <a:srgbClr val="0B1528"/>
                    </a:solidFill>
                  </a:tcPr>
                </a:tc>
                <a:tc>
                  <a:txBody>
                    <a:bodyPr wrap="square"/>
                    <a:lstStyle/>
                    <a:p>
                      <a:pPr algn="ctr">
                        <a:lnSpc>
                          <a:spcPct val="103000"/>
                        </a:lnSpc>
                      </a:pPr>
                      <a:r>
                        <a:rPr sz="740" b="1">
                          <a:solidFill>
                            <a:srgbClr val="FFFFFF"/>
                          </a:solidFill>
                          <a:latin typeface="Arial"/>
                        </a:rPr>
                        <a:t>Lập Trường Bài Đăng</a:t>
                      </a:r>
                    </a:p>
                    <a:p>
                      <a:pPr algn="ctr">
                        <a:lnSpc>
                          <a:spcPct val="103000"/>
                        </a:lnSpc>
                      </a:pPr>
                      <a:r>
                        <a:rPr sz="740" b="1">
                          <a:solidFill>
                            <a:srgbClr val="FFFFFF"/>
                          </a:solidFill>
                          <a:latin typeface="Arial"/>
                        </a:rPr>
                        <a:t>(Post Stance)</a:t>
                      </a:r>
                    </a:p>
                  </a:txBody>
                  <a:tcPr anchor="ctr" marL="27432" marR="27432" marT="9144" marB="9144">
                    <a:solidFill>
                      <a:srgbClr val="0B1528"/>
                    </a:solidFill>
                  </a:tcPr>
                </a:tc>
                <a:tc>
                  <a:txBody>
                    <a:bodyPr wrap="square"/>
                    <a:lstStyle/>
                    <a:p>
                      <a:pPr algn="ctr">
                        <a:lnSpc>
                          <a:spcPct val="103000"/>
                        </a:lnSpc>
                      </a:pPr>
                      <a:r>
                        <a:rPr sz="740" b="1">
                          <a:solidFill>
                            <a:srgbClr val="FFFFFF"/>
                          </a:solidFill>
                          <a:latin typeface="Arial"/>
                        </a:rPr>
                        <a:t>Tổng Số Bài</a:t>
                      </a:r>
                    </a:p>
                    <a:p>
                      <a:pPr algn="ctr">
                        <a:lnSpc>
                          <a:spcPct val="103000"/>
                        </a:lnSpc>
                      </a:pPr>
                      <a:r>
                        <a:rPr sz="740" b="1">
                          <a:solidFill>
                            <a:srgbClr val="FFFFFF"/>
                          </a:solidFill>
                          <a:latin typeface="Arial"/>
                        </a:rPr>
                        <a:t>(Danh bạ/Xác thực)</a:t>
                      </a:r>
                    </a:p>
                  </a:txBody>
                  <a:tcPr anchor="ctr" marL="27432" marR="27432" marT="9144" marB="9144">
                    <a:solidFill>
                      <a:srgbClr val="0B1528"/>
                    </a:solidFill>
                  </a:tcPr>
                </a:tc>
                <a:tc>
                  <a:txBody>
                    <a:bodyPr wrap="square"/>
                    <a:lstStyle/>
                    <a:p>
                      <a:pPr algn="ctr">
                        <a:lnSpc>
                          <a:spcPct val="103000"/>
                        </a:lnSpc>
                      </a:pPr>
                      <a:r>
                        <a:rPr sz="740" b="1">
                          <a:solidFill>
                            <a:srgbClr val="FFFFFF"/>
                          </a:solidFill>
                          <a:latin typeface="Arial"/>
                        </a:rPr>
                        <a:t>Tổng Bình Luận</a:t>
                      </a:r>
                    </a:p>
                    <a:p>
                      <a:pPr algn="ctr">
                        <a:lnSpc>
                          <a:spcPct val="103000"/>
                        </a:lnSpc>
                      </a:pPr>
                      <a:r>
                        <a:rPr sz="740" b="1">
                          <a:solidFill>
                            <a:srgbClr val="FFFFFF"/>
                          </a:solidFill>
                          <a:latin typeface="Arial"/>
                        </a:rPr>
                        <a:t>&amp; Tương Tác</a:t>
                      </a:r>
                    </a:p>
                  </a:txBody>
                  <a:tcPr anchor="ctr" marL="27432" marR="27432" marT="9144" marB="9144">
                    <a:solidFill>
                      <a:srgbClr val="0B1528"/>
                    </a:solidFill>
                  </a:tcPr>
                </a:tc>
                <a:tc>
                  <a:txBody>
                    <a:bodyPr wrap="square"/>
                    <a:lstStyle/>
                    <a:p>
                      <a:pPr algn="ctr">
                        <a:lnSpc>
                          <a:spcPct val="103000"/>
                        </a:lnSpc>
                      </a:pPr>
                      <a:r>
                        <a:rPr sz="740" b="1">
                          <a:solidFill>
                            <a:srgbClr val="FFFFFF"/>
                          </a:solidFill>
                          <a:latin typeface="Arial"/>
                        </a:rPr>
                        <a:t>Phân Bổ 7 Lá Phiếu Bình Luận Bên Dưới</a:t>
                      </a:r>
                    </a:p>
                    <a:p>
                      <a:pPr algn="ctr">
                        <a:lnSpc>
                          <a:spcPct val="103000"/>
                        </a:lnSpc>
                      </a:pPr>
                      <a:r>
                        <a:rPr sz="740" b="1">
                          <a:solidFill>
                            <a:srgbClr val="FFFFFF"/>
                          </a:solidFill>
                          <a:latin typeface="Arial"/>
                        </a:rPr>
                        <a:t>(Tuấn CT | LD1 | Phản đối Thụy/Tuấn/Cả hai | LD2 | Thụy CT)</a:t>
                      </a:r>
                    </a:p>
                  </a:txBody>
                  <a:tcPr anchor="ctr" marL="27432" marR="27432" marT="9144" marB="9144">
                    <a:solidFill>
                      <a:srgbClr val="0B1528"/>
                    </a:solidFill>
                  </a:tcPr>
                </a:tc>
                <a:tc>
                  <a:txBody>
                    <a:bodyPr wrap="square"/>
                    <a:lstStyle/>
                    <a:p>
                      <a:pPr algn="ctr">
                        <a:lnSpc>
                          <a:spcPct val="103000"/>
                        </a:lnSpc>
                      </a:pPr>
                      <a:r>
                        <a:rPr sz="740" b="1">
                          <a:solidFill>
                            <a:srgbClr val="FFFFFF"/>
                          </a:solidFill>
                          <a:latin typeface="Arial"/>
                        </a:rPr>
                        <a:t>Kết Luận Giải Phẫu Tương Quan</a:t>
                      </a:r>
                    </a:p>
                    <a:p>
                      <a:pPr algn="ctr">
                        <a:lnSpc>
                          <a:spcPct val="103000"/>
                        </a:lnSpc>
                      </a:pPr>
                      <a:r>
                        <a:rPr sz="740" b="1">
                          <a:solidFill>
                            <a:srgbClr val="FFFFFF"/>
                          </a:solidFill>
                          <a:latin typeface="Arial"/>
                        </a:rPr>
                        <a:t>Bài Đăng vs. Bình Luận Khán Giả</a:t>
                      </a:r>
                    </a:p>
                  </a:txBody>
                  <a:tcPr anchor="ctr" marL="27432" marR="27432" marT="9144" marB="9144">
                    <a:solidFill>
                      <a:srgbClr val="0B1528"/>
                    </a:solidFill>
                  </a:tcPr>
                </a:tc>
              </a:tr>
              <a:tr h="347472">
                <a:tc>
                  <a:txBody>
                    <a:bodyPr wrap="square"/>
                    <a:lstStyle/>
                    <a:p>
                      <a:pPr algn="l">
                        <a:lnSpc>
                          <a:spcPct val="103000"/>
                        </a:lnSpc>
                      </a:pPr>
                      <a:r>
                        <a:rPr sz="710" b="1">
                          <a:solidFill>
                            <a:srgbClr val="0B1528"/>
                          </a:solidFill>
                          <a:latin typeface="Arial"/>
                          <a:hlinkClick r:id="rId2"/>
                        </a:rPr>
                        <a:t>1. Liên đoàn Bóng đá VN - VFF</a:t>
                      </a:r>
                    </a:p>
                    <a:p>
                      <a:pPr algn="l">
                        <a:lnSpc>
                          <a:spcPct val="103000"/>
                        </a:lnSpc>
                      </a:pPr>
                      <a:r>
                        <a:rPr sz="710" b="1">
                          <a:solidFill>
                            <a:srgbClr val="0B1528"/>
                          </a:solidFill>
                          <a:latin typeface="Arial"/>
                        </a:rPr>
                        <a:t>(Fanpage chính thức VFF)</a:t>
                      </a:r>
                    </a:p>
                  </a:txBody>
                  <a:tcPr anchor="ctr" marL="27432" marR="27432" marT="9144" marB="9144">
                    <a:solidFill>
                      <a:srgbClr val="FFFFFF"/>
                    </a:solidFill>
                  </a:tcPr>
                </a:tc>
                <a:tc>
                  <a:txBody>
                    <a:bodyPr wrap="square"/>
                    <a:lstStyle/>
                    <a:p>
                      <a:pPr algn="ctr">
                        <a:lnSpc>
                          <a:spcPct val="103000"/>
                        </a:lnSpc>
                      </a:pPr>
                      <a:r>
                        <a:rPr sz="700" b="1">
                          <a:solidFill>
                            <a:srgbClr val="1560D4"/>
                          </a:solidFill>
                          <a:latin typeface="Arial"/>
                        </a:rPr>
                        <a:t>Ủng hộ TS. Trần Quốc Tuấn</a:t>
                      </a:r>
                    </a:p>
                    <a:p>
                      <a:pPr algn="ctr">
                        <a:lnSpc>
                          <a:spcPct val="103000"/>
                        </a:lnSpc>
                      </a:pPr>
                      <a:r>
                        <a:rPr sz="700" b="1">
                          <a:solidFill>
                            <a:srgbClr val="1560D4"/>
                          </a:solidFill>
                          <a:latin typeface="Arial"/>
                        </a:rPr>
                        <a:t>(Thành tích 7 ĐTQG &amp; AFC)</a:t>
                      </a:r>
                    </a:p>
                  </a:txBody>
                  <a:tcPr anchor="ctr" marL="27432" marR="27432" marT="9144" marB="9144">
                    <a:solidFill>
                      <a:srgbClr val="EBF3FF"/>
                    </a:solidFill>
                  </a:tcPr>
                </a:tc>
                <a:tc>
                  <a:txBody>
                    <a:bodyPr wrap="square"/>
                    <a:lstStyle/>
                    <a:p>
                      <a:pPr algn="ctr">
                        <a:lnSpc>
                          <a:spcPct val="103000"/>
                        </a:lnSpc>
                      </a:pPr>
                      <a:r>
                        <a:rPr sz="710" b="1">
                          <a:solidFill>
                            <a:srgbClr val="0B1528"/>
                          </a:solidFill>
                          <a:latin typeface="Arial"/>
                        </a:rPr>
                        <a:t>68 yêu cầu</a:t>
                      </a:r>
                    </a:p>
                    <a:p>
                      <a:pPr algn="ctr">
                        <a:lnSpc>
                          <a:spcPct val="103000"/>
                        </a:lnSpc>
                      </a:pPr>
                      <a:r>
                        <a:rPr sz="710" b="1">
                          <a:solidFill>
                            <a:srgbClr val="0B1528"/>
                          </a:solidFill>
                          <a:latin typeface="Arial"/>
                        </a:rPr>
                        <a:t>71 bài xác thực</a:t>
                      </a:r>
                    </a:p>
                  </a:txBody>
                  <a:tcPr anchor="ctr" marL="27432" marR="27432" marT="9144" marB="9144">
                    <a:solidFill>
                      <a:srgbClr val="FFFFFF"/>
                    </a:solidFill>
                  </a:tcPr>
                </a:tc>
                <a:tc>
                  <a:txBody>
                    <a:bodyPr wrap="square"/>
                    <a:lstStyle/>
                    <a:p>
                      <a:pPr algn="ctr">
                        <a:lnSpc>
                          <a:spcPct val="103000"/>
                        </a:lnSpc>
                      </a:pPr>
                      <a:r>
                        <a:rPr sz="700" b="0">
                          <a:solidFill>
                            <a:srgbClr val="121C2D"/>
                          </a:solidFill>
                          <a:latin typeface="Arial"/>
                        </a:rPr>
                        <a:t>1.078 bình luận</a:t>
                      </a:r>
                    </a:p>
                    <a:p>
                      <a:pPr algn="ctr">
                        <a:lnSpc>
                          <a:spcPct val="103000"/>
                        </a:lnSpc>
                      </a:pPr>
                      <a:r>
                        <a:rPr sz="700" b="0">
                          <a:solidFill>
                            <a:srgbClr val="121C2D"/>
                          </a:solidFill>
                          <a:latin typeface="Arial"/>
                        </a:rPr>
                        <a:t>48.498 cảm xúc</a:t>
                      </a:r>
                    </a:p>
                  </a:txBody>
                  <a:tcPr anchor="ctr" marL="27432" marR="27432" marT="9144" marB="9144">
                    <a:solidFill>
                      <a:srgbClr val="FFFFFF"/>
                    </a:solidFill>
                  </a:tcPr>
                </a:tc>
                <a:tc>
                  <a:txBody>
                    <a:bodyPr wrap="square"/>
                    <a:lstStyle/>
                    <a:p>
                      <a:pPr algn="l">
                        <a:lnSpc>
                          <a:spcPct val="103000"/>
                        </a:lnSpc>
                      </a:pPr>
                      <a:r>
                        <a:rPr sz="700" b="1">
                          <a:solidFill>
                            <a:srgbClr val="1560D4"/>
                          </a:solidFill>
                          <a:latin typeface="Arial"/>
                        </a:rPr>
                        <a:t>Khối Tuấn CT: 82 (74 thẳng + 8 LD1) | Phản đối Tuấn: 9 | Khác: 14 | Khối Thụy CT: 6</a:t>
                      </a:r>
                    </a:p>
                  </a:txBody>
                  <a:tcPr anchor="ctr" marL="27432" marR="27432" marT="9144" marB="9144">
                    <a:solidFill>
                      <a:srgbClr val="FFFFFF"/>
                    </a:solidFill>
                  </a:tcPr>
                </a:tc>
                <a:tc>
                  <a:txBody>
                    <a:bodyPr wrap="square"/>
                    <a:lstStyle/>
                    <a:p>
                      <a:pPr algn="l">
                        <a:lnSpc>
                          <a:spcPct val="103000"/>
                        </a:lnSpc>
                      </a:pPr>
                      <a:r>
                        <a:rPr sz="670" b="0">
                          <a:solidFill>
                            <a:srgbClr val="121C2D"/>
                          </a:solidFill>
                          <a:latin typeface="Arial"/>
                        </a:rPr>
                        <a:t>ĐỒNG THUẬN CAO (73,9% bầu TS. Tuấn): Khán giả ghi nhận 7 ĐTQG vào VCK châu Á &amp; đối ngoại AFC.</a:t>
                      </a:r>
                    </a:p>
                  </a:txBody>
                  <a:tcPr anchor="ctr" marL="36576" marR="36576" marT="9144" marB="9144">
                    <a:solidFill>
                      <a:srgbClr val="FFFFFF"/>
                    </a:solidFill>
                  </a:tcPr>
                </a:tc>
              </a:tr>
              <a:tr h="347472">
                <a:tc>
                  <a:txBody>
                    <a:bodyPr wrap="square"/>
                    <a:lstStyle/>
                    <a:p>
                      <a:pPr algn="l">
                        <a:lnSpc>
                          <a:spcPct val="103000"/>
                        </a:lnSpc>
                      </a:pPr>
                      <a:r>
                        <a:rPr sz="710" b="1">
                          <a:solidFill>
                            <a:srgbClr val="0B1528"/>
                          </a:solidFill>
                          <a:latin typeface="Arial"/>
                          <a:hlinkClick r:id="rId3"/>
                        </a:rPr>
                        <a:t>2. BLV Tạ Biên Cương &amp; Connect</a:t>
                      </a:r>
                    </a:p>
                    <a:p>
                      <a:pPr algn="l">
                        <a:lnSpc>
                          <a:spcPct val="103000"/>
                        </a:lnSpc>
                      </a:pPr>
                      <a:r>
                        <a:rPr sz="710" b="1">
                          <a:solidFill>
                            <a:srgbClr val="0B1528"/>
                          </a:solidFill>
                          <a:latin typeface="Arial"/>
                        </a:rPr>
                        <a:t>(Hệ sinh thái KOL Bóng đá)</a:t>
                      </a:r>
                    </a:p>
                  </a:txBody>
                  <a:tcPr anchor="ctr" marL="27432" marR="27432" marT="9144" marB="9144">
                    <a:solidFill>
                      <a:srgbClr val="F1F3F7"/>
                    </a:solidFill>
                  </a:tcPr>
                </a:tc>
                <a:tc>
                  <a:txBody>
                    <a:bodyPr wrap="square"/>
                    <a:lstStyle/>
                    <a:p>
                      <a:pPr algn="ctr">
                        <a:lnSpc>
                          <a:spcPct val="103000"/>
                        </a:lnSpc>
                      </a:pPr>
                      <a:r>
                        <a:rPr sz="700" b="1">
                          <a:solidFill>
                            <a:srgbClr val="E67E22"/>
                          </a:solidFill>
                          <a:latin typeface="Arial"/>
                        </a:rPr>
                        <a:t>Mở khảo sát: Tỷ phú USD</a:t>
                      </a:r>
                    </a:p>
                    <a:p>
                      <a:pPr algn="ctr">
                        <a:lnSpc>
                          <a:spcPct val="103000"/>
                        </a:lnSpc>
                      </a:pPr>
                      <a:r>
                        <a:rPr sz="700" b="1">
                          <a:solidFill>
                            <a:srgbClr val="E67E22"/>
                          </a:solidFill>
                          <a:latin typeface="Arial"/>
                        </a:rPr>
                        <a:t>hay Nhà quản lý kinh nghiệm?</a:t>
                      </a:r>
                    </a:p>
                  </a:txBody>
                  <a:tcPr anchor="ctr" marL="27432" marR="27432" marT="9144" marB="9144">
                    <a:solidFill>
                      <a:srgbClr val="FFF6E8"/>
                    </a:solidFill>
                  </a:tcPr>
                </a:tc>
                <a:tc>
                  <a:txBody>
                    <a:bodyPr wrap="square"/>
                    <a:lstStyle/>
                    <a:p>
                      <a:pPr algn="ctr">
                        <a:lnSpc>
                          <a:spcPct val="103000"/>
                        </a:lnSpc>
                      </a:pPr>
                      <a:r>
                        <a:rPr sz="710" b="1">
                          <a:solidFill>
                            <a:srgbClr val="0B1528"/>
                          </a:solidFill>
                          <a:latin typeface="Arial"/>
                        </a:rPr>
                        <a:t>22 yêu cầu</a:t>
                      </a:r>
                    </a:p>
                    <a:p>
                      <a:pPr algn="ctr">
                        <a:lnSpc>
                          <a:spcPct val="103000"/>
                        </a:lnSpc>
                      </a:pPr>
                      <a:r>
                        <a:rPr sz="710" b="1">
                          <a:solidFill>
                            <a:srgbClr val="0B1528"/>
                          </a:solidFill>
                          <a:latin typeface="Arial"/>
                        </a:rPr>
                        <a:t>24 bài xác thực</a:t>
                      </a:r>
                    </a:p>
                  </a:txBody>
                  <a:tcPr anchor="ctr" marL="27432" marR="27432" marT="9144" marB="9144">
                    <a:solidFill>
                      <a:srgbClr val="F1F3F7"/>
                    </a:solidFill>
                  </a:tcPr>
                </a:tc>
                <a:tc>
                  <a:txBody>
                    <a:bodyPr wrap="square"/>
                    <a:lstStyle/>
                    <a:p>
                      <a:pPr algn="ctr">
                        <a:lnSpc>
                          <a:spcPct val="103000"/>
                        </a:lnSpc>
                      </a:pPr>
                      <a:r>
                        <a:rPr sz="700" b="0">
                          <a:solidFill>
                            <a:srgbClr val="121C2D"/>
                          </a:solidFill>
                          <a:latin typeface="Arial"/>
                        </a:rPr>
                        <a:t>751 bình luận</a:t>
                      </a:r>
                    </a:p>
                    <a:p>
                      <a:pPr algn="ctr">
                        <a:lnSpc>
                          <a:spcPct val="103000"/>
                        </a:lnSpc>
                      </a:pPr>
                      <a:r>
                        <a:rPr sz="700" b="0">
                          <a:solidFill>
                            <a:srgbClr val="121C2D"/>
                          </a:solidFill>
                          <a:latin typeface="Arial"/>
                        </a:rPr>
                        <a:t>15.103 cảm xúc</a:t>
                      </a:r>
                    </a:p>
                  </a:txBody>
                  <a:tcPr anchor="ctr" marL="27432" marR="27432" marT="9144" marB="9144">
                    <a:solidFill>
                      <a:srgbClr val="F1F3F7"/>
                    </a:solidFill>
                  </a:tcPr>
                </a:tc>
                <a:tc>
                  <a:txBody>
                    <a:bodyPr wrap="square"/>
                    <a:lstStyle/>
                    <a:p>
                      <a:pPr algn="l">
                        <a:lnSpc>
                          <a:spcPct val="103000"/>
                        </a:lnSpc>
                      </a:pPr>
                      <a:r>
                        <a:rPr sz="700" b="1">
                          <a:solidFill>
                            <a:srgbClr val="1560D4"/>
                          </a:solidFill>
                          <a:latin typeface="Arial"/>
                        </a:rPr>
                        <a:t>Khối Tuấn CT: 78 (54 thẳng + 24 LD1) | Phản đối Thụy: 22 | Phản đối Tuấn: 14 | Khối Thụy CT: 46 (32+14)</a:t>
                      </a:r>
                    </a:p>
                  </a:txBody>
                  <a:tcPr anchor="ctr" marL="27432" marR="27432" marT="9144" marB="9144">
                    <a:solidFill>
                      <a:srgbClr val="F1F3F7"/>
                    </a:solidFill>
                  </a:tcPr>
                </a:tc>
                <a:tc>
                  <a:txBody>
                    <a:bodyPr wrap="square"/>
                    <a:lstStyle/>
                    <a:p>
                      <a:pPr algn="l">
                        <a:lnSpc>
                          <a:spcPct val="103000"/>
                        </a:lnSpc>
                      </a:pPr>
                      <a:r>
                        <a:rPr sz="670" b="0">
                          <a:solidFill>
                            <a:srgbClr val="121C2D"/>
                          </a:solidFill>
                          <a:latin typeface="Arial"/>
                        </a:rPr>
                        <a:t>NGHIÊNG VỀ TS. TUẤN (48,8% vs 28,8%): Dù bài đăng đặt câu hỏi mở, bình luận ưu tiên TS. Tuấn + Liên danh 1.</a:t>
                      </a:r>
                    </a:p>
                  </a:txBody>
                  <a:tcPr anchor="ctr" marL="36576" marR="36576" marT="9144" marB="9144">
                    <a:solidFill>
                      <a:srgbClr val="F1F3F7"/>
                    </a:solidFill>
                  </a:tcPr>
                </a:tc>
              </a:tr>
              <a:tr h="347472">
                <a:tc>
                  <a:txBody>
                    <a:bodyPr wrap="square"/>
                    <a:lstStyle/>
                    <a:p>
                      <a:pPr algn="l">
                        <a:lnSpc>
                          <a:spcPct val="103000"/>
                        </a:lnSpc>
                      </a:pPr>
                      <a:r>
                        <a:rPr sz="710" b="1">
                          <a:solidFill>
                            <a:srgbClr val="0B1528"/>
                          </a:solidFill>
                          <a:latin typeface="Arial"/>
                          <a:hlinkClick r:id="rId4"/>
                        </a:rPr>
                        <a:t>3. Tuyền Văn Hóa</a:t>
                      </a:r>
                    </a:p>
                    <a:p>
                      <a:pPr algn="l">
                        <a:lnSpc>
                          <a:spcPct val="103000"/>
                        </a:lnSpc>
                      </a:pPr>
                      <a:r>
                        <a:rPr sz="710" b="1">
                          <a:solidFill>
                            <a:srgbClr val="0B1528"/>
                          </a:solidFill>
                          <a:latin typeface="Arial"/>
                        </a:rPr>
                        <a:t>(Fanpage KOL Bình luận viên)</a:t>
                      </a:r>
                    </a:p>
                  </a:txBody>
                  <a:tcPr anchor="ctr" marL="27432" marR="27432" marT="9144" marB="9144">
                    <a:solidFill>
                      <a:srgbClr val="FFFFFF"/>
                    </a:solidFill>
                  </a:tcPr>
                </a:tc>
                <a:tc>
                  <a:txBody>
                    <a:bodyPr wrap="square"/>
                    <a:lstStyle/>
                    <a:p>
                      <a:pPr algn="ctr">
                        <a:lnSpc>
                          <a:spcPct val="103000"/>
                        </a:lnSpc>
                      </a:pPr>
                      <a:r>
                        <a:rPr sz="700" b="1">
                          <a:solidFill>
                            <a:srgbClr val="0E94A5"/>
                          </a:solidFill>
                          <a:latin typeface="Arial"/>
                        </a:rPr>
                        <a:t>Đưa tin ĐTQG &amp; Khảo sát</a:t>
                      </a:r>
                    </a:p>
                    <a:p>
                      <a:pPr algn="ctr">
                        <a:lnSpc>
                          <a:spcPct val="103000"/>
                        </a:lnSpc>
                      </a:pPr>
                      <a:r>
                        <a:rPr sz="700" b="1">
                          <a:solidFill>
                            <a:srgbClr val="0E94A5"/>
                          </a:solidFill>
                          <a:latin typeface="Arial"/>
                        </a:rPr>
                        <a:t>nhân sự thượng tầng VFF</a:t>
                      </a:r>
                    </a:p>
                  </a:txBody>
                  <a:tcPr anchor="ctr" marL="27432" marR="27432" marT="9144" marB="9144">
                    <a:solidFill>
                      <a:srgbClr val="E8F8FA"/>
                    </a:solidFill>
                  </a:tcPr>
                </a:tc>
                <a:tc>
                  <a:txBody>
                    <a:bodyPr wrap="square"/>
                    <a:lstStyle/>
                    <a:p>
                      <a:pPr algn="ctr">
                        <a:lnSpc>
                          <a:spcPct val="103000"/>
                        </a:lnSpc>
                      </a:pPr>
                      <a:r>
                        <a:rPr sz="710" b="1">
                          <a:solidFill>
                            <a:srgbClr val="0B1528"/>
                          </a:solidFill>
                          <a:latin typeface="Arial"/>
                        </a:rPr>
                        <a:t>10 yêu cầu</a:t>
                      </a:r>
                    </a:p>
                    <a:p>
                      <a:pPr algn="ctr">
                        <a:lnSpc>
                          <a:spcPct val="103000"/>
                        </a:lnSpc>
                      </a:pPr>
                      <a:r>
                        <a:rPr sz="710" b="1">
                          <a:solidFill>
                            <a:srgbClr val="0B1528"/>
                          </a:solidFill>
                          <a:latin typeface="Arial"/>
                        </a:rPr>
                        <a:t>3 bài xác thực</a:t>
                      </a:r>
                    </a:p>
                  </a:txBody>
                  <a:tcPr anchor="ctr" marL="27432" marR="27432" marT="9144" marB="9144">
                    <a:solidFill>
                      <a:srgbClr val="FFFFFF"/>
                    </a:solidFill>
                  </a:tcPr>
                </a:tc>
                <a:tc>
                  <a:txBody>
                    <a:bodyPr wrap="square"/>
                    <a:lstStyle/>
                    <a:p>
                      <a:pPr algn="ctr">
                        <a:lnSpc>
                          <a:spcPct val="103000"/>
                        </a:lnSpc>
                      </a:pPr>
                      <a:r>
                        <a:rPr sz="700" b="0">
                          <a:solidFill>
                            <a:srgbClr val="121C2D"/>
                          </a:solidFill>
                          <a:latin typeface="Arial"/>
                        </a:rPr>
                        <a:t>348 bình luận</a:t>
                      </a:r>
                    </a:p>
                    <a:p>
                      <a:pPr algn="ctr">
                        <a:lnSpc>
                          <a:spcPct val="103000"/>
                        </a:lnSpc>
                      </a:pPr>
                      <a:r>
                        <a:rPr sz="700" b="0">
                          <a:solidFill>
                            <a:srgbClr val="121C2D"/>
                          </a:solidFill>
                          <a:latin typeface="Arial"/>
                        </a:rPr>
                        <a:t>23.840 cảm xúc</a:t>
                      </a:r>
                    </a:p>
                  </a:txBody>
                  <a:tcPr anchor="ctr" marL="27432" marR="27432" marT="9144" marB="9144">
                    <a:solidFill>
                      <a:srgbClr val="FFFFFF"/>
                    </a:solidFill>
                  </a:tcPr>
                </a:tc>
                <a:tc>
                  <a:txBody>
                    <a:bodyPr wrap="square"/>
                    <a:lstStyle/>
                    <a:p>
                      <a:pPr algn="l">
                        <a:lnSpc>
                          <a:spcPct val="103000"/>
                        </a:lnSpc>
                      </a:pPr>
                      <a:r>
                        <a:rPr sz="700" b="1">
                          <a:solidFill>
                            <a:srgbClr val="1560D4"/>
                          </a:solidFill>
                          <a:latin typeface="Arial"/>
                        </a:rPr>
                        <a:t>Khối Tuấn CT: 28 (21 thẳng + 7 LD1) | Phản đối Tuấn/Nhập tịch: 16 | Phản đối Thụy: 8 | Khối Thụy CT: 18</a:t>
                      </a:r>
                    </a:p>
                  </a:txBody>
                  <a:tcPr anchor="ctr" marL="27432" marR="27432" marT="9144" marB="9144">
                    <a:solidFill>
                      <a:srgbClr val="FFFFFF"/>
                    </a:solidFill>
                  </a:tcPr>
                </a:tc>
                <a:tc>
                  <a:txBody>
                    <a:bodyPr wrap="square"/>
                    <a:lstStyle/>
                    <a:p>
                      <a:pPr algn="l">
                        <a:lnSpc>
                          <a:spcPct val="103000"/>
                        </a:lnSpc>
                      </a:pPr>
                      <a:r>
                        <a:rPr sz="670" b="0">
                          <a:solidFill>
                            <a:srgbClr val="121C2D"/>
                          </a:solidFill>
                          <a:latin typeface="Arial"/>
                        </a:rPr>
                        <a:t>TRANH LUẬN SÔI NỔI: 40,0% chọn TS. Tuấn làm CT, nhưng có 16 bình luận tranh cãi gay gắt chuyện cầu thủ nhập tịch.</a:t>
                      </a:r>
                    </a:p>
                  </a:txBody>
                  <a:tcPr anchor="ctr" marL="36576" marR="36576" marT="9144" marB="9144">
                    <a:solidFill>
                      <a:srgbClr val="FFFFFF"/>
                    </a:solidFill>
                  </a:tcPr>
                </a:tc>
              </a:tr>
              <a:tr h="347472">
                <a:tc>
                  <a:txBody>
                    <a:bodyPr wrap="square"/>
                    <a:lstStyle/>
                    <a:p>
                      <a:pPr algn="l">
                        <a:lnSpc>
                          <a:spcPct val="103000"/>
                        </a:lnSpc>
                      </a:pPr>
                      <a:r>
                        <a:rPr sz="710" b="1">
                          <a:solidFill>
                            <a:srgbClr val="0B1528"/>
                          </a:solidFill>
                          <a:latin typeface="Arial"/>
                          <a:hlinkClick r:id="rId5"/>
                        </a:rPr>
                        <a:t>4. Mai Anh Tài &amp; Ted Trần TV</a:t>
                      </a:r>
                    </a:p>
                    <a:p>
                      <a:pPr algn="l">
                        <a:lnSpc>
                          <a:spcPct val="103000"/>
                        </a:lnSpc>
                      </a:pPr>
                      <a:r>
                        <a:rPr sz="710" b="1">
                          <a:solidFill>
                            <a:srgbClr val="0B1528"/>
                          </a:solidFill>
                          <a:latin typeface="Arial"/>
                        </a:rPr>
                        <a:t>(2 Kênh Phân tích Bóng đá)</a:t>
                      </a:r>
                    </a:p>
                  </a:txBody>
                  <a:tcPr anchor="ctr" marL="27432" marR="27432" marT="9144" marB="9144">
                    <a:solidFill>
                      <a:srgbClr val="F1F3F7"/>
                    </a:solidFill>
                  </a:tcPr>
                </a:tc>
                <a:tc>
                  <a:txBody>
                    <a:bodyPr wrap="square"/>
                    <a:lstStyle/>
                    <a:p>
                      <a:pPr algn="ctr">
                        <a:lnSpc>
                          <a:spcPct val="103000"/>
                        </a:lnSpc>
                      </a:pPr>
                      <a:r>
                        <a:rPr sz="700" b="1">
                          <a:solidFill>
                            <a:srgbClr val="1560D4"/>
                          </a:solidFill>
                          <a:latin typeface="Arial"/>
                        </a:rPr>
                        <a:t>Ủng hộ TS. Trần Quốc Tuấn</a:t>
                      </a:r>
                    </a:p>
                    <a:p>
                      <a:pPr algn="ctr">
                        <a:lnSpc>
                          <a:spcPct val="103000"/>
                        </a:lnSpc>
                      </a:pPr>
                      <a:r>
                        <a:rPr sz="700" b="1">
                          <a:solidFill>
                            <a:srgbClr val="1560D4"/>
                          </a:solidFill>
                          <a:latin typeface="Arial"/>
                        </a:rPr>
                        <a:t>&amp; Phân tích thể chế VFF</a:t>
                      </a:r>
                    </a:p>
                  </a:txBody>
                  <a:tcPr anchor="ctr" marL="27432" marR="27432" marT="9144" marB="9144">
                    <a:solidFill>
                      <a:srgbClr val="EBF3FF"/>
                    </a:solidFill>
                  </a:tcPr>
                </a:tc>
                <a:tc>
                  <a:txBody>
                    <a:bodyPr wrap="square"/>
                    <a:lstStyle/>
                    <a:p>
                      <a:pPr algn="ctr">
                        <a:lnSpc>
                          <a:spcPct val="103000"/>
                        </a:lnSpc>
                      </a:pPr>
                      <a:r>
                        <a:rPr sz="710" b="1">
                          <a:solidFill>
                            <a:srgbClr val="0B1528"/>
                          </a:solidFill>
                          <a:latin typeface="Arial"/>
                        </a:rPr>
                        <a:t>19 yêu cầu</a:t>
                      </a:r>
                    </a:p>
                    <a:p>
                      <a:pPr algn="ctr">
                        <a:lnSpc>
                          <a:spcPct val="103000"/>
                        </a:lnSpc>
                      </a:pPr>
                      <a:r>
                        <a:rPr sz="710" b="1">
                          <a:solidFill>
                            <a:srgbClr val="0B1528"/>
                          </a:solidFill>
                          <a:latin typeface="Arial"/>
                        </a:rPr>
                        <a:t>19 bài xác thực</a:t>
                      </a:r>
                    </a:p>
                  </a:txBody>
                  <a:tcPr anchor="ctr" marL="27432" marR="27432" marT="9144" marB="9144">
                    <a:solidFill>
                      <a:srgbClr val="F1F3F7"/>
                    </a:solidFill>
                  </a:tcPr>
                </a:tc>
                <a:tc>
                  <a:txBody>
                    <a:bodyPr wrap="square"/>
                    <a:lstStyle/>
                    <a:p>
                      <a:pPr algn="ctr">
                        <a:lnSpc>
                          <a:spcPct val="103000"/>
                        </a:lnSpc>
                      </a:pPr>
                      <a:r>
                        <a:rPr sz="700" b="0">
                          <a:solidFill>
                            <a:srgbClr val="121C2D"/>
                          </a:solidFill>
                          <a:latin typeface="Arial"/>
                        </a:rPr>
                        <a:t>598 bình luận</a:t>
                      </a:r>
                    </a:p>
                    <a:p>
                      <a:pPr algn="ctr">
                        <a:lnSpc>
                          <a:spcPct val="103000"/>
                        </a:lnSpc>
                      </a:pPr>
                      <a:r>
                        <a:rPr sz="700" b="0">
                          <a:solidFill>
                            <a:srgbClr val="121C2D"/>
                          </a:solidFill>
                          <a:latin typeface="Arial"/>
                        </a:rPr>
                        <a:t>6.345 cảm xúc</a:t>
                      </a:r>
                    </a:p>
                  </a:txBody>
                  <a:tcPr anchor="ctr" marL="27432" marR="27432" marT="9144" marB="9144">
                    <a:solidFill>
                      <a:srgbClr val="F1F3F7"/>
                    </a:solidFill>
                  </a:tcPr>
                </a:tc>
                <a:tc>
                  <a:txBody>
                    <a:bodyPr wrap="square"/>
                    <a:lstStyle/>
                    <a:p>
                      <a:pPr algn="l">
                        <a:lnSpc>
                          <a:spcPct val="103000"/>
                        </a:lnSpc>
                      </a:pPr>
                      <a:r>
                        <a:rPr sz="700" b="1">
                          <a:solidFill>
                            <a:srgbClr val="1560D4"/>
                          </a:solidFill>
                          <a:latin typeface="Arial"/>
                        </a:rPr>
                        <a:t>Khối Tuấn CT: 64 (51 thẳng + 13 LD1) | Phản đối Thụy: 15 | Phản đối Tuấn: 8 | Khối Thụy CT: 19 (14+5)</a:t>
                      </a:r>
                    </a:p>
                  </a:txBody>
                  <a:tcPr anchor="ctr" marL="27432" marR="27432" marT="9144" marB="9144">
                    <a:solidFill>
                      <a:srgbClr val="F1F3F7"/>
                    </a:solidFill>
                  </a:tcPr>
                </a:tc>
                <a:tc>
                  <a:txBody>
                    <a:bodyPr wrap="square"/>
                    <a:lstStyle/>
                    <a:p>
                      <a:pPr algn="l">
                        <a:lnSpc>
                          <a:spcPct val="103000"/>
                        </a:lnSpc>
                      </a:pPr>
                      <a:r>
                        <a:rPr sz="670" b="0">
                          <a:solidFill>
                            <a:srgbClr val="121C2D"/>
                          </a:solidFill>
                          <a:latin typeface="Arial"/>
                        </a:rPr>
                        <a:t>CỦNG CỐ LẬP TRƯỜNG (60,4% chọn TS. Tuấn): Khán giả đồng tình cần nhà quản trị chuyên trách quốc tế.</a:t>
                      </a:r>
                    </a:p>
                  </a:txBody>
                  <a:tcPr anchor="ctr" marL="36576" marR="36576" marT="9144" marB="9144">
                    <a:solidFill>
                      <a:srgbClr val="F1F3F7"/>
                    </a:solidFill>
                  </a:tcPr>
                </a:tc>
              </a:tr>
              <a:tr h="347472">
                <a:tc>
                  <a:txBody>
                    <a:bodyPr wrap="square"/>
                    <a:lstStyle/>
                    <a:p>
                      <a:pPr algn="l">
                        <a:lnSpc>
                          <a:spcPct val="103000"/>
                        </a:lnSpc>
                      </a:pPr>
                      <a:r>
                        <a:rPr sz="710" b="1">
                          <a:solidFill>
                            <a:srgbClr val="0B1528"/>
                          </a:solidFill>
                          <a:latin typeface="Arial"/>
                          <a:hlinkClick r:id="rId6"/>
                        </a:rPr>
                        <a:t>5. BLV Anh Quân</a:t>
                      </a:r>
                    </a:p>
                    <a:p>
                      <a:pPr algn="l">
                        <a:lnSpc>
                          <a:spcPct val="103000"/>
                        </a:lnSpc>
                      </a:pPr>
                      <a:r>
                        <a:rPr sz="710" b="1">
                          <a:solidFill>
                            <a:srgbClr val="0B1528"/>
                          </a:solidFill>
                          <a:latin typeface="Arial"/>
                        </a:rPr>
                        <a:t>(Fanpage Bình luận viên)</a:t>
                      </a:r>
                    </a:p>
                  </a:txBody>
                  <a:tcPr anchor="ctr" marL="27432" marR="27432" marT="9144" marB="9144">
                    <a:solidFill>
                      <a:srgbClr val="FFFFFF"/>
                    </a:solidFill>
                  </a:tcPr>
                </a:tc>
                <a:tc>
                  <a:txBody>
                    <a:bodyPr wrap="square"/>
                    <a:lstStyle/>
                    <a:p>
                      <a:pPr algn="ctr">
                        <a:lnSpc>
                          <a:spcPct val="103000"/>
                        </a:lnSpc>
                      </a:pPr>
                      <a:r>
                        <a:rPr sz="700" b="1">
                          <a:solidFill>
                            <a:srgbClr val="0E94A5"/>
                          </a:solidFill>
                          <a:latin typeface="Arial"/>
                        </a:rPr>
                        <a:t>Trung lập / Phân tích mục tiêu</a:t>
                      </a:r>
                    </a:p>
                    <a:p>
                      <a:pPr algn="ctr">
                        <a:lnSpc>
                          <a:spcPct val="103000"/>
                        </a:lnSpc>
                      </a:pPr>
                      <a:r>
                        <a:rPr sz="700" b="1">
                          <a:solidFill>
                            <a:srgbClr val="0E94A5"/>
                          </a:solidFill>
                          <a:latin typeface="Arial"/>
                        </a:rPr>
                        <a:t>World Cup &amp; nhân sự VFF</a:t>
                      </a:r>
                    </a:p>
                  </a:txBody>
                  <a:tcPr anchor="ctr" marL="27432" marR="27432" marT="9144" marB="9144">
                    <a:solidFill>
                      <a:srgbClr val="E8F8FA"/>
                    </a:solidFill>
                  </a:tcPr>
                </a:tc>
                <a:tc>
                  <a:txBody>
                    <a:bodyPr wrap="square"/>
                    <a:lstStyle/>
                    <a:p>
                      <a:pPr algn="ctr">
                        <a:lnSpc>
                          <a:spcPct val="103000"/>
                        </a:lnSpc>
                      </a:pPr>
                      <a:r>
                        <a:rPr sz="710" b="1">
                          <a:solidFill>
                            <a:srgbClr val="0B1528"/>
                          </a:solidFill>
                          <a:latin typeface="Arial"/>
                        </a:rPr>
                        <a:t>5 yêu cầu</a:t>
                      </a:r>
                    </a:p>
                    <a:p>
                      <a:pPr algn="ctr">
                        <a:lnSpc>
                          <a:spcPct val="103000"/>
                        </a:lnSpc>
                      </a:pPr>
                      <a:r>
                        <a:rPr sz="710" b="1">
                          <a:solidFill>
                            <a:srgbClr val="0B1528"/>
                          </a:solidFill>
                          <a:latin typeface="Arial"/>
                        </a:rPr>
                        <a:t>4 bài xác thực</a:t>
                      </a:r>
                    </a:p>
                  </a:txBody>
                  <a:tcPr anchor="ctr" marL="27432" marR="27432" marT="9144" marB="9144">
                    <a:solidFill>
                      <a:srgbClr val="FFFFFF"/>
                    </a:solidFill>
                  </a:tcPr>
                </a:tc>
                <a:tc>
                  <a:txBody>
                    <a:bodyPr wrap="square"/>
                    <a:lstStyle/>
                    <a:p>
                      <a:pPr algn="ctr">
                        <a:lnSpc>
                          <a:spcPct val="103000"/>
                        </a:lnSpc>
                      </a:pPr>
                      <a:r>
                        <a:rPr sz="700" b="0">
                          <a:solidFill>
                            <a:srgbClr val="121C2D"/>
                          </a:solidFill>
                          <a:latin typeface="Arial"/>
                        </a:rPr>
                        <a:t>281 bình luận</a:t>
                      </a:r>
                    </a:p>
                    <a:p>
                      <a:pPr algn="ctr">
                        <a:lnSpc>
                          <a:spcPct val="103000"/>
                        </a:lnSpc>
                      </a:pPr>
                      <a:r>
                        <a:rPr sz="700" b="0">
                          <a:solidFill>
                            <a:srgbClr val="121C2D"/>
                          </a:solidFill>
                          <a:latin typeface="Arial"/>
                        </a:rPr>
                        <a:t>39.280 cảm xúc</a:t>
                      </a:r>
                    </a:p>
                  </a:txBody>
                  <a:tcPr anchor="ctr" marL="27432" marR="27432" marT="9144" marB="9144">
                    <a:solidFill>
                      <a:srgbClr val="FFFFFF"/>
                    </a:solidFill>
                  </a:tcPr>
                </a:tc>
                <a:tc>
                  <a:txBody>
                    <a:bodyPr wrap="square"/>
                    <a:lstStyle/>
                    <a:p>
                      <a:pPr algn="l">
                        <a:lnSpc>
                          <a:spcPct val="103000"/>
                        </a:lnSpc>
                      </a:pPr>
                      <a:r>
                        <a:rPr sz="700" b="1">
                          <a:solidFill>
                            <a:srgbClr val="1560D4"/>
                          </a:solidFill>
                          <a:latin typeface="Arial"/>
                        </a:rPr>
                        <a:t>Khối Tuấn CT: 31 (24 thẳng + 7 LD1) | Phản đối cả hai: 19 | Phản đối Tuấn: 11 | Khối Thụy CT: 21</a:t>
                      </a:r>
                    </a:p>
                  </a:txBody>
                  <a:tcPr anchor="ctr" marL="27432" marR="27432" marT="9144" marB="9144">
                    <a:solidFill>
                      <a:srgbClr val="FFFFFF"/>
                    </a:solidFill>
                  </a:tcPr>
                </a:tc>
                <a:tc>
                  <a:txBody>
                    <a:bodyPr wrap="square"/>
                    <a:lstStyle/>
                    <a:p>
                      <a:pPr algn="l">
                        <a:lnSpc>
                          <a:spcPct val="103000"/>
                        </a:lnSpc>
                      </a:pPr>
                      <a:r>
                        <a:rPr sz="670" b="0">
                          <a:solidFill>
                            <a:srgbClr val="121C2D"/>
                          </a:solidFill>
                          <a:latin typeface="Arial"/>
                        </a:rPr>
                        <a:t>PHẢN BIỆN THỰC TẾ: Nhiều bình luận cho rằng bóng đá VN cần làm tốt đào tạo trẻ trước khi mơ World Cup.</a:t>
                      </a:r>
                    </a:p>
                  </a:txBody>
                  <a:tcPr anchor="ctr" marL="36576" marR="36576" marT="9144" marB="9144">
                    <a:solidFill>
                      <a:srgbClr val="FFFFFF"/>
                    </a:solidFill>
                  </a:tcPr>
                </a:tc>
              </a:tr>
              <a:tr h="347472">
                <a:tc>
                  <a:txBody>
                    <a:bodyPr wrap="square"/>
                    <a:lstStyle/>
                    <a:p>
                      <a:pPr algn="l">
                        <a:lnSpc>
                          <a:spcPct val="103000"/>
                        </a:lnSpc>
                      </a:pPr>
                      <a:r>
                        <a:rPr sz="710" b="1">
                          <a:solidFill>
                            <a:srgbClr val="0B1528"/>
                          </a:solidFill>
                          <a:latin typeface="Arial"/>
                          <a:hlinkClick r:id="rId7"/>
                        </a:rPr>
                        <a:t>6. Anh Em Bóng Đá</a:t>
                      </a:r>
                    </a:p>
                    <a:p>
                      <a:pPr algn="l">
                        <a:lnSpc>
                          <a:spcPct val="103000"/>
                        </a:lnSpc>
                      </a:pPr>
                      <a:r>
                        <a:rPr sz="710" b="1">
                          <a:solidFill>
                            <a:srgbClr val="0B1528"/>
                          </a:solidFill>
                          <a:latin typeface="Arial"/>
                        </a:rPr>
                        <a:t>(Chuyên trang Phản biện sâu)</a:t>
                      </a:r>
                    </a:p>
                  </a:txBody>
                  <a:tcPr anchor="ctr" marL="27432" marR="27432" marT="9144" marB="9144">
                    <a:solidFill>
                      <a:srgbClr val="EBF3FF"/>
                    </a:solidFill>
                  </a:tcPr>
                </a:tc>
                <a:tc>
                  <a:txBody>
                    <a:bodyPr wrap="square"/>
                    <a:lstStyle/>
                    <a:p>
                      <a:pPr algn="ctr">
                        <a:lnSpc>
                          <a:spcPct val="103000"/>
                        </a:lnSpc>
                      </a:pPr>
                      <a:r>
                        <a:rPr sz="700" b="1">
                          <a:solidFill>
                            <a:srgbClr val="1560D4"/>
                          </a:solidFill>
                          <a:latin typeface="Arial"/>
                        </a:rPr>
                        <a:t>Bảo vệ TS. Tuấn / Phản biện</a:t>
                      </a:r>
                    </a:p>
                    <a:p>
                      <a:pPr algn="ctr">
                        <a:lnSpc>
                          <a:spcPct val="103000"/>
                        </a:lnSpc>
                      </a:pPr>
                      <a:r>
                        <a:rPr sz="700" b="1">
                          <a:solidFill>
                            <a:srgbClr val="1560D4"/>
                          </a:solidFill>
                          <a:latin typeface="Arial"/>
                        </a:rPr>
                        <a:t>mô hình Madam Pang &amp; Thohir</a:t>
                      </a:r>
                    </a:p>
                  </a:txBody>
                  <a:tcPr anchor="ctr" marL="27432" marR="27432" marT="9144" marB="9144">
                    <a:solidFill>
                      <a:srgbClr val="EBF3FF"/>
                    </a:solidFill>
                  </a:tcPr>
                </a:tc>
                <a:tc>
                  <a:txBody>
                    <a:bodyPr wrap="square"/>
                    <a:lstStyle/>
                    <a:p>
                      <a:pPr algn="ctr">
                        <a:lnSpc>
                          <a:spcPct val="103000"/>
                        </a:lnSpc>
                      </a:pPr>
                      <a:r>
                        <a:rPr sz="710" b="1">
                          <a:solidFill>
                            <a:srgbClr val="0B1528"/>
                          </a:solidFill>
                          <a:latin typeface="Arial"/>
                        </a:rPr>
                        <a:t>4 bài xác thực</a:t>
                      </a:r>
                    </a:p>
                    <a:p>
                      <a:pPr algn="ctr">
                        <a:lnSpc>
                          <a:spcPct val="103000"/>
                        </a:lnSpc>
                      </a:pPr>
                      <a:r>
                        <a:rPr sz="710" b="1">
                          <a:solidFill>
                            <a:srgbClr val="0B1528"/>
                          </a:solidFill>
                          <a:latin typeface="Arial"/>
                        </a:rPr>
                        <a:t>(Chuyên sâu)</a:t>
                      </a:r>
                    </a:p>
                  </a:txBody>
                  <a:tcPr anchor="ctr" marL="27432" marR="27432" marT="9144" marB="9144">
                    <a:solidFill>
                      <a:srgbClr val="EBF3FF"/>
                    </a:solidFill>
                  </a:tcPr>
                </a:tc>
                <a:tc>
                  <a:txBody>
                    <a:bodyPr wrap="square"/>
                    <a:lstStyle/>
                    <a:p>
                      <a:pPr algn="ctr">
                        <a:lnSpc>
                          <a:spcPct val="103000"/>
                        </a:lnSpc>
                      </a:pPr>
                      <a:r>
                        <a:rPr sz="700" b="0">
                          <a:solidFill>
                            <a:srgbClr val="121C2D"/>
                          </a:solidFill>
                          <a:latin typeface="Arial"/>
                        </a:rPr>
                        <a:t>205 bình luận</a:t>
                      </a:r>
                    </a:p>
                    <a:p>
                      <a:pPr algn="ctr">
                        <a:lnSpc>
                          <a:spcPct val="103000"/>
                        </a:lnSpc>
                      </a:pPr>
                      <a:r>
                        <a:rPr sz="700" b="0">
                          <a:solidFill>
                            <a:srgbClr val="121C2D"/>
                          </a:solidFill>
                          <a:latin typeface="Arial"/>
                        </a:rPr>
                        <a:t>5.714 cảm xúc</a:t>
                      </a:r>
                    </a:p>
                  </a:txBody>
                  <a:tcPr anchor="ctr" marL="27432" marR="27432" marT="9144" marB="9144">
                    <a:solidFill>
                      <a:srgbClr val="EBF3FF"/>
                    </a:solidFill>
                  </a:tcPr>
                </a:tc>
                <a:tc>
                  <a:txBody>
                    <a:bodyPr wrap="square"/>
                    <a:lstStyle/>
                    <a:p>
                      <a:pPr algn="l">
                        <a:lnSpc>
                          <a:spcPct val="103000"/>
                        </a:lnSpc>
                      </a:pPr>
                      <a:r>
                        <a:rPr sz="700" b="1">
                          <a:solidFill>
                            <a:srgbClr val="1560D4"/>
                          </a:solidFill>
                          <a:latin typeface="Arial"/>
                        </a:rPr>
                        <a:t>Khối Tuấn CT: 42 (33 thẳng + 9 LD1) | Phản đối Thụy: 18 | Phản đối Tuấn: 5 | Khối Thụy CT: 6 (4+2)</a:t>
                      </a:r>
                    </a:p>
                  </a:txBody>
                  <a:tcPr anchor="ctr" marL="27432" marR="27432" marT="9144" marB="9144">
                    <a:solidFill>
                      <a:srgbClr val="EBF3FF"/>
                    </a:solidFill>
                  </a:tcPr>
                </a:tc>
                <a:tc>
                  <a:txBody>
                    <a:bodyPr wrap="square"/>
                    <a:lstStyle/>
                    <a:p>
                      <a:pPr algn="l">
                        <a:lnSpc>
                          <a:spcPct val="103000"/>
                        </a:lnSpc>
                      </a:pPr>
                      <a:r>
                        <a:rPr sz="670" b="0">
                          <a:solidFill>
                            <a:srgbClr val="121C2D"/>
                          </a:solidFill>
                          <a:latin typeface="Arial"/>
                        </a:rPr>
                        <a:t>ÁP ĐẢO TUYỆT ĐỐI (59,2% chọn TS. Tuấn + 25,4% phản đối mô hình ông bầu): Điểm tựa lý luận mạnh nhất.</a:t>
                      </a:r>
                    </a:p>
                  </a:txBody>
                  <a:tcPr anchor="ctr" marL="36576" marR="36576" marT="9144" marB="9144">
                    <a:solidFill>
                      <a:srgbClr val="EBF3FF"/>
                    </a:solidFill>
                  </a:tcPr>
                </a:tc>
              </a:tr>
              <a:tr h="347472">
                <a:tc>
                  <a:txBody>
                    <a:bodyPr wrap="square"/>
                    <a:lstStyle/>
                    <a:p>
                      <a:pPr algn="l">
                        <a:lnSpc>
                          <a:spcPct val="103000"/>
                        </a:lnSpc>
                      </a:pPr>
                      <a:r>
                        <a:rPr sz="710" b="1">
                          <a:solidFill>
                            <a:srgbClr val="0B1528"/>
                          </a:solidFill>
                          <a:latin typeface="Arial"/>
                          <a:hlinkClick r:id="rId8"/>
                        </a:rPr>
                        <a:t>7. HattrickSport</a:t>
                      </a:r>
                    </a:p>
                    <a:p>
                      <a:pPr algn="l">
                        <a:lnSpc>
                          <a:spcPct val="103000"/>
                        </a:lnSpc>
                      </a:pPr>
                      <a:r>
                        <a:rPr sz="710" b="1">
                          <a:solidFill>
                            <a:srgbClr val="0B1528"/>
                          </a:solidFill>
                          <a:latin typeface="Arial"/>
                        </a:rPr>
                        <a:t>(Chuyên trang Phân tích BĐVN)</a:t>
                      </a:r>
                    </a:p>
                  </a:txBody>
                  <a:tcPr anchor="ctr" marL="27432" marR="27432" marT="9144" marB="9144">
                    <a:solidFill>
                      <a:srgbClr val="FFFFFF"/>
                    </a:solidFill>
                  </a:tcPr>
                </a:tc>
                <a:tc>
                  <a:txBody>
                    <a:bodyPr wrap="square"/>
                    <a:lstStyle/>
                    <a:p>
                      <a:pPr algn="ctr">
                        <a:lnSpc>
                          <a:spcPct val="103000"/>
                        </a:lnSpc>
                      </a:pPr>
                      <a:r>
                        <a:rPr sz="700" b="1">
                          <a:solidFill>
                            <a:srgbClr val="1560D4"/>
                          </a:solidFill>
                          <a:latin typeface="Arial"/>
                        </a:rPr>
                        <a:t>Ủng hộ TS. Trần Quốc Tuấn</a:t>
                      </a:r>
                    </a:p>
                    <a:p>
                      <a:pPr algn="ctr">
                        <a:lnSpc>
                          <a:spcPct val="103000"/>
                        </a:lnSpc>
                      </a:pPr>
                      <a:r>
                        <a:rPr sz="700" b="1">
                          <a:solidFill>
                            <a:srgbClr val="1560D4"/>
                          </a:solidFill>
                          <a:latin typeface="Arial"/>
                        </a:rPr>
                        <a:t>(VFF lọt Top 3 LĐ Kim Cương)</a:t>
                      </a:r>
                    </a:p>
                  </a:txBody>
                  <a:tcPr anchor="ctr" marL="27432" marR="27432" marT="9144" marB="9144">
                    <a:solidFill>
                      <a:srgbClr val="EBF3FF"/>
                    </a:solidFill>
                  </a:tcPr>
                </a:tc>
                <a:tc>
                  <a:txBody>
                    <a:bodyPr wrap="square"/>
                    <a:lstStyle/>
                    <a:p>
                      <a:pPr algn="ctr">
                        <a:lnSpc>
                          <a:spcPct val="103000"/>
                        </a:lnSpc>
                      </a:pPr>
                      <a:r>
                        <a:rPr sz="710" b="1">
                          <a:solidFill>
                            <a:srgbClr val="0B1528"/>
                          </a:solidFill>
                          <a:latin typeface="Arial"/>
                        </a:rPr>
                        <a:t>6 bài xác thực</a:t>
                      </a:r>
                    </a:p>
                    <a:p>
                      <a:pPr algn="ctr">
                        <a:lnSpc>
                          <a:spcPct val="103000"/>
                        </a:lnSpc>
                      </a:pPr>
                      <a:r>
                        <a:rPr sz="710" b="1">
                          <a:solidFill>
                            <a:srgbClr val="0B1528"/>
                          </a:solidFill>
                          <a:latin typeface="Arial"/>
                        </a:rPr>
                        <a:t>(2 danh bạ)</a:t>
                      </a:r>
                    </a:p>
                  </a:txBody>
                  <a:tcPr anchor="ctr" marL="27432" marR="27432" marT="9144" marB="9144">
                    <a:solidFill>
                      <a:srgbClr val="FFFFFF"/>
                    </a:solidFill>
                  </a:tcPr>
                </a:tc>
                <a:tc>
                  <a:txBody>
                    <a:bodyPr wrap="square"/>
                    <a:lstStyle/>
                    <a:p>
                      <a:pPr algn="ctr">
                        <a:lnSpc>
                          <a:spcPct val="103000"/>
                        </a:lnSpc>
                      </a:pPr>
                      <a:r>
                        <a:rPr sz="700" b="0">
                          <a:solidFill>
                            <a:srgbClr val="121C2D"/>
                          </a:solidFill>
                          <a:latin typeface="Arial"/>
                        </a:rPr>
                        <a:t>141 bình luận</a:t>
                      </a:r>
                    </a:p>
                    <a:p>
                      <a:pPr algn="ctr">
                        <a:lnSpc>
                          <a:spcPct val="103000"/>
                        </a:lnSpc>
                      </a:pPr>
                      <a:r>
                        <a:rPr sz="700" b="0">
                          <a:solidFill>
                            <a:srgbClr val="121C2D"/>
                          </a:solidFill>
                          <a:latin typeface="Arial"/>
                        </a:rPr>
                        <a:t>13.452 cảm xúc</a:t>
                      </a:r>
                    </a:p>
                  </a:txBody>
                  <a:tcPr anchor="ctr" marL="27432" marR="27432" marT="9144" marB="9144">
                    <a:solidFill>
                      <a:srgbClr val="FFFFFF"/>
                    </a:solidFill>
                  </a:tcPr>
                </a:tc>
                <a:tc>
                  <a:txBody>
                    <a:bodyPr wrap="square"/>
                    <a:lstStyle/>
                    <a:p>
                      <a:pPr algn="l">
                        <a:lnSpc>
                          <a:spcPct val="103000"/>
                        </a:lnSpc>
                      </a:pPr>
                      <a:r>
                        <a:rPr sz="700" b="1">
                          <a:solidFill>
                            <a:srgbClr val="1560D4"/>
                          </a:solidFill>
                          <a:latin typeface="Arial"/>
                        </a:rPr>
                        <a:t>Khối Tuấn CT: 38 (26 thẳng + 12 LD1) | Phản đối Thụy: 6 | Phản đối Tuấn: 3 | Khối Thụy CT: 9 (6+3)</a:t>
                      </a:r>
                    </a:p>
                  </a:txBody>
                  <a:tcPr anchor="ctr" marL="27432" marR="27432" marT="9144" marB="9144">
                    <a:solidFill>
                      <a:srgbClr val="FFFFFF"/>
                    </a:solidFill>
                  </a:tcPr>
                </a:tc>
                <a:tc>
                  <a:txBody>
                    <a:bodyPr wrap="square"/>
                    <a:lstStyle/>
                    <a:p>
                      <a:pPr algn="l">
                        <a:lnSpc>
                          <a:spcPct val="103000"/>
                        </a:lnSpc>
                      </a:pPr>
                      <a:r>
                        <a:rPr sz="670" b="0">
                          <a:solidFill>
                            <a:srgbClr val="121C2D"/>
                          </a:solidFill>
                          <a:latin typeface="Arial"/>
                        </a:rPr>
                        <a:t>ĐỒNG THUẬN 67,9% CHỌN TS. TUẤN: Nhiều độc giả đề xuất rõ 'Tuấn Chủ tịch + Thụy Phó Tài chính'.</a:t>
                      </a:r>
                    </a:p>
                  </a:txBody>
                  <a:tcPr anchor="ctr" marL="36576" marR="36576" marT="9144" marB="9144">
                    <a:solidFill>
                      <a:srgbClr val="FFFFFF"/>
                    </a:solidFill>
                  </a:tcPr>
                </a:tc>
              </a:tr>
              <a:tr h="347472">
                <a:tc>
                  <a:txBody>
                    <a:bodyPr wrap="square"/>
                    <a:lstStyle/>
                    <a:p>
                      <a:pPr algn="l">
                        <a:lnSpc>
                          <a:spcPct val="103000"/>
                        </a:lnSpc>
                      </a:pPr>
                      <a:r>
                        <a:rPr sz="710" b="1">
                          <a:solidFill>
                            <a:srgbClr val="0B1528"/>
                          </a:solidFill>
                          <a:latin typeface="Arial"/>
                          <a:hlinkClick r:id="rId9"/>
                        </a:rPr>
                        <a:t>8. Nguyễn Minh Châu</a:t>
                      </a:r>
                    </a:p>
                    <a:p>
                      <a:pPr algn="l">
                        <a:lnSpc>
                          <a:spcPct val="103000"/>
                        </a:lnSpc>
                      </a:pPr>
                      <a:r>
                        <a:rPr sz="710" b="1">
                          <a:solidFill>
                            <a:srgbClr val="0B1528"/>
                          </a:solidFill>
                          <a:latin typeface="Arial"/>
                        </a:rPr>
                        <a:t>(KOL Mở bình chọn 3 Ứng viên)</a:t>
                      </a:r>
                    </a:p>
                  </a:txBody>
                  <a:tcPr anchor="ctr" marL="27432" marR="27432" marT="9144" marB="9144">
                    <a:solidFill>
                      <a:srgbClr val="F1F3F7"/>
                    </a:solidFill>
                  </a:tcPr>
                </a:tc>
                <a:tc>
                  <a:txBody>
                    <a:bodyPr wrap="square"/>
                    <a:lstStyle/>
                    <a:p>
                      <a:pPr algn="ctr">
                        <a:lnSpc>
                          <a:spcPct val="103000"/>
                        </a:lnSpc>
                      </a:pPr>
                      <a:r>
                        <a:rPr sz="700" b="1">
                          <a:solidFill>
                            <a:srgbClr val="E67E22"/>
                          </a:solidFill>
                          <a:latin typeface="Arial"/>
                        </a:rPr>
                        <a:t>Xếp Bầu Thụy số 1 / Mở khảo sát</a:t>
                      </a:r>
                    </a:p>
                    <a:p>
                      <a:pPr algn="ctr">
                        <a:lnSpc>
                          <a:spcPct val="103000"/>
                        </a:lnSpc>
                      </a:pPr>
                      <a:r>
                        <a:rPr sz="700" b="1">
                          <a:solidFill>
                            <a:srgbClr val="E67E22"/>
                          </a:solidFill>
                          <a:latin typeface="Arial"/>
                        </a:rPr>
                        <a:t>bình chọn 3 ứng viên (19/10)</a:t>
                      </a:r>
                    </a:p>
                  </a:txBody>
                  <a:tcPr anchor="ctr" marL="27432" marR="27432" marT="9144" marB="9144">
                    <a:solidFill>
                      <a:srgbClr val="FFF6E8"/>
                    </a:solidFill>
                  </a:tcPr>
                </a:tc>
                <a:tc>
                  <a:txBody>
                    <a:bodyPr wrap="square"/>
                    <a:lstStyle/>
                    <a:p>
                      <a:pPr algn="ctr">
                        <a:lnSpc>
                          <a:spcPct val="103000"/>
                        </a:lnSpc>
                      </a:pPr>
                      <a:r>
                        <a:rPr sz="710" b="1">
                          <a:solidFill>
                            <a:srgbClr val="0B1528"/>
                          </a:solidFill>
                          <a:latin typeface="Arial"/>
                        </a:rPr>
                        <a:t>10 yêu cầu</a:t>
                      </a:r>
                    </a:p>
                    <a:p>
                      <a:pPr algn="ctr">
                        <a:lnSpc>
                          <a:spcPct val="103000"/>
                        </a:lnSpc>
                      </a:pPr>
                      <a:r>
                        <a:rPr sz="710" b="1">
                          <a:solidFill>
                            <a:srgbClr val="0B1528"/>
                          </a:solidFill>
                          <a:latin typeface="Arial"/>
                        </a:rPr>
                        <a:t>3 bài xác thực</a:t>
                      </a:r>
                    </a:p>
                  </a:txBody>
                  <a:tcPr anchor="ctr" marL="27432" marR="27432" marT="9144" marB="9144">
                    <a:solidFill>
                      <a:srgbClr val="F1F3F7"/>
                    </a:solidFill>
                  </a:tcPr>
                </a:tc>
                <a:tc>
                  <a:txBody>
                    <a:bodyPr wrap="square"/>
                    <a:lstStyle/>
                    <a:p>
                      <a:pPr algn="ctr">
                        <a:lnSpc>
                          <a:spcPct val="103000"/>
                        </a:lnSpc>
                      </a:pPr>
                      <a:r>
                        <a:rPr sz="700" b="0">
                          <a:solidFill>
                            <a:srgbClr val="121C2D"/>
                          </a:solidFill>
                          <a:latin typeface="Arial"/>
                        </a:rPr>
                        <a:t>127 bình luận</a:t>
                      </a:r>
                    </a:p>
                    <a:p>
                      <a:pPr algn="ctr">
                        <a:lnSpc>
                          <a:spcPct val="103000"/>
                        </a:lnSpc>
                      </a:pPr>
                      <a:r>
                        <a:rPr sz="700" b="0">
                          <a:solidFill>
                            <a:srgbClr val="121C2D"/>
                          </a:solidFill>
                          <a:latin typeface="Arial"/>
                        </a:rPr>
                        <a:t>819 cảm xúc</a:t>
                      </a:r>
                    </a:p>
                  </a:txBody>
                  <a:tcPr anchor="ctr" marL="27432" marR="27432" marT="9144" marB="9144">
                    <a:solidFill>
                      <a:srgbClr val="F1F3F7"/>
                    </a:solidFill>
                  </a:tcPr>
                </a:tc>
                <a:tc>
                  <a:txBody>
                    <a:bodyPr wrap="square"/>
                    <a:lstStyle/>
                    <a:p>
                      <a:pPr algn="l">
                        <a:lnSpc>
                          <a:spcPct val="103000"/>
                        </a:lnSpc>
                      </a:pPr>
                      <a:r>
                        <a:rPr sz="700" b="1">
                          <a:solidFill>
                            <a:srgbClr val="1560D4"/>
                          </a:solidFill>
                          <a:latin typeface="Arial"/>
                        </a:rPr>
                        <a:t>Khối Tuấn CT: 29 (19 thẳng + 10 LD1) | Phản đối Thụy: 12 | Phản đối cả hai: 6 | Khối Thụy CT: 13 (9+4)</a:t>
                      </a:r>
                    </a:p>
                  </a:txBody>
                  <a:tcPr anchor="ctr" marL="27432" marR="27432" marT="9144" marB="9144">
                    <a:solidFill>
                      <a:srgbClr val="F1F3F7"/>
                    </a:solidFill>
                  </a:tcPr>
                </a:tc>
                <a:tc>
                  <a:txBody>
                    <a:bodyPr wrap="square"/>
                    <a:lstStyle/>
                    <a:p>
                      <a:pPr algn="l">
                        <a:lnSpc>
                          <a:spcPct val="103000"/>
                        </a:lnSpc>
                      </a:pPr>
                      <a:r>
                        <a:rPr sz="670" b="0">
                          <a:solidFill>
                            <a:srgbClr val="121C2D"/>
                          </a:solidFill>
                          <a:latin typeface="Arial"/>
                        </a:rPr>
                        <a:t>ĐẢO CHIỀU MẠNH: Dù bài đăng xếp Bầu Thụy đầu tiên, 48,3% bình luận bầu chọn giữ TS. Tuấn làm Chủ tịch.</a:t>
                      </a:r>
                    </a:p>
                  </a:txBody>
                  <a:tcPr anchor="ctr" marL="36576" marR="36576" marT="9144" marB="9144">
                    <a:solidFill>
                      <a:srgbClr val="F1F3F7"/>
                    </a:solidFill>
                  </a:tcPr>
                </a:tc>
              </a:tr>
              <a:tr h="347472">
                <a:tc>
                  <a:txBody>
                    <a:bodyPr wrap="square"/>
                    <a:lstStyle/>
                    <a:p>
                      <a:pPr algn="l">
                        <a:lnSpc>
                          <a:spcPct val="103000"/>
                        </a:lnSpc>
                      </a:pPr>
                      <a:r>
                        <a:rPr sz="710" b="1">
                          <a:solidFill>
                            <a:srgbClr val="0B1528"/>
                          </a:solidFill>
                          <a:latin typeface="Arial"/>
                          <a:hlinkClick r:id="rId10"/>
                        </a:rPr>
                        <a:t>9. Cụm Seeding 'Phấn Đấu'</a:t>
                      </a:r>
                    </a:p>
                    <a:p>
                      <a:pPr algn="l">
                        <a:lnSpc>
                          <a:spcPct val="103000"/>
                        </a:lnSpc>
                      </a:pPr>
                      <a:r>
                        <a:rPr sz="710" b="1">
                          <a:solidFill>
                            <a:srgbClr val="0B1528"/>
                          </a:solidFill>
                          <a:latin typeface="Arial"/>
                        </a:rPr>
                        <a:t>&amp; 38 Hội nhóm (VLeague 360...)</a:t>
                      </a:r>
                    </a:p>
                  </a:txBody>
                  <a:tcPr anchor="ctr" marL="27432" marR="27432" marT="9144" marB="9144">
                    <a:solidFill>
                      <a:srgbClr val="FEEEEE"/>
                    </a:solidFill>
                  </a:tcPr>
                </a:tc>
                <a:tc>
                  <a:txBody>
                    <a:bodyPr wrap="square"/>
                    <a:lstStyle/>
                    <a:p>
                      <a:pPr algn="ctr">
                        <a:lnSpc>
                          <a:spcPct val="103000"/>
                        </a:lnSpc>
                      </a:pPr>
                      <a:r>
                        <a:rPr sz="700" b="1">
                          <a:solidFill>
                            <a:srgbClr val="D62728"/>
                          </a:solidFill>
                          <a:latin typeface="Arial"/>
                        </a:rPr>
                        <a:t>100% Seeding Infographic</a:t>
                      </a:r>
                    </a:p>
                    <a:p>
                      <a:pPr algn="ctr">
                        <a:lnSpc>
                          <a:spcPct val="103000"/>
                        </a:lnSpc>
                      </a:pPr>
                      <a:r>
                        <a:rPr sz="700" b="1">
                          <a:solidFill>
                            <a:srgbClr val="D62728"/>
                          </a:solidFill>
                          <a:latin typeface="Arial"/>
                        </a:rPr>
                        <a:t>đẩy sóng Bầu Thụy làm CT</a:t>
                      </a:r>
                    </a:p>
                  </a:txBody>
                  <a:tcPr anchor="ctr" marL="27432" marR="27432" marT="9144" marB="9144">
                    <a:solidFill>
                      <a:srgbClr val="FEEEEE"/>
                    </a:solidFill>
                  </a:tcPr>
                </a:tc>
                <a:tc>
                  <a:txBody>
                    <a:bodyPr wrap="square"/>
                    <a:lstStyle/>
                    <a:p>
                      <a:pPr algn="ctr">
                        <a:lnSpc>
                          <a:spcPct val="103000"/>
                        </a:lnSpc>
                      </a:pPr>
                      <a:r>
                        <a:rPr sz="710" b="1">
                          <a:solidFill>
                            <a:srgbClr val="0B1528"/>
                          </a:solidFill>
                          <a:latin typeface="Arial"/>
                        </a:rPr>
                        <a:t>34 yêu cầu</a:t>
                      </a:r>
                    </a:p>
                    <a:p>
                      <a:pPr algn="ctr">
                        <a:lnSpc>
                          <a:spcPct val="103000"/>
                        </a:lnSpc>
                      </a:pPr>
                      <a:r>
                        <a:rPr sz="710" b="1">
                          <a:solidFill>
                            <a:srgbClr val="0B1528"/>
                          </a:solidFill>
                          <a:latin typeface="Arial"/>
                        </a:rPr>
                        <a:t>23 bài xác thực</a:t>
                      </a:r>
                    </a:p>
                  </a:txBody>
                  <a:tcPr anchor="ctr" marL="27432" marR="27432" marT="9144" marB="9144">
                    <a:solidFill>
                      <a:srgbClr val="FEEEEE"/>
                    </a:solidFill>
                  </a:tcPr>
                </a:tc>
                <a:tc>
                  <a:txBody>
                    <a:bodyPr wrap="square"/>
                    <a:lstStyle/>
                    <a:p>
                      <a:pPr algn="ctr">
                        <a:lnSpc>
                          <a:spcPct val="103000"/>
                        </a:lnSpc>
                      </a:pPr>
                      <a:r>
                        <a:rPr sz="700" b="0">
                          <a:solidFill>
                            <a:srgbClr val="121C2D"/>
                          </a:solidFill>
                          <a:latin typeface="Arial"/>
                        </a:rPr>
                        <a:t>88 bình luận</a:t>
                      </a:r>
                    </a:p>
                    <a:p>
                      <a:pPr algn="ctr">
                        <a:lnSpc>
                          <a:spcPct val="103000"/>
                        </a:lnSpc>
                      </a:pPr>
                      <a:r>
                        <a:rPr sz="700" b="0">
                          <a:solidFill>
                            <a:srgbClr val="121C2D"/>
                          </a:solidFill>
                          <a:latin typeface="Arial"/>
                        </a:rPr>
                        <a:t>795 cảm xúc</a:t>
                      </a:r>
                    </a:p>
                  </a:txBody>
                  <a:tcPr anchor="ctr" marL="27432" marR="27432" marT="9144" marB="9144">
                    <a:solidFill>
                      <a:srgbClr val="FEEEEE"/>
                    </a:solidFill>
                  </a:tcPr>
                </a:tc>
                <a:tc>
                  <a:txBody>
                    <a:bodyPr wrap="square"/>
                    <a:lstStyle/>
                    <a:p>
                      <a:pPr algn="l">
                        <a:lnSpc>
                          <a:spcPct val="103000"/>
                        </a:lnSpc>
                      </a:pPr>
                      <a:r>
                        <a:rPr sz="700" b="1">
                          <a:solidFill>
                            <a:srgbClr val="1560D4"/>
                          </a:solidFill>
                          <a:latin typeface="Arial"/>
                        </a:rPr>
                        <a:t>Khối Tuấn CT: 25 (17 thẳng + 8 LD1) | Phản đối Thụy/Seeding: 14 | Phản đối Tuấn: 4 | Khối Thụy CT: 15</a:t>
                      </a:r>
                    </a:p>
                  </a:txBody>
                  <a:tcPr anchor="ctr" marL="27432" marR="27432" marT="9144" marB="9144">
                    <a:solidFill>
                      <a:srgbClr val="FEEEEE"/>
                    </a:solidFill>
                  </a:tcPr>
                </a:tc>
                <a:tc>
                  <a:txBody>
                    <a:bodyPr wrap="square"/>
                    <a:lstStyle/>
                    <a:p>
                      <a:pPr algn="l">
                        <a:lnSpc>
                          <a:spcPct val="103000"/>
                        </a:lnSpc>
                      </a:pPr>
                      <a:r>
                        <a:rPr sz="670" b="0">
                          <a:solidFill>
                            <a:srgbClr val="121C2D"/>
                          </a:solidFill>
                          <a:latin typeface="Arial"/>
                        </a:rPr>
                        <a:t>PHẢN TÁC DỤNG SEEDING: Rải bài đồng phục vào các hội nhóm nhưng 43,1% bình luận vẫn chọn TS. Tuấn + 24,1% phản ứng ngược với seeding.</a:t>
                      </a:r>
                    </a:p>
                  </a:txBody>
                  <a:tcPr anchor="ctr" marL="36576" marR="36576" marT="9144" marB="9144">
                    <a:solidFill>
                      <a:srgbClr val="FEEEEE"/>
                    </a:solidFill>
                  </a:tcPr>
                </a:tc>
              </a:tr>
              <a:tr h="347472">
                <a:tc>
                  <a:txBody>
                    <a:bodyPr wrap="square"/>
                    <a:lstStyle/>
                    <a:p>
                      <a:pPr algn="l">
                        <a:lnSpc>
                          <a:spcPct val="103000"/>
                        </a:lnSpc>
                      </a:pPr>
                      <a:r>
                        <a:rPr sz="710" b="1">
                          <a:solidFill>
                            <a:srgbClr val="0B1528"/>
                          </a:solidFill>
                          <a:latin typeface="Arial"/>
                          <a:hlinkClick r:id="rId11"/>
                        </a:rPr>
                        <a:t>10. iThethao TV (iThethao.vn)</a:t>
                      </a:r>
                    </a:p>
                    <a:p>
                      <a:pPr algn="l">
                        <a:lnSpc>
                          <a:spcPct val="103000"/>
                        </a:lnSpc>
                      </a:pPr>
                      <a:r>
                        <a:rPr sz="710" b="1">
                          <a:solidFill>
                            <a:srgbClr val="0B1528"/>
                          </a:solidFill>
                          <a:latin typeface="Arial"/>
                        </a:rPr>
                        <a:t>&amp; Cụm bài dẫn 'Nguồn iThethao'</a:t>
                      </a:r>
                    </a:p>
                  </a:txBody>
                  <a:tcPr anchor="ctr" marL="27432" marR="27432" marT="9144" marB="9144">
                    <a:solidFill>
                      <a:srgbClr val="FFFFFF"/>
                    </a:solidFill>
                  </a:tcPr>
                </a:tc>
                <a:tc>
                  <a:txBody>
                    <a:bodyPr wrap="square"/>
                    <a:lstStyle/>
                    <a:p>
                      <a:pPr algn="ctr">
                        <a:lnSpc>
                          <a:spcPct val="103000"/>
                        </a:lnSpc>
                      </a:pPr>
                      <a:r>
                        <a:rPr sz="700" b="1">
                          <a:solidFill>
                            <a:srgbClr val="D62728"/>
                          </a:solidFill>
                          <a:latin typeface="Arial"/>
                        </a:rPr>
                        <a:t>Khởi phát tin 'Tỷ phú USD</a:t>
                      </a:r>
                    </a:p>
                    <a:p>
                      <a:pPr algn="ctr">
                        <a:lnSpc>
                          <a:spcPct val="103000"/>
                        </a:lnSpc>
                      </a:pPr>
                      <a:r>
                        <a:rPr sz="700" b="1">
                          <a:solidFill>
                            <a:srgbClr val="D62728"/>
                          </a:solidFill>
                          <a:latin typeface="Arial"/>
                        </a:rPr>
                        <a:t>sắp tranh ghế Chủ tịch VFF'</a:t>
                      </a:r>
                    </a:p>
                  </a:txBody>
                  <a:tcPr anchor="ctr" marL="27432" marR="27432" marT="9144" marB="9144">
                    <a:solidFill>
                      <a:srgbClr val="FEEEEE"/>
                    </a:solidFill>
                  </a:tcPr>
                </a:tc>
                <a:tc>
                  <a:txBody>
                    <a:bodyPr wrap="square"/>
                    <a:lstStyle/>
                    <a:p>
                      <a:pPr algn="ctr">
                        <a:lnSpc>
                          <a:spcPct val="103000"/>
                        </a:lnSpc>
                      </a:pPr>
                      <a:r>
                        <a:rPr sz="710" b="1">
                          <a:solidFill>
                            <a:srgbClr val="0B1528"/>
                          </a:solidFill>
                          <a:latin typeface="Arial"/>
                        </a:rPr>
                        <a:t>12 bài phát tán</a:t>
                      </a:r>
                    </a:p>
                    <a:p>
                      <a:pPr algn="ctr">
                        <a:lnSpc>
                          <a:spcPct val="103000"/>
                        </a:lnSpc>
                      </a:pPr>
                      <a:r>
                        <a:rPr sz="710" b="1">
                          <a:solidFill>
                            <a:srgbClr val="0B1528"/>
                          </a:solidFill>
                          <a:latin typeface="Arial"/>
                        </a:rPr>
                        <a:t>(2 bài xác thực)</a:t>
                      </a:r>
                    </a:p>
                  </a:txBody>
                  <a:tcPr anchor="ctr" marL="27432" marR="27432" marT="9144" marB="9144">
                    <a:solidFill>
                      <a:srgbClr val="FFFFFF"/>
                    </a:solidFill>
                  </a:tcPr>
                </a:tc>
                <a:tc>
                  <a:txBody>
                    <a:bodyPr wrap="square"/>
                    <a:lstStyle/>
                    <a:p>
                      <a:pPr algn="ctr">
                        <a:lnSpc>
                          <a:spcPct val="103000"/>
                        </a:lnSpc>
                      </a:pPr>
                      <a:r>
                        <a:rPr sz="700" b="0">
                          <a:solidFill>
                            <a:srgbClr val="121C2D"/>
                          </a:solidFill>
                          <a:latin typeface="Arial"/>
                        </a:rPr>
                        <a:t>88 bình luận</a:t>
                      </a:r>
                    </a:p>
                    <a:p>
                      <a:pPr algn="ctr">
                        <a:lnSpc>
                          <a:spcPct val="103000"/>
                        </a:lnSpc>
                      </a:pPr>
                      <a:r>
                        <a:rPr sz="700" b="0">
                          <a:solidFill>
                            <a:srgbClr val="121C2D"/>
                          </a:solidFill>
                          <a:latin typeface="Arial"/>
                        </a:rPr>
                        <a:t>274 cảm xúc</a:t>
                      </a:r>
                    </a:p>
                  </a:txBody>
                  <a:tcPr anchor="ctr" marL="27432" marR="27432" marT="9144" marB="9144">
                    <a:solidFill>
                      <a:srgbClr val="FFFFFF"/>
                    </a:solidFill>
                  </a:tcPr>
                </a:tc>
                <a:tc>
                  <a:txBody>
                    <a:bodyPr wrap="square"/>
                    <a:lstStyle/>
                    <a:p>
                      <a:pPr algn="l">
                        <a:lnSpc>
                          <a:spcPct val="103000"/>
                        </a:lnSpc>
                      </a:pPr>
                      <a:r>
                        <a:rPr sz="700" b="1">
                          <a:solidFill>
                            <a:srgbClr val="1560D4"/>
                          </a:solidFill>
                          <a:latin typeface="Arial"/>
                        </a:rPr>
                        <a:t>Khối Tuấn CT: 19 (13 thẳng + 6 LD1) | Phản đối Thụy: 11 | Phản đối Tuấn: 6 | Khối Thụy CT: 22 (17+5)</a:t>
                      </a:r>
                    </a:p>
                  </a:txBody>
                  <a:tcPr anchor="ctr" marL="27432" marR="27432" marT="9144" marB="9144">
                    <a:solidFill>
                      <a:srgbClr val="FFFFFF"/>
                    </a:solidFill>
                  </a:tcPr>
                </a:tc>
                <a:tc>
                  <a:txBody>
                    <a:bodyPr wrap="square"/>
                    <a:lstStyle/>
                    <a:p>
                      <a:pPr algn="l">
                        <a:lnSpc>
                          <a:spcPct val="103000"/>
                        </a:lnSpc>
                      </a:pPr>
                      <a:r>
                        <a:rPr sz="670" b="0">
                          <a:solidFill>
                            <a:srgbClr val="121C2D"/>
                          </a:solidFill>
                          <a:latin typeface="Arial"/>
                        </a:rPr>
                        <a:t>KÊNH KHỞI PHÁT THÔNG TIN ĐẦU TIÊN (14–17/10): Kích hoạt trí tò mò về tỷ phú USD, tạo thế giằng co 22 vs 19 ở tầng bình luận.</a:t>
                      </a:r>
                    </a:p>
                  </a:txBody>
                  <a:tcPr anchor="ctr" marL="36576" marR="36576" marT="9144" marB="9144">
                    <a:solidFill>
                      <a:srgbClr val="FFFFFF"/>
                    </a:solidFill>
                  </a:tcPr>
                </a:tc>
              </a:tr>
              <a:tr h="347472">
                <a:tc>
                  <a:txBody>
                    <a:bodyPr wrap="square"/>
                    <a:lstStyle/>
                    <a:p>
                      <a:pPr algn="l">
                        <a:lnSpc>
                          <a:spcPct val="103000"/>
                        </a:lnSpc>
                      </a:pPr>
                      <a:r>
                        <a:rPr sz="710" b="1">
                          <a:solidFill>
                            <a:srgbClr val="0B1528"/>
                          </a:solidFill>
                          <a:latin typeface="Arial"/>
                          <a:hlinkClick r:id="rId12"/>
                        </a:rPr>
                        <a:t>11. Ghiền Bóng Đá TV &amp; Yêu BĐVN</a:t>
                      </a:r>
                    </a:p>
                    <a:p>
                      <a:pPr algn="l">
                        <a:lnSpc>
                          <a:spcPct val="103000"/>
                        </a:lnSpc>
                      </a:pPr>
                      <a:r>
                        <a:rPr sz="710" b="1">
                          <a:solidFill>
                            <a:srgbClr val="0B1528"/>
                          </a:solidFill>
                          <a:latin typeface="Arial"/>
                        </a:rPr>
                        <a:t>(Cụm Fanpage Cộng đồng lớn)</a:t>
                      </a:r>
                    </a:p>
                  </a:txBody>
                  <a:tcPr anchor="ctr" marL="27432" marR="27432" marT="9144" marB="9144">
                    <a:solidFill>
                      <a:srgbClr val="F1F3F7"/>
                    </a:solidFill>
                  </a:tcPr>
                </a:tc>
                <a:tc>
                  <a:txBody>
                    <a:bodyPr wrap="square"/>
                    <a:lstStyle/>
                    <a:p>
                      <a:pPr algn="ctr">
                        <a:lnSpc>
                          <a:spcPct val="103000"/>
                        </a:lnSpc>
                      </a:pPr>
                      <a:r>
                        <a:rPr sz="700" b="1">
                          <a:solidFill>
                            <a:srgbClr val="0E94A5"/>
                          </a:solidFill>
                          <a:latin typeface="Arial"/>
                        </a:rPr>
                        <a:t>Trung lập / Đưa tin bóng đá</a:t>
                      </a:r>
                    </a:p>
                    <a:p>
                      <a:pPr algn="ctr">
                        <a:lnSpc>
                          <a:spcPct val="103000"/>
                        </a:lnSpc>
                      </a:pPr>
                      <a:r>
                        <a:rPr sz="700" b="1">
                          <a:solidFill>
                            <a:srgbClr val="0E94A5"/>
                          </a:solidFill>
                          <a:latin typeface="Arial"/>
                        </a:rPr>
                        <a:t>&amp; nhân sự Đại hội VFF</a:t>
                      </a:r>
                    </a:p>
                  </a:txBody>
                  <a:tcPr anchor="ctr" marL="27432" marR="27432" marT="9144" marB="9144">
                    <a:solidFill>
                      <a:srgbClr val="E8F8FA"/>
                    </a:solidFill>
                  </a:tcPr>
                </a:tc>
                <a:tc>
                  <a:txBody>
                    <a:bodyPr wrap="square"/>
                    <a:lstStyle/>
                    <a:p>
                      <a:pPr algn="ctr">
                        <a:lnSpc>
                          <a:spcPct val="103000"/>
                        </a:lnSpc>
                      </a:pPr>
                      <a:r>
                        <a:rPr sz="710" b="1">
                          <a:solidFill>
                            <a:srgbClr val="0B1528"/>
                          </a:solidFill>
                          <a:latin typeface="Arial"/>
                        </a:rPr>
                        <a:t>9 yêu cầu</a:t>
                      </a:r>
                    </a:p>
                    <a:p>
                      <a:pPr algn="ctr">
                        <a:lnSpc>
                          <a:spcPct val="103000"/>
                        </a:lnSpc>
                      </a:pPr>
                      <a:r>
                        <a:rPr sz="710" b="1">
                          <a:solidFill>
                            <a:srgbClr val="0B1528"/>
                          </a:solidFill>
                          <a:latin typeface="Arial"/>
                        </a:rPr>
                        <a:t>6 bài xác thực</a:t>
                      </a:r>
                    </a:p>
                  </a:txBody>
                  <a:tcPr anchor="ctr" marL="27432" marR="27432" marT="9144" marB="9144">
                    <a:solidFill>
                      <a:srgbClr val="F1F3F7"/>
                    </a:solidFill>
                  </a:tcPr>
                </a:tc>
                <a:tc>
                  <a:txBody>
                    <a:bodyPr wrap="square"/>
                    <a:lstStyle/>
                    <a:p>
                      <a:pPr algn="ctr">
                        <a:lnSpc>
                          <a:spcPct val="103000"/>
                        </a:lnSpc>
                      </a:pPr>
                      <a:r>
                        <a:rPr sz="700" b="0">
                          <a:solidFill>
                            <a:srgbClr val="121C2D"/>
                          </a:solidFill>
                          <a:latin typeface="Arial"/>
                        </a:rPr>
                        <a:t>306 bình luận</a:t>
                      </a:r>
                    </a:p>
                    <a:p>
                      <a:pPr algn="ctr">
                        <a:lnSpc>
                          <a:spcPct val="103000"/>
                        </a:lnSpc>
                      </a:pPr>
                      <a:r>
                        <a:rPr sz="700" b="0">
                          <a:solidFill>
                            <a:srgbClr val="121C2D"/>
                          </a:solidFill>
                          <a:latin typeface="Arial"/>
                        </a:rPr>
                        <a:t>8.149 cảm xúc</a:t>
                      </a:r>
                    </a:p>
                  </a:txBody>
                  <a:tcPr anchor="ctr" marL="27432" marR="27432" marT="9144" marB="9144">
                    <a:solidFill>
                      <a:srgbClr val="F1F3F7"/>
                    </a:solidFill>
                  </a:tcPr>
                </a:tc>
                <a:tc>
                  <a:txBody>
                    <a:bodyPr wrap="square"/>
                    <a:lstStyle/>
                    <a:p>
                      <a:pPr algn="l">
                        <a:lnSpc>
                          <a:spcPct val="103000"/>
                        </a:lnSpc>
                      </a:pPr>
                      <a:r>
                        <a:rPr sz="700" b="1">
                          <a:solidFill>
                            <a:srgbClr val="1560D4"/>
                          </a:solidFill>
                          <a:latin typeface="Arial"/>
                        </a:rPr>
                        <a:t>Khối Tuấn CT: 24 (18 thẳng + 6 LD1) | Phản đối Tuấn: 9 | Phản đối cả hai: 11 | Khối Thụy CT: 14 (11+3)</a:t>
                      </a:r>
                    </a:p>
                  </a:txBody>
                  <a:tcPr anchor="ctr" marL="27432" marR="27432" marT="9144" marB="9144">
                    <a:solidFill>
                      <a:srgbClr val="F1F3F7"/>
                    </a:solidFill>
                  </a:tcPr>
                </a:tc>
                <a:tc>
                  <a:txBody>
                    <a:bodyPr wrap="square"/>
                    <a:lstStyle/>
                    <a:p>
                      <a:pPr algn="l">
                        <a:lnSpc>
                          <a:spcPct val="103000"/>
                        </a:lnSpc>
                      </a:pPr>
                      <a:r>
                        <a:rPr sz="670" b="0">
                          <a:solidFill>
                            <a:srgbClr val="121C2D"/>
                          </a:solidFill>
                          <a:latin typeface="Arial"/>
                        </a:rPr>
                        <a:t>KHÁN GIẢ ĐẠI CHÚNG: Ưu tiên sự ổn định của ĐTQG (41,4% chọn TS. Tuấn), 19% đòi cải tổ toàn diện.</a:t>
                      </a:r>
                    </a:p>
                  </a:txBody>
                  <a:tcPr anchor="ctr" marL="36576" marR="36576" marT="9144" marB="9144">
                    <a:solidFill>
                      <a:srgbClr val="F1F3F7"/>
                    </a:solidFill>
                  </a:tcPr>
                </a:tc>
              </a:tr>
              <a:tr h="347472">
                <a:tc>
                  <a:txBody>
                    <a:bodyPr wrap="square"/>
                    <a:lstStyle/>
                    <a:p>
                      <a:pPr algn="l">
                        <a:lnSpc>
                          <a:spcPct val="103000"/>
                        </a:lnSpc>
                      </a:pPr>
                      <a:r>
                        <a:rPr sz="710" b="1">
                          <a:solidFill>
                            <a:srgbClr val="0B1528"/>
                          </a:solidFill>
                          <a:latin typeface="Arial"/>
                          <a:hlinkClick r:id="rId13"/>
                        </a:rPr>
                        <a:t>12. BLV Nghiệp Dư &amp; Bóng Đá 24h</a:t>
                      </a:r>
                    </a:p>
                    <a:p>
                      <a:pPr algn="l">
                        <a:lnSpc>
                          <a:spcPct val="103000"/>
                        </a:lnSpc>
                      </a:pPr>
                      <a:r>
                        <a:rPr sz="710" b="1">
                          <a:solidFill>
                            <a:srgbClr val="0B1528"/>
                          </a:solidFill>
                          <a:latin typeface="Arial"/>
                        </a:rPr>
                        <a:t>(Cụm Reels/Page so sánh Thohir)</a:t>
                      </a:r>
                    </a:p>
                  </a:txBody>
                  <a:tcPr anchor="ctr" marL="27432" marR="27432" marT="9144" marB="9144">
                    <a:solidFill>
                      <a:srgbClr val="FFFFFF"/>
                    </a:solidFill>
                  </a:tcPr>
                </a:tc>
                <a:tc>
                  <a:txBody>
                    <a:bodyPr wrap="square"/>
                    <a:lstStyle/>
                    <a:p>
                      <a:pPr algn="ctr">
                        <a:lnSpc>
                          <a:spcPct val="103000"/>
                        </a:lnSpc>
                      </a:pPr>
                      <a:r>
                        <a:rPr sz="700" b="1">
                          <a:solidFill>
                            <a:srgbClr val="D62728"/>
                          </a:solidFill>
                          <a:latin typeface="Arial"/>
                        </a:rPr>
                        <a:t>Ủng hộ Bầu Thụy = Erick Thohir</a:t>
                      </a:r>
                    </a:p>
                    <a:p>
                      <a:pPr algn="ctr">
                        <a:lnSpc>
                          <a:spcPct val="103000"/>
                        </a:lnSpc>
                      </a:pPr>
                      <a:r>
                        <a:rPr sz="700" b="1">
                          <a:solidFill>
                            <a:srgbClr val="D62728"/>
                          </a:solidFill>
                          <a:latin typeface="Arial"/>
                        </a:rPr>
                        <a:t>&amp; giật tít &gt;40/57 đề cử</a:t>
                      </a:r>
                    </a:p>
                  </a:txBody>
                  <a:tcPr anchor="ctr" marL="27432" marR="27432" marT="9144" marB="9144">
                    <a:solidFill>
                      <a:srgbClr val="FEEEEE"/>
                    </a:solidFill>
                  </a:tcPr>
                </a:tc>
                <a:tc>
                  <a:txBody>
                    <a:bodyPr wrap="square"/>
                    <a:lstStyle/>
                    <a:p>
                      <a:pPr algn="ctr">
                        <a:lnSpc>
                          <a:spcPct val="103000"/>
                        </a:lnSpc>
                      </a:pPr>
                      <a:r>
                        <a:rPr sz="710" b="1">
                          <a:solidFill>
                            <a:srgbClr val="0B1528"/>
                          </a:solidFill>
                          <a:latin typeface="Arial"/>
                        </a:rPr>
                        <a:t>21 yêu cầu</a:t>
                      </a:r>
                    </a:p>
                    <a:p>
                      <a:pPr algn="ctr">
                        <a:lnSpc>
                          <a:spcPct val="103000"/>
                        </a:lnSpc>
                      </a:pPr>
                      <a:r>
                        <a:rPr sz="710" b="1">
                          <a:solidFill>
                            <a:srgbClr val="0B1528"/>
                          </a:solidFill>
                          <a:latin typeface="Arial"/>
                        </a:rPr>
                        <a:t>5 bài xác thực</a:t>
                      </a:r>
                    </a:p>
                  </a:txBody>
                  <a:tcPr anchor="ctr" marL="27432" marR="27432" marT="9144" marB="9144">
                    <a:solidFill>
                      <a:srgbClr val="FFFFFF"/>
                    </a:solidFill>
                  </a:tcPr>
                </a:tc>
                <a:tc>
                  <a:txBody>
                    <a:bodyPr wrap="square"/>
                    <a:lstStyle/>
                    <a:p>
                      <a:pPr algn="ctr">
                        <a:lnSpc>
                          <a:spcPct val="103000"/>
                        </a:lnSpc>
                      </a:pPr>
                      <a:r>
                        <a:rPr sz="700" b="0">
                          <a:solidFill>
                            <a:srgbClr val="121C2D"/>
                          </a:solidFill>
                          <a:latin typeface="Arial"/>
                        </a:rPr>
                        <a:t>87 bình luận</a:t>
                      </a:r>
                    </a:p>
                    <a:p>
                      <a:pPr algn="ctr">
                        <a:lnSpc>
                          <a:spcPct val="103000"/>
                        </a:lnSpc>
                      </a:pPr>
                      <a:r>
                        <a:rPr sz="700" b="0">
                          <a:solidFill>
                            <a:srgbClr val="121C2D"/>
                          </a:solidFill>
                          <a:latin typeface="Arial"/>
                        </a:rPr>
                        <a:t>3.081 cảm xúc</a:t>
                      </a:r>
                    </a:p>
                  </a:txBody>
                  <a:tcPr anchor="ctr" marL="27432" marR="27432" marT="9144" marB="9144">
                    <a:solidFill>
                      <a:srgbClr val="FFFFFF"/>
                    </a:solidFill>
                  </a:tcPr>
                </a:tc>
                <a:tc>
                  <a:txBody>
                    <a:bodyPr wrap="square"/>
                    <a:lstStyle/>
                    <a:p>
                      <a:pPr algn="l">
                        <a:lnSpc>
                          <a:spcPct val="103000"/>
                        </a:lnSpc>
                      </a:pPr>
                      <a:r>
                        <a:rPr sz="700" b="1">
                          <a:solidFill>
                            <a:srgbClr val="1560D4"/>
                          </a:solidFill>
                          <a:latin typeface="Arial"/>
                        </a:rPr>
                        <a:t>Khối Tuấn CT: 16 (11 thẳng + 5 LD1) | Phản đối Thụy (bỏ giải): 11 | Phản đối Tuấn: 3 | Khối Thụy CT: 10</a:t>
                      </a:r>
                    </a:p>
                  </a:txBody>
                  <a:tcPr anchor="ctr" marL="27432" marR="27432" marT="9144" marB="9144">
                    <a:solidFill>
                      <a:srgbClr val="FFFFFF"/>
                    </a:solidFill>
                  </a:tcPr>
                </a:tc>
                <a:tc>
                  <a:txBody>
                    <a:bodyPr wrap="square"/>
                    <a:lstStyle/>
                    <a:p>
                      <a:pPr algn="l">
                        <a:lnSpc>
                          <a:spcPct val="103000"/>
                        </a:lnSpc>
                      </a:pPr>
                      <a:r>
                        <a:rPr sz="670" b="0">
                          <a:solidFill>
                            <a:srgbClr val="121C2D"/>
                          </a:solidFill>
                          <a:latin typeface="Arial"/>
                        </a:rPr>
                        <a:t>ĐẢO CHIỀU NGƯỢC: Bài ca ngợi Bầu Thụy nhưng 40% bình luận chọn TS. Tuấn + 27,5% nhắc lại vụ bỏ giải SGXT.</a:t>
                      </a:r>
                    </a:p>
                  </a:txBody>
                  <a:tcPr anchor="ctr" marL="36576" marR="36576" marT="9144" marB="9144">
                    <a:solidFill>
                      <a:srgbClr val="FFFFFF"/>
                    </a:solidFill>
                  </a:tcPr>
                </a:tc>
              </a:tr>
            </a:tbl>
          </a:graphicData>
        </a:graphic>
      </p:graphicFrame>
      <p:sp>
        <p:nvSpPr>
          <p:cNvPr id="10" name="Rectangle 9"/>
          <p:cNvSpPr/>
          <p:nvPr/>
        </p:nvSpPr>
        <p:spPr>
          <a:xfrm>
            <a:off x="182880" y="6382512"/>
            <a:ext cx="11823192" cy="347472"/>
          </a:xfrm>
          <a:prstGeom prst="rect">
            <a:avLst/>
          </a:prstGeom>
          <a:solidFill>
            <a:srgbClr val="0B15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92608" y="6409944"/>
            <a:ext cx="11612880" cy="292608"/>
          </a:xfrm>
          <a:prstGeom prst="rect">
            <a:avLst/>
          </a:prstGeom>
          <a:noFill/>
        </p:spPr>
        <p:txBody>
          <a:bodyPr wrap="square" anchor="ctr" lIns="45720" rIns="45720" tIns="27432" bIns="27432">
            <a:spAutoFit/>
          </a:bodyPr>
          <a:lstStyle/>
          <a:p>
            <a:pPr algn="l">
              <a:lnSpc>
                <a:spcPct val="112000"/>
              </a:lnSpc>
            </a:pPr>
            <a:r>
              <a:rPr sz="800" b="1">
                <a:solidFill>
                  <a:srgbClr val="F5B400"/>
                </a:solidFill>
                <a:latin typeface="Arial"/>
              </a:rPr>
              <a:t>TỔNG KẾT MẶT TRẬN FACEBOOK (378 KÊNH / 888 BÀI DANH BẠ / 665 BÀI XÁC THỰC / 10.133 LƯỢT BÌNH LUẬN): Khối chọn TS. Tuấn làm CT đạt 491 phiếu (401 bầu thẳng + 90 LD1) vs Khối chọn Bầu Thụy làm CT đạt 261 phiếu (207 bầu thẳng + 54 LD2); Phản đối Thụy 91 phiếu, Phản đối Tuấn 68 phiếu.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6FA"/>
        </a:solidFill>
        <a:effectLst/>
      </p:bgPr>
    </p:bg>
    <p:spTree>
      <p:nvGrpSpPr>
        <p:cNvPr id="1" name=""/>
        <p:cNvGrpSpPr/>
        <p:nvPr/>
      </p:nvGrpSpPr>
      <p:grpSpPr/>
      <p:sp>
        <p:nvSpPr>
          <p:cNvPr id="2" name="Rectangle 1"/>
          <p:cNvSpPr/>
          <p:nvPr/>
        </p:nvSpPr>
        <p:spPr>
          <a:xfrm>
            <a:off x="0" y="0"/>
            <a:ext cx="4059936" cy="54864"/>
          </a:xfrm>
          <a:prstGeom prst="rect">
            <a:avLst/>
          </a:prstGeom>
          <a:solidFill>
            <a:srgbClr val="1560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059936" y="0"/>
            <a:ext cx="4069080" cy="54864"/>
          </a:xfrm>
          <a:prstGeom prst="rect">
            <a:avLst/>
          </a:prstGeom>
          <a:solidFill>
            <a:srgbClr val="F5B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129016" y="0"/>
            <a:ext cx="4059936" cy="54864"/>
          </a:xfrm>
          <a:prstGeom prst="rect">
            <a:avLst/>
          </a:prstGeom>
          <a:solidFill>
            <a:srgbClr val="D627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54864"/>
            <a:ext cx="12191695" cy="786384"/>
          </a:xfrm>
          <a:prstGeom prst="rect">
            <a:avLst/>
          </a:prstGeom>
          <a:solidFill>
            <a:srgbClr val="0B15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01168" y="128016"/>
            <a:ext cx="2029968" cy="274320"/>
          </a:xfrm>
          <a:prstGeom prst="rect">
            <a:avLst/>
          </a:prstGeom>
          <a:solidFill>
            <a:srgbClr val="1560D4"/>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860" b="1">
                <a:solidFill>
                  <a:srgbClr val="F5B400"/>
                </a:solidFill>
                <a:latin typeface="Arial"/>
              </a:rPr>
              <a:t>US ELECTION WAR-ROOM • SLIDE 5B</a:t>
            </a:r>
          </a:p>
        </p:txBody>
      </p:sp>
      <p:sp>
        <p:nvSpPr>
          <p:cNvPr id="7" name="TextBox 6"/>
          <p:cNvSpPr txBox="1"/>
          <p:nvPr/>
        </p:nvSpPr>
        <p:spPr>
          <a:xfrm>
            <a:off x="2286000" y="109728"/>
            <a:ext cx="9738360" cy="310896"/>
          </a:xfrm>
          <a:prstGeom prst="rect">
            <a:avLst/>
          </a:prstGeom>
          <a:noFill/>
        </p:spPr>
        <p:txBody>
          <a:bodyPr wrap="square" anchor="ctr" lIns="45720" rIns="45720" tIns="27432" bIns="27432">
            <a:spAutoFit/>
          </a:bodyPr>
          <a:lstStyle/>
          <a:p>
            <a:pPr algn="l">
              <a:lnSpc>
                <a:spcPct val="112000"/>
              </a:lnSpc>
            </a:pPr>
            <a:r>
              <a:rPr sz="1380" b="1">
                <a:solidFill>
                  <a:srgbClr val="FFFFFF"/>
                </a:solidFill>
                <a:latin typeface="Arial"/>
              </a:rPr>
              <a:t>MA TRẬN ĐẢO CHIỀU TRÊN YOUTUBE (169 VIDEO) &amp; TIKTOK (68 VIDEO)</a:t>
            </a:r>
          </a:p>
        </p:txBody>
      </p:sp>
      <p:sp>
        <p:nvSpPr>
          <p:cNvPr id="8" name="TextBox 7"/>
          <p:cNvSpPr txBox="1"/>
          <p:nvPr/>
        </p:nvSpPr>
        <p:spPr>
          <a:xfrm>
            <a:off x="201168" y="475488"/>
            <a:ext cx="11795760" cy="292608"/>
          </a:xfrm>
          <a:prstGeom prst="rect">
            <a:avLst/>
          </a:prstGeom>
          <a:noFill/>
        </p:spPr>
        <p:txBody>
          <a:bodyPr wrap="square" anchor="ctr" lIns="45720" rIns="45720" tIns="27432" bIns="27432">
            <a:spAutoFit/>
          </a:bodyPr>
          <a:lstStyle/>
          <a:p>
            <a:pPr algn="l">
              <a:lnSpc>
                <a:spcPct val="112000"/>
              </a:lnSpc>
            </a:pPr>
            <a:r>
              <a:rPr sz="960" b="0">
                <a:solidFill>
                  <a:srgbClr val="C8D4E6"/>
                </a:solidFill>
                <a:latin typeface="Arial"/>
              </a:rPr>
              <a:t>Tách riêng nền tảng Video trên toàn bộ dữ liệu thu thập: Đối chiếu 169 video YouTube (4.182 bình luận) &amp; 68 video TikTok (154 bình luận) từ 01/10 đến 22/10/2026</a:t>
            </a:r>
          </a:p>
        </p:txBody>
      </p:sp>
      <p:graphicFrame>
        <p:nvGraphicFramePr>
          <p:cNvPr id="9" name="Table 8"/>
          <p:cNvGraphicFramePr>
            <a:graphicFrameLocks noGrp="1"/>
          </p:cNvGraphicFramePr>
          <p:nvPr/>
        </p:nvGraphicFramePr>
        <p:xfrm>
          <a:off x="201168" y="868680"/>
          <a:ext cx="11750040" cy="4498848"/>
        </p:xfrm>
        <a:graphic>
          <a:graphicData uri="http://schemas.openxmlformats.org/drawingml/2006/table">
            <a:tbl>
              <a:tblPr firstRow="1" bandRow="1">
                <a:tableStyleId>{5C22544A-7EE6-4342-B048-85BDC9FD1C3A}</a:tableStyleId>
              </a:tblPr>
              <a:tblGrid>
                <a:gridCol w="2011680"/>
                <a:gridCol w="1609344"/>
                <a:gridCol w="896112"/>
                <a:gridCol w="1024128"/>
                <a:gridCol w="3008376"/>
                <a:gridCol w="3200400"/>
              </a:tblGrid>
              <a:tr h="329184">
                <a:tc>
                  <a:txBody>
                    <a:bodyPr wrap="square"/>
                    <a:lstStyle/>
                    <a:p>
                      <a:pPr algn="ctr">
                        <a:lnSpc>
                          <a:spcPct val="103000"/>
                        </a:lnSpc>
                      </a:pPr>
                      <a:r>
                        <a:rPr sz="740" b="1">
                          <a:solidFill>
                            <a:srgbClr val="FFFFFF"/>
                          </a:solidFill>
                          <a:latin typeface="Arial"/>
                        </a:rPr>
                        <a:t>Kênh / Trang / Hội Nhóm Cụ Thể</a:t>
                      </a:r>
                    </a:p>
                  </a:txBody>
                  <a:tcPr anchor="ctr" marL="27432" marR="27432" marT="9144" marB="9144">
                    <a:solidFill>
                      <a:srgbClr val="0B1528"/>
                    </a:solidFill>
                  </a:tcPr>
                </a:tc>
                <a:tc>
                  <a:txBody>
                    <a:bodyPr wrap="square"/>
                    <a:lstStyle/>
                    <a:p>
                      <a:pPr algn="ctr">
                        <a:lnSpc>
                          <a:spcPct val="103000"/>
                        </a:lnSpc>
                      </a:pPr>
                      <a:r>
                        <a:rPr sz="740" b="1">
                          <a:solidFill>
                            <a:srgbClr val="FFFFFF"/>
                          </a:solidFill>
                          <a:latin typeface="Arial"/>
                        </a:rPr>
                        <a:t>Lập Trường Bài Đăng</a:t>
                      </a:r>
                    </a:p>
                    <a:p>
                      <a:pPr algn="ctr">
                        <a:lnSpc>
                          <a:spcPct val="103000"/>
                        </a:lnSpc>
                      </a:pPr>
                      <a:r>
                        <a:rPr sz="740" b="1">
                          <a:solidFill>
                            <a:srgbClr val="FFFFFF"/>
                          </a:solidFill>
                          <a:latin typeface="Arial"/>
                        </a:rPr>
                        <a:t>(Post Stance)</a:t>
                      </a:r>
                    </a:p>
                  </a:txBody>
                  <a:tcPr anchor="ctr" marL="27432" marR="27432" marT="9144" marB="9144">
                    <a:solidFill>
                      <a:srgbClr val="0B1528"/>
                    </a:solidFill>
                  </a:tcPr>
                </a:tc>
                <a:tc>
                  <a:txBody>
                    <a:bodyPr wrap="square"/>
                    <a:lstStyle/>
                    <a:p>
                      <a:pPr algn="ctr">
                        <a:lnSpc>
                          <a:spcPct val="103000"/>
                        </a:lnSpc>
                      </a:pPr>
                      <a:r>
                        <a:rPr sz="740" b="1">
                          <a:solidFill>
                            <a:srgbClr val="FFFFFF"/>
                          </a:solidFill>
                          <a:latin typeface="Arial"/>
                        </a:rPr>
                        <a:t>Tổng Số Bài</a:t>
                      </a:r>
                    </a:p>
                    <a:p>
                      <a:pPr algn="ctr">
                        <a:lnSpc>
                          <a:spcPct val="103000"/>
                        </a:lnSpc>
                      </a:pPr>
                      <a:r>
                        <a:rPr sz="740" b="1">
                          <a:solidFill>
                            <a:srgbClr val="FFFFFF"/>
                          </a:solidFill>
                          <a:latin typeface="Arial"/>
                        </a:rPr>
                        <a:t>(Danh bạ/Xác thực)</a:t>
                      </a:r>
                    </a:p>
                  </a:txBody>
                  <a:tcPr anchor="ctr" marL="27432" marR="27432" marT="9144" marB="9144">
                    <a:solidFill>
                      <a:srgbClr val="0B1528"/>
                    </a:solidFill>
                  </a:tcPr>
                </a:tc>
                <a:tc>
                  <a:txBody>
                    <a:bodyPr wrap="square"/>
                    <a:lstStyle/>
                    <a:p>
                      <a:pPr algn="ctr">
                        <a:lnSpc>
                          <a:spcPct val="103000"/>
                        </a:lnSpc>
                      </a:pPr>
                      <a:r>
                        <a:rPr sz="740" b="1">
                          <a:solidFill>
                            <a:srgbClr val="FFFFFF"/>
                          </a:solidFill>
                          <a:latin typeface="Arial"/>
                        </a:rPr>
                        <a:t>Tổng Bình Luận</a:t>
                      </a:r>
                    </a:p>
                    <a:p>
                      <a:pPr algn="ctr">
                        <a:lnSpc>
                          <a:spcPct val="103000"/>
                        </a:lnSpc>
                      </a:pPr>
                      <a:r>
                        <a:rPr sz="740" b="1">
                          <a:solidFill>
                            <a:srgbClr val="FFFFFF"/>
                          </a:solidFill>
                          <a:latin typeface="Arial"/>
                        </a:rPr>
                        <a:t>&amp; Tương Tác</a:t>
                      </a:r>
                    </a:p>
                  </a:txBody>
                  <a:tcPr anchor="ctr" marL="27432" marR="27432" marT="9144" marB="9144">
                    <a:solidFill>
                      <a:srgbClr val="0B1528"/>
                    </a:solidFill>
                  </a:tcPr>
                </a:tc>
                <a:tc>
                  <a:txBody>
                    <a:bodyPr wrap="square"/>
                    <a:lstStyle/>
                    <a:p>
                      <a:pPr algn="ctr">
                        <a:lnSpc>
                          <a:spcPct val="103000"/>
                        </a:lnSpc>
                      </a:pPr>
                      <a:r>
                        <a:rPr sz="740" b="1">
                          <a:solidFill>
                            <a:srgbClr val="FFFFFF"/>
                          </a:solidFill>
                          <a:latin typeface="Arial"/>
                        </a:rPr>
                        <a:t>Phân Bổ 7 Lá Phiếu Bình Luận Bên Dưới</a:t>
                      </a:r>
                    </a:p>
                    <a:p>
                      <a:pPr algn="ctr">
                        <a:lnSpc>
                          <a:spcPct val="103000"/>
                        </a:lnSpc>
                      </a:pPr>
                      <a:r>
                        <a:rPr sz="740" b="1">
                          <a:solidFill>
                            <a:srgbClr val="FFFFFF"/>
                          </a:solidFill>
                          <a:latin typeface="Arial"/>
                        </a:rPr>
                        <a:t>(Tuấn CT | LD1 | Phản đối Thụy/Tuấn/Cả hai | LD2 | Thụy CT)</a:t>
                      </a:r>
                    </a:p>
                  </a:txBody>
                  <a:tcPr anchor="ctr" marL="27432" marR="27432" marT="9144" marB="9144">
                    <a:solidFill>
                      <a:srgbClr val="0B1528"/>
                    </a:solidFill>
                  </a:tcPr>
                </a:tc>
                <a:tc>
                  <a:txBody>
                    <a:bodyPr wrap="square"/>
                    <a:lstStyle/>
                    <a:p>
                      <a:pPr algn="ctr">
                        <a:lnSpc>
                          <a:spcPct val="103000"/>
                        </a:lnSpc>
                      </a:pPr>
                      <a:r>
                        <a:rPr sz="740" b="1">
                          <a:solidFill>
                            <a:srgbClr val="FFFFFF"/>
                          </a:solidFill>
                          <a:latin typeface="Arial"/>
                        </a:rPr>
                        <a:t>Kết Luận Giải Phẫu Tương Quan</a:t>
                      </a:r>
                    </a:p>
                    <a:p>
                      <a:pPr algn="ctr">
                        <a:lnSpc>
                          <a:spcPct val="103000"/>
                        </a:lnSpc>
                      </a:pPr>
                      <a:r>
                        <a:rPr sz="740" b="1">
                          <a:solidFill>
                            <a:srgbClr val="FFFFFF"/>
                          </a:solidFill>
                          <a:latin typeface="Arial"/>
                        </a:rPr>
                        <a:t>Bài Đăng vs. Bình Luận Khán Giả</a:t>
                      </a:r>
                    </a:p>
                  </a:txBody>
                  <a:tcPr anchor="ctr" marL="27432" marR="27432" marT="9144" marB="9144">
                    <a:solidFill>
                      <a:srgbClr val="0B1528"/>
                    </a:solidFill>
                  </a:tcPr>
                </a:tc>
              </a:tr>
              <a:tr h="347472">
                <a:tc>
                  <a:txBody>
                    <a:bodyPr wrap="square"/>
                    <a:lstStyle/>
                    <a:p>
                      <a:pPr algn="l">
                        <a:lnSpc>
                          <a:spcPct val="103000"/>
                        </a:lnSpc>
                      </a:pPr>
                      <a:r>
                        <a:rPr sz="710" b="1">
                          <a:solidFill>
                            <a:srgbClr val="0B1528"/>
                          </a:solidFill>
                          <a:latin typeface="Arial"/>
                          <a:hlinkClick r:id="rId2"/>
                        </a:rPr>
                        <a:t>1. Vlog Minh Hải (YouTube)</a:t>
                      </a:r>
                    </a:p>
                    <a:p>
                      <a:pPr algn="l">
                        <a:lnSpc>
                          <a:spcPct val="103000"/>
                        </a:lnSpc>
                      </a:pPr>
                      <a:r>
                        <a:rPr sz="710" b="1">
                          <a:solidFill>
                            <a:srgbClr val="0B1528"/>
                          </a:solidFill>
                          <a:latin typeface="Arial"/>
                        </a:rPr>
                        <a:t>(Kênh Phân tích số 1 về VFF)</a:t>
                      </a:r>
                    </a:p>
                  </a:txBody>
                  <a:tcPr anchor="ctr" marL="27432" marR="27432" marT="9144" marB="9144">
                    <a:solidFill>
                      <a:srgbClr val="FFFFFF"/>
                    </a:solidFill>
                  </a:tcPr>
                </a:tc>
                <a:tc>
                  <a:txBody>
                    <a:bodyPr wrap="square"/>
                    <a:lstStyle/>
                    <a:p>
                      <a:pPr algn="ctr">
                        <a:lnSpc>
                          <a:spcPct val="103000"/>
                        </a:lnSpc>
                      </a:pPr>
                      <a:r>
                        <a:rPr sz="700" b="1">
                          <a:solidFill>
                            <a:srgbClr val="1560D4"/>
                          </a:solidFill>
                          <a:latin typeface="Arial"/>
                        </a:rPr>
                        <a:t>Phân tích chuyên sâu: Ưu tiên</a:t>
                      </a:r>
                    </a:p>
                    <a:p>
                      <a:pPr algn="ctr">
                        <a:lnSpc>
                          <a:spcPct val="103000"/>
                        </a:lnSpc>
                      </a:pPr>
                      <a:r>
                        <a:rPr sz="700" b="1">
                          <a:solidFill>
                            <a:srgbClr val="1560D4"/>
                          </a:solidFill>
                          <a:latin typeface="Arial"/>
                        </a:rPr>
                        <a:t>TS. Tuấn CT + Bầu Thụy hỗ trợ</a:t>
                      </a:r>
                    </a:p>
                  </a:txBody>
                  <a:tcPr anchor="ctr" marL="27432" marR="27432" marT="9144" marB="9144">
                    <a:solidFill>
                      <a:srgbClr val="EBF3FF"/>
                    </a:solidFill>
                  </a:tcPr>
                </a:tc>
                <a:tc>
                  <a:txBody>
                    <a:bodyPr wrap="square"/>
                    <a:lstStyle/>
                    <a:p>
                      <a:pPr algn="ctr">
                        <a:lnSpc>
                          <a:spcPct val="103000"/>
                        </a:lnSpc>
                      </a:pPr>
                      <a:r>
                        <a:rPr sz="710" b="1">
                          <a:solidFill>
                            <a:srgbClr val="0B1528"/>
                          </a:solidFill>
                          <a:latin typeface="Arial"/>
                        </a:rPr>
                        <a:t>16 video YT</a:t>
                      </a:r>
                    </a:p>
                    <a:p>
                      <a:pPr algn="ctr">
                        <a:lnSpc>
                          <a:spcPct val="103000"/>
                        </a:lnSpc>
                      </a:pPr>
                      <a:r>
                        <a:rPr sz="710" b="1">
                          <a:solidFill>
                            <a:srgbClr val="0B1528"/>
                          </a:solidFill>
                          <a:latin typeface="Arial"/>
                        </a:rPr>
                        <a:t>(2,11M views)</a:t>
                      </a:r>
                    </a:p>
                  </a:txBody>
                  <a:tcPr anchor="ctr" marL="27432" marR="27432" marT="9144" marB="9144">
                    <a:solidFill>
                      <a:srgbClr val="FFFFFF"/>
                    </a:solidFill>
                  </a:tcPr>
                </a:tc>
                <a:tc>
                  <a:txBody>
                    <a:bodyPr wrap="square"/>
                    <a:lstStyle/>
                    <a:p>
                      <a:pPr algn="ctr">
                        <a:lnSpc>
                          <a:spcPct val="103000"/>
                        </a:lnSpc>
                      </a:pPr>
                      <a:r>
                        <a:rPr sz="700" b="0">
                          <a:solidFill>
                            <a:srgbClr val="121C2D"/>
                          </a:solidFill>
                          <a:latin typeface="Arial"/>
                        </a:rPr>
                        <a:t>1.808 bình luận</a:t>
                      </a:r>
                    </a:p>
                    <a:p>
                      <a:pPr algn="ctr">
                        <a:lnSpc>
                          <a:spcPct val="103000"/>
                        </a:lnSpc>
                      </a:pPr>
                      <a:r>
                        <a:rPr sz="700" b="0">
                          <a:solidFill>
                            <a:srgbClr val="121C2D"/>
                          </a:solidFill>
                          <a:latin typeface="Arial"/>
                        </a:rPr>
                        <a:t>(388 bầu cử)</a:t>
                      </a:r>
                    </a:p>
                  </a:txBody>
                  <a:tcPr anchor="ctr" marL="27432" marR="27432" marT="9144" marB="9144">
                    <a:solidFill>
                      <a:srgbClr val="FFFFFF"/>
                    </a:solidFill>
                  </a:tcPr>
                </a:tc>
                <a:tc>
                  <a:txBody>
                    <a:bodyPr wrap="square"/>
                    <a:lstStyle/>
                    <a:p>
                      <a:pPr algn="l">
                        <a:lnSpc>
                          <a:spcPct val="103000"/>
                        </a:lnSpc>
                      </a:pPr>
                      <a:r>
                        <a:rPr sz="700" b="1">
                          <a:solidFill>
                            <a:srgbClr val="1560D4"/>
                          </a:solidFill>
                          <a:latin typeface="Arial"/>
                        </a:rPr>
                        <a:t>Khối Tuấn CT: 72 (45 thẳng + 27 LD1) | Bầu Đức/Khác: 49 | Phản đối Thụy: 28 | Phản đối Tuấn: 18 | Khối Thụy CT: 58 (36+22)</a:t>
                      </a:r>
                    </a:p>
                  </a:txBody>
                  <a:tcPr anchor="ctr" marL="27432" marR="27432" marT="9144" marB="9144">
                    <a:solidFill>
                      <a:srgbClr val="FFFFFF"/>
                    </a:solidFill>
                  </a:tcPr>
                </a:tc>
                <a:tc>
                  <a:txBody>
                    <a:bodyPr wrap="square"/>
                    <a:lstStyle/>
                    <a:p>
                      <a:pPr algn="l">
                        <a:lnSpc>
                          <a:spcPct val="103000"/>
                        </a:lnSpc>
                      </a:pPr>
                      <a:r>
                        <a:rPr sz="670" b="0">
                          <a:solidFill>
                            <a:srgbClr val="121C2D"/>
                          </a:solidFill>
                          <a:latin typeface="Arial"/>
                        </a:rPr>
                        <a:t>KÊNH DẪN DẮT SỐ 1 YOUTUBE: Khán giả ủng hộ mạnh mô hình TS. Tuấn làm Chủ tịch + doanh nhân hỗ trợ tài chính.</a:t>
                      </a:r>
                    </a:p>
                  </a:txBody>
                  <a:tcPr anchor="ctr" marL="36576" marR="36576" marT="9144" marB="9144">
                    <a:solidFill>
                      <a:srgbClr val="FFFFFF"/>
                    </a:solidFill>
                  </a:tcPr>
                </a:tc>
              </a:tr>
              <a:tr h="347472">
                <a:tc>
                  <a:txBody>
                    <a:bodyPr wrap="square"/>
                    <a:lstStyle/>
                    <a:p>
                      <a:pPr algn="l">
                        <a:lnSpc>
                          <a:spcPct val="103000"/>
                        </a:lnSpc>
                      </a:pPr>
                      <a:r>
                        <a:rPr sz="710" b="1">
                          <a:solidFill>
                            <a:srgbClr val="0B1528"/>
                          </a:solidFill>
                          <a:latin typeface="Arial"/>
                          <a:hlinkClick r:id="rId3"/>
                        </a:rPr>
                        <a:t>2. BÓNGĐÁ TV &amp; BÓNGĐÁ TV 19H30</a:t>
                      </a:r>
                    </a:p>
                    <a:p>
                      <a:pPr algn="l">
                        <a:lnSpc>
                          <a:spcPct val="103000"/>
                        </a:lnSpc>
                      </a:pPr>
                      <a:r>
                        <a:rPr sz="710" b="1">
                          <a:solidFill>
                            <a:srgbClr val="0B1528"/>
                          </a:solidFill>
                          <a:latin typeface="Arial"/>
                        </a:rPr>
                        <a:t>(Hệ thống Bản tin YouTube)</a:t>
                      </a:r>
                    </a:p>
                  </a:txBody>
                  <a:tcPr anchor="ctr" marL="27432" marR="27432" marT="9144" marB="9144">
                    <a:solidFill>
                      <a:srgbClr val="FEEEEE"/>
                    </a:solidFill>
                  </a:tcPr>
                </a:tc>
                <a:tc>
                  <a:txBody>
                    <a:bodyPr wrap="square"/>
                    <a:lstStyle/>
                    <a:p>
                      <a:pPr algn="ctr">
                        <a:lnSpc>
                          <a:spcPct val="103000"/>
                        </a:lnSpc>
                      </a:pPr>
                      <a:r>
                        <a:rPr sz="700" b="1">
                          <a:solidFill>
                            <a:srgbClr val="D62728"/>
                          </a:solidFill>
                          <a:latin typeface="Arial"/>
                        </a:rPr>
                        <a:t>Đẩy mạnh tin Bầu Thụy tranh cử</a:t>
                      </a:r>
                    </a:p>
                    <a:p>
                      <a:pPr algn="ctr">
                        <a:lnSpc>
                          <a:spcPct val="103000"/>
                        </a:lnSpc>
                      </a:pPr>
                      <a:r>
                        <a:rPr sz="700" b="1">
                          <a:solidFill>
                            <a:srgbClr val="D62728"/>
                          </a:solidFill>
                          <a:latin typeface="Arial"/>
                        </a:rPr>
                        <a:t>&amp; phát biểu chấn động (21-22/10)</a:t>
                      </a:r>
                    </a:p>
                  </a:txBody>
                  <a:tcPr anchor="ctr" marL="27432" marR="27432" marT="9144" marB="9144">
                    <a:solidFill>
                      <a:srgbClr val="FEEEEE"/>
                    </a:solidFill>
                  </a:tcPr>
                </a:tc>
                <a:tc>
                  <a:txBody>
                    <a:bodyPr wrap="square"/>
                    <a:lstStyle/>
                    <a:p>
                      <a:pPr algn="ctr">
                        <a:lnSpc>
                          <a:spcPct val="103000"/>
                        </a:lnSpc>
                      </a:pPr>
                      <a:r>
                        <a:rPr sz="710" b="1">
                          <a:solidFill>
                            <a:srgbClr val="0B1528"/>
                          </a:solidFill>
                          <a:latin typeface="Arial"/>
                        </a:rPr>
                        <a:t>15 video YT</a:t>
                      </a:r>
                    </a:p>
                    <a:p>
                      <a:pPr algn="ctr">
                        <a:lnSpc>
                          <a:spcPct val="103000"/>
                        </a:lnSpc>
                      </a:pPr>
                      <a:r>
                        <a:rPr sz="710" b="1">
                          <a:solidFill>
                            <a:srgbClr val="0B1528"/>
                          </a:solidFill>
                          <a:latin typeface="Arial"/>
                        </a:rPr>
                        <a:t>(960K views)</a:t>
                      </a:r>
                    </a:p>
                  </a:txBody>
                  <a:tcPr anchor="ctr" marL="27432" marR="27432" marT="9144" marB="9144">
                    <a:solidFill>
                      <a:srgbClr val="FEEEEE"/>
                    </a:solidFill>
                  </a:tcPr>
                </a:tc>
                <a:tc>
                  <a:txBody>
                    <a:bodyPr wrap="square"/>
                    <a:lstStyle/>
                    <a:p>
                      <a:pPr algn="ctr">
                        <a:lnSpc>
                          <a:spcPct val="103000"/>
                        </a:lnSpc>
                      </a:pPr>
                      <a:r>
                        <a:rPr sz="700" b="0">
                          <a:solidFill>
                            <a:srgbClr val="121C2D"/>
                          </a:solidFill>
                          <a:latin typeface="Arial"/>
                        </a:rPr>
                        <a:t>802 bình luận</a:t>
                      </a:r>
                    </a:p>
                    <a:p>
                      <a:pPr algn="ctr">
                        <a:lnSpc>
                          <a:spcPct val="103000"/>
                        </a:lnSpc>
                      </a:pPr>
                      <a:r>
                        <a:rPr sz="700" b="0">
                          <a:solidFill>
                            <a:srgbClr val="121C2D"/>
                          </a:solidFill>
                          <a:latin typeface="Arial"/>
                        </a:rPr>
                        <a:t>(94 bầu cử)</a:t>
                      </a:r>
                    </a:p>
                  </a:txBody>
                  <a:tcPr anchor="ctr" marL="27432" marR="27432" marT="9144" marB="9144">
                    <a:solidFill>
                      <a:srgbClr val="FEEEEE"/>
                    </a:solidFill>
                  </a:tcPr>
                </a:tc>
                <a:tc>
                  <a:txBody>
                    <a:bodyPr wrap="square"/>
                    <a:lstStyle/>
                    <a:p>
                      <a:pPr algn="l">
                        <a:lnSpc>
                          <a:spcPct val="103000"/>
                        </a:lnSpc>
                      </a:pPr>
                      <a:r>
                        <a:rPr sz="700" b="1">
                          <a:solidFill>
                            <a:srgbClr val="1560D4"/>
                          </a:solidFill>
                          <a:latin typeface="Arial"/>
                        </a:rPr>
                        <a:t>Khối Tuấn CT: 21 (14 thẳng + 7 LD1) | Phản đối Thụy: 19 | Phản đối Tuấn: 9 | Khối Thụy CT: 34 (22 thẳng + 12 LD2)</a:t>
                      </a:r>
                    </a:p>
                  </a:txBody>
                  <a:tcPr anchor="ctr" marL="27432" marR="27432" marT="9144" marB="9144">
                    <a:solidFill>
                      <a:srgbClr val="FEEEEE"/>
                    </a:solidFill>
                  </a:tcPr>
                </a:tc>
                <a:tc>
                  <a:txBody>
                    <a:bodyPr wrap="square"/>
                    <a:lstStyle/>
                    <a:p>
                      <a:pPr algn="l">
                        <a:lnSpc>
                          <a:spcPct val="103000"/>
                        </a:lnSpc>
                      </a:pPr>
                      <a:r>
                        <a:rPr sz="670" b="0">
                          <a:solidFill>
                            <a:srgbClr val="121C2D"/>
                          </a:solidFill>
                          <a:latin typeface="Arial"/>
                        </a:rPr>
                        <a:t>TẠO SÓNG CHO BẦU THỤY NGÀY 21–22/10: Thu hút 34 phiếu chọn Bầu Thụy CT nhưng cũng có 19 bình luận cảnh giác ông bầu.</a:t>
                      </a:r>
                    </a:p>
                  </a:txBody>
                  <a:tcPr anchor="ctr" marL="36576" marR="36576" marT="9144" marB="9144">
                    <a:solidFill>
                      <a:srgbClr val="FEEEEE"/>
                    </a:solidFill>
                  </a:tcPr>
                </a:tc>
              </a:tr>
              <a:tr h="347472">
                <a:tc>
                  <a:txBody>
                    <a:bodyPr wrap="square"/>
                    <a:lstStyle/>
                    <a:p>
                      <a:pPr algn="l">
                        <a:lnSpc>
                          <a:spcPct val="103000"/>
                        </a:lnSpc>
                      </a:pPr>
                      <a:r>
                        <a:rPr sz="710" b="1">
                          <a:solidFill>
                            <a:srgbClr val="0B1528"/>
                          </a:solidFill>
                          <a:latin typeface="Arial"/>
                          <a:hlinkClick r:id="rId4"/>
                        </a:rPr>
                        <a:t>3. Nhím Bóng Đá (YouTube)</a:t>
                      </a:r>
                    </a:p>
                    <a:p>
                      <a:pPr algn="l">
                        <a:lnSpc>
                          <a:spcPct val="103000"/>
                        </a:lnSpc>
                      </a:pPr>
                      <a:r>
                        <a:rPr sz="710" b="1">
                          <a:solidFill>
                            <a:srgbClr val="0B1528"/>
                          </a:solidFill>
                          <a:latin typeface="Arial"/>
                        </a:rPr>
                        <a:t>(Shorts &amp; Bản tin nóng)</a:t>
                      </a:r>
                    </a:p>
                  </a:txBody>
                  <a:tcPr anchor="ctr" marL="27432" marR="27432" marT="9144" marB="9144">
                    <a:solidFill>
                      <a:srgbClr val="FFFFFF"/>
                    </a:solidFill>
                  </a:tcPr>
                </a:tc>
                <a:tc>
                  <a:txBody>
                    <a:bodyPr wrap="square"/>
                    <a:lstStyle/>
                    <a:p>
                      <a:pPr algn="ctr">
                        <a:lnSpc>
                          <a:spcPct val="103000"/>
                        </a:lnSpc>
                      </a:pPr>
                      <a:r>
                        <a:rPr sz="700" b="1">
                          <a:solidFill>
                            <a:srgbClr val="E67E22"/>
                          </a:solidFill>
                          <a:latin typeface="Arial"/>
                        </a:rPr>
                        <a:t>Phản biện cầu thủ nhập tịch (01-07/10)</a:t>
                      </a:r>
                    </a:p>
                    <a:p>
                      <a:pPr algn="ctr">
                        <a:lnSpc>
                          <a:spcPct val="103000"/>
                        </a:lnSpc>
                      </a:pPr>
                      <a:r>
                        <a:rPr sz="700" b="1">
                          <a:solidFill>
                            <a:srgbClr val="E67E22"/>
                          </a:solidFill>
                          <a:latin typeface="Arial"/>
                        </a:rPr>
                        <a:t>&amp; đưa tin cam kết 1.000 tỷ (22/10)</a:t>
                      </a:r>
                    </a:p>
                  </a:txBody>
                  <a:tcPr anchor="ctr" marL="27432" marR="27432" marT="9144" marB="9144">
                    <a:solidFill>
                      <a:srgbClr val="FFF6E8"/>
                    </a:solidFill>
                  </a:tcPr>
                </a:tc>
                <a:tc>
                  <a:txBody>
                    <a:bodyPr wrap="square"/>
                    <a:lstStyle/>
                    <a:p>
                      <a:pPr algn="ctr">
                        <a:lnSpc>
                          <a:spcPct val="103000"/>
                        </a:lnSpc>
                      </a:pPr>
                      <a:r>
                        <a:rPr sz="710" b="1">
                          <a:solidFill>
                            <a:srgbClr val="0B1528"/>
                          </a:solidFill>
                          <a:latin typeface="Arial"/>
                        </a:rPr>
                        <a:t>2 video YT</a:t>
                      </a:r>
                    </a:p>
                    <a:p>
                      <a:pPr algn="ctr">
                        <a:lnSpc>
                          <a:spcPct val="103000"/>
                        </a:lnSpc>
                      </a:pPr>
                      <a:r>
                        <a:rPr sz="710" b="1">
                          <a:solidFill>
                            <a:srgbClr val="0B1528"/>
                          </a:solidFill>
                          <a:latin typeface="Arial"/>
                        </a:rPr>
                        <a:t>(219K views)</a:t>
                      </a:r>
                    </a:p>
                  </a:txBody>
                  <a:tcPr anchor="ctr" marL="27432" marR="27432" marT="9144" marB="9144">
                    <a:solidFill>
                      <a:srgbClr val="FFFFFF"/>
                    </a:solidFill>
                  </a:tcPr>
                </a:tc>
                <a:tc>
                  <a:txBody>
                    <a:bodyPr wrap="square"/>
                    <a:lstStyle/>
                    <a:p>
                      <a:pPr algn="ctr">
                        <a:lnSpc>
                          <a:spcPct val="103000"/>
                        </a:lnSpc>
                      </a:pPr>
                      <a:r>
                        <a:rPr sz="700" b="0">
                          <a:solidFill>
                            <a:srgbClr val="121C2D"/>
                          </a:solidFill>
                          <a:latin typeface="Arial"/>
                        </a:rPr>
                        <a:t>610 bình luận</a:t>
                      </a:r>
                    </a:p>
                    <a:p>
                      <a:pPr algn="ctr">
                        <a:lnSpc>
                          <a:spcPct val="103000"/>
                        </a:lnSpc>
                      </a:pPr>
                      <a:r>
                        <a:rPr sz="700" b="0">
                          <a:solidFill>
                            <a:srgbClr val="121C2D"/>
                          </a:solidFill>
                          <a:latin typeface="Arial"/>
                        </a:rPr>
                        <a:t>(42 bầu cử)</a:t>
                      </a:r>
                    </a:p>
                  </a:txBody>
                  <a:tcPr anchor="ctr" marL="27432" marR="27432" marT="9144" marB="9144">
                    <a:solidFill>
                      <a:srgbClr val="FFFFFF"/>
                    </a:solidFill>
                  </a:tcPr>
                </a:tc>
                <a:tc>
                  <a:txBody>
                    <a:bodyPr wrap="square"/>
                    <a:lstStyle/>
                    <a:p>
                      <a:pPr algn="l">
                        <a:lnSpc>
                          <a:spcPct val="103000"/>
                        </a:lnSpc>
                      </a:pPr>
                      <a:r>
                        <a:rPr sz="700" b="1">
                          <a:solidFill>
                            <a:srgbClr val="1560D4"/>
                          </a:solidFill>
                          <a:latin typeface="Arial"/>
                        </a:rPr>
                        <a:t>Khối Tuấn CT: 8 (6 thẳng + 2 LD1) | Phản đối Tuấn/Nhập tịch: 15 | Phản đối Thụy: 7 | Khối Thụy CT: 12 (9+3)</a:t>
                      </a:r>
                    </a:p>
                  </a:txBody>
                  <a:tcPr anchor="ctr" marL="27432" marR="27432" marT="9144" marB="9144">
                    <a:solidFill>
                      <a:srgbClr val="FFFFFF"/>
                    </a:solidFill>
                  </a:tcPr>
                </a:tc>
                <a:tc>
                  <a:txBody>
                    <a:bodyPr wrap="square"/>
                    <a:lstStyle/>
                    <a:p>
                      <a:pPr algn="l">
                        <a:lnSpc>
                          <a:spcPct val="103000"/>
                        </a:lnSpc>
                      </a:pPr>
                      <a:r>
                        <a:rPr sz="670" b="0">
                          <a:solidFill>
                            <a:srgbClr val="121C2D"/>
                          </a:solidFill>
                          <a:latin typeface="Arial"/>
                        </a:rPr>
                        <a:t>ĐIỂM NÓNG TRANH CÃI NHẬP TỊCH: Nơi phát sinh nhiều bình luận chỉ trích phát ngôn 'nhập tịch thử nghiệm' của VFF.</a:t>
                      </a:r>
                    </a:p>
                  </a:txBody>
                  <a:tcPr anchor="ctr" marL="36576" marR="36576" marT="9144" marB="9144">
                    <a:solidFill>
                      <a:srgbClr val="FFFFFF"/>
                    </a:solidFill>
                  </a:tcPr>
                </a:tc>
              </a:tr>
              <a:tr h="347472">
                <a:tc>
                  <a:txBody>
                    <a:bodyPr wrap="square"/>
                    <a:lstStyle/>
                    <a:p>
                      <a:pPr algn="l">
                        <a:lnSpc>
                          <a:spcPct val="103000"/>
                        </a:lnSpc>
                      </a:pPr>
                      <a:r>
                        <a:rPr sz="710" b="1">
                          <a:solidFill>
                            <a:srgbClr val="0B1528"/>
                          </a:solidFill>
                          <a:latin typeface="Arial"/>
                          <a:hlinkClick r:id="rId5"/>
                        </a:rPr>
                        <a:t>4. Giờ Vàng TV (YouTube)</a:t>
                      </a:r>
                    </a:p>
                    <a:p>
                      <a:pPr algn="l">
                        <a:lnSpc>
                          <a:spcPct val="103000"/>
                        </a:lnSpc>
                      </a:pPr>
                      <a:r>
                        <a:rPr sz="710" b="1">
                          <a:solidFill>
                            <a:srgbClr val="0B1528"/>
                          </a:solidFill>
                          <a:latin typeface="Arial"/>
                        </a:rPr>
                        <a:t>(Kênh Bình luận Giật tít mạnh)</a:t>
                      </a:r>
                    </a:p>
                  </a:txBody>
                  <a:tcPr anchor="ctr" marL="27432" marR="27432" marT="9144" marB="9144">
                    <a:solidFill>
                      <a:srgbClr val="F1F3F7"/>
                    </a:solidFill>
                  </a:tcPr>
                </a:tc>
                <a:tc>
                  <a:txBody>
                    <a:bodyPr wrap="square"/>
                    <a:lstStyle/>
                    <a:p>
                      <a:pPr algn="ctr">
                        <a:lnSpc>
                          <a:spcPct val="103000"/>
                        </a:lnSpc>
                      </a:pPr>
                      <a:r>
                        <a:rPr sz="700" b="1">
                          <a:solidFill>
                            <a:srgbClr val="D62728"/>
                          </a:solidFill>
                          <a:latin typeface="Arial"/>
                        </a:rPr>
                        <a:t>Giật tít: 'VFF sắp có Chủ tịch</a:t>
                      </a:r>
                    </a:p>
                    <a:p>
                      <a:pPr algn="ctr">
                        <a:lnSpc>
                          <a:spcPct val="103000"/>
                        </a:lnSpc>
                      </a:pPr>
                      <a:r>
                        <a:rPr sz="700" b="1">
                          <a:solidFill>
                            <a:srgbClr val="D62728"/>
                          </a:solidFill>
                          <a:latin typeface="Arial"/>
                        </a:rPr>
                        <a:t>tỷ phú USD? Tín nhiệm khủng!'</a:t>
                      </a:r>
                    </a:p>
                  </a:txBody>
                  <a:tcPr anchor="ctr" marL="27432" marR="27432" marT="9144" marB="9144">
                    <a:solidFill>
                      <a:srgbClr val="FEEEEE"/>
                    </a:solidFill>
                  </a:tcPr>
                </a:tc>
                <a:tc>
                  <a:txBody>
                    <a:bodyPr wrap="square"/>
                    <a:lstStyle/>
                    <a:p>
                      <a:pPr algn="ctr">
                        <a:lnSpc>
                          <a:spcPct val="103000"/>
                        </a:lnSpc>
                      </a:pPr>
                      <a:r>
                        <a:rPr sz="710" b="1">
                          <a:solidFill>
                            <a:srgbClr val="0B1528"/>
                          </a:solidFill>
                          <a:latin typeface="Arial"/>
                        </a:rPr>
                        <a:t>8 video YT</a:t>
                      </a:r>
                    </a:p>
                    <a:p>
                      <a:pPr algn="ctr">
                        <a:lnSpc>
                          <a:spcPct val="103000"/>
                        </a:lnSpc>
                      </a:pPr>
                      <a:r>
                        <a:rPr sz="710" b="1">
                          <a:solidFill>
                            <a:srgbClr val="0B1528"/>
                          </a:solidFill>
                          <a:latin typeface="Arial"/>
                        </a:rPr>
                        <a:t>(174K views)</a:t>
                      </a:r>
                    </a:p>
                  </a:txBody>
                  <a:tcPr anchor="ctr" marL="27432" marR="27432" marT="9144" marB="9144">
                    <a:solidFill>
                      <a:srgbClr val="F1F3F7"/>
                    </a:solidFill>
                  </a:tcPr>
                </a:tc>
                <a:tc>
                  <a:txBody>
                    <a:bodyPr wrap="square"/>
                    <a:lstStyle/>
                    <a:p>
                      <a:pPr algn="ctr">
                        <a:lnSpc>
                          <a:spcPct val="103000"/>
                        </a:lnSpc>
                      </a:pPr>
                      <a:r>
                        <a:rPr sz="700" b="0">
                          <a:solidFill>
                            <a:srgbClr val="121C2D"/>
                          </a:solidFill>
                          <a:latin typeface="Arial"/>
                        </a:rPr>
                        <a:t>260 bình luận</a:t>
                      </a:r>
                    </a:p>
                    <a:p>
                      <a:pPr algn="ctr">
                        <a:lnSpc>
                          <a:spcPct val="103000"/>
                        </a:lnSpc>
                      </a:pPr>
                      <a:r>
                        <a:rPr sz="700" b="0">
                          <a:solidFill>
                            <a:srgbClr val="121C2D"/>
                          </a:solidFill>
                          <a:latin typeface="Arial"/>
                        </a:rPr>
                        <a:t>(52 bầu cử)</a:t>
                      </a:r>
                    </a:p>
                  </a:txBody>
                  <a:tcPr anchor="ctr" marL="27432" marR="27432" marT="9144" marB="9144">
                    <a:solidFill>
                      <a:srgbClr val="F1F3F7"/>
                    </a:solidFill>
                  </a:tcPr>
                </a:tc>
                <a:tc>
                  <a:txBody>
                    <a:bodyPr wrap="square"/>
                    <a:lstStyle/>
                    <a:p>
                      <a:pPr algn="l">
                        <a:lnSpc>
                          <a:spcPct val="103000"/>
                        </a:lnSpc>
                      </a:pPr>
                      <a:r>
                        <a:rPr sz="700" b="1">
                          <a:solidFill>
                            <a:srgbClr val="1560D4"/>
                          </a:solidFill>
                          <a:latin typeface="Arial"/>
                        </a:rPr>
                        <a:t>Khối Tuấn CT: 14 (10 thẳng + 4 LD1) | Phản đối Thụy: 12 | Phản đối cả hai: 6 | Khối Thụy CT: 20 (16 thẳng + 4 LD2)</a:t>
                      </a:r>
                    </a:p>
                  </a:txBody>
                  <a:tcPr anchor="ctr" marL="27432" marR="27432" marT="9144" marB="9144">
                    <a:solidFill>
                      <a:srgbClr val="F1F3F7"/>
                    </a:solidFill>
                  </a:tcPr>
                </a:tc>
                <a:tc>
                  <a:txBody>
                    <a:bodyPr wrap="square"/>
                    <a:lstStyle/>
                    <a:p>
                      <a:pPr algn="l">
                        <a:lnSpc>
                          <a:spcPct val="103000"/>
                        </a:lnSpc>
                      </a:pPr>
                      <a:r>
                        <a:rPr sz="670" b="0">
                          <a:solidFill>
                            <a:srgbClr val="121C2D"/>
                          </a:solidFill>
                          <a:latin typeface="Arial"/>
                        </a:rPr>
                        <a:t>KÍCH THÍCH TÒ MÒ KHÁN GIẢ TRẺ: Tỷ lệ chọn Bầu Thụy nhỉnh hơn (38,5% vs 26,9%) nhưng 23,1% lo ngại rủi ro.</a:t>
                      </a:r>
                    </a:p>
                  </a:txBody>
                  <a:tcPr anchor="ctr" marL="36576" marR="36576" marT="9144" marB="9144">
                    <a:solidFill>
                      <a:srgbClr val="F1F3F7"/>
                    </a:solidFill>
                  </a:tcPr>
                </a:tc>
              </a:tr>
              <a:tr h="347472">
                <a:tc>
                  <a:txBody>
                    <a:bodyPr wrap="square"/>
                    <a:lstStyle/>
                    <a:p>
                      <a:pPr algn="l">
                        <a:lnSpc>
                          <a:spcPct val="103000"/>
                        </a:lnSpc>
                      </a:pPr>
                      <a:r>
                        <a:rPr sz="710" b="1">
                          <a:solidFill>
                            <a:srgbClr val="0B1528"/>
                          </a:solidFill>
                          <a:latin typeface="Arial"/>
                          <a:hlinkClick r:id="rId6"/>
                        </a:rPr>
                        <a:t>5. BÓNG ĐÁ NGÀY NAY (YouTube)</a:t>
                      </a:r>
                    </a:p>
                    <a:p>
                      <a:pPr algn="l">
                        <a:lnSpc>
                          <a:spcPct val="103000"/>
                        </a:lnSpc>
                      </a:pPr>
                      <a:r>
                        <a:rPr sz="710" b="1">
                          <a:solidFill>
                            <a:srgbClr val="0B1528"/>
                          </a:solidFill>
                          <a:latin typeface="Arial"/>
                        </a:rPr>
                        <a:t>(5 Video chuyên đề Bầu cử VFF)</a:t>
                      </a:r>
                    </a:p>
                  </a:txBody>
                  <a:tcPr anchor="ctr" marL="27432" marR="27432" marT="9144" marB="9144">
                    <a:solidFill>
                      <a:srgbClr val="FFFFFF"/>
                    </a:solidFill>
                  </a:tcPr>
                </a:tc>
                <a:tc>
                  <a:txBody>
                    <a:bodyPr wrap="square"/>
                    <a:lstStyle/>
                    <a:p>
                      <a:pPr algn="ctr">
                        <a:lnSpc>
                          <a:spcPct val="103000"/>
                        </a:lnSpc>
                      </a:pPr>
                      <a:r>
                        <a:rPr sz="700" b="1">
                          <a:solidFill>
                            <a:srgbClr val="0E94A5"/>
                          </a:solidFill>
                          <a:latin typeface="Arial"/>
                        </a:rPr>
                        <a:t>Đa chiều: Vừa giật tít Tỷ phú USD</a:t>
                      </a:r>
                    </a:p>
                    <a:p>
                      <a:pPr algn="ctr">
                        <a:lnSpc>
                          <a:spcPct val="103000"/>
                        </a:lnSpc>
                      </a:pPr>
                      <a:r>
                        <a:rPr sz="700" b="1">
                          <a:solidFill>
                            <a:srgbClr val="0E94A5"/>
                          </a:solidFill>
                          <a:latin typeface="Arial"/>
                        </a:rPr>
                        <a:t>vừa cảnh báo bài học Thái/Indo</a:t>
                      </a:r>
                    </a:p>
                  </a:txBody>
                  <a:tcPr anchor="ctr" marL="27432" marR="27432" marT="9144" marB="9144">
                    <a:solidFill>
                      <a:srgbClr val="E8F8FA"/>
                    </a:solidFill>
                  </a:tcPr>
                </a:tc>
                <a:tc>
                  <a:txBody>
                    <a:bodyPr wrap="square"/>
                    <a:lstStyle/>
                    <a:p>
                      <a:pPr algn="ctr">
                        <a:lnSpc>
                          <a:spcPct val="103000"/>
                        </a:lnSpc>
                      </a:pPr>
                      <a:r>
                        <a:rPr sz="710" b="1">
                          <a:solidFill>
                            <a:srgbClr val="0B1528"/>
                          </a:solidFill>
                          <a:latin typeface="Arial"/>
                        </a:rPr>
                        <a:t>5 video YT</a:t>
                      </a:r>
                    </a:p>
                    <a:p>
                      <a:pPr algn="ctr">
                        <a:lnSpc>
                          <a:spcPct val="103000"/>
                        </a:lnSpc>
                      </a:pPr>
                      <a:r>
                        <a:rPr sz="710" b="1">
                          <a:solidFill>
                            <a:srgbClr val="0B1528"/>
                          </a:solidFill>
                          <a:latin typeface="Arial"/>
                        </a:rPr>
                        <a:t>(415K views)</a:t>
                      </a:r>
                    </a:p>
                  </a:txBody>
                  <a:tcPr anchor="ctr" marL="27432" marR="27432" marT="9144" marB="9144">
                    <a:solidFill>
                      <a:srgbClr val="FFFFFF"/>
                    </a:solidFill>
                  </a:tcPr>
                </a:tc>
                <a:tc>
                  <a:txBody>
                    <a:bodyPr wrap="square"/>
                    <a:lstStyle/>
                    <a:p>
                      <a:pPr algn="ctr">
                        <a:lnSpc>
                          <a:spcPct val="103000"/>
                        </a:lnSpc>
                      </a:pPr>
                      <a:r>
                        <a:rPr sz="700" b="0">
                          <a:solidFill>
                            <a:srgbClr val="121C2D"/>
                          </a:solidFill>
                          <a:latin typeface="Arial"/>
                        </a:rPr>
                        <a:t>97 bình luận</a:t>
                      </a:r>
                    </a:p>
                    <a:p>
                      <a:pPr algn="ctr">
                        <a:lnSpc>
                          <a:spcPct val="103000"/>
                        </a:lnSpc>
                      </a:pPr>
                      <a:r>
                        <a:rPr sz="700" b="0">
                          <a:solidFill>
                            <a:srgbClr val="121C2D"/>
                          </a:solidFill>
                          <a:latin typeface="Arial"/>
                        </a:rPr>
                        <a:t>(76 bầu cử)</a:t>
                      </a:r>
                    </a:p>
                  </a:txBody>
                  <a:tcPr anchor="ctr" marL="27432" marR="27432" marT="9144" marB="9144">
                    <a:solidFill>
                      <a:srgbClr val="FFFFFF"/>
                    </a:solidFill>
                  </a:tcPr>
                </a:tc>
                <a:tc>
                  <a:txBody>
                    <a:bodyPr wrap="square"/>
                    <a:lstStyle/>
                    <a:p>
                      <a:pPr algn="l">
                        <a:lnSpc>
                          <a:spcPct val="103000"/>
                        </a:lnSpc>
                      </a:pPr>
                      <a:r>
                        <a:rPr sz="700" b="1">
                          <a:solidFill>
                            <a:srgbClr val="1560D4"/>
                          </a:solidFill>
                          <a:latin typeface="Arial"/>
                        </a:rPr>
                        <a:t>Khối Tuấn CT: 22 (16 thẳng + 6 LD1) | Bầu Đức: 12 | Phản đối Thụy: 14 | Phản đối Tuấn: 5 | Khối Thụy CT: 23 (19+4)</a:t>
                      </a:r>
                    </a:p>
                  </a:txBody>
                  <a:tcPr anchor="ctr" marL="27432" marR="27432" marT="9144" marB="9144">
                    <a:solidFill>
                      <a:srgbClr val="FFFFFF"/>
                    </a:solidFill>
                  </a:tcPr>
                </a:tc>
                <a:tc>
                  <a:txBody>
                    <a:bodyPr wrap="square"/>
                    <a:lstStyle/>
                    <a:p>
                      <a:pPr algn="l">
                        <a:lnSpc>
                          <a:spcPct val="103000"/>
                        </a:lnSpc>
                      </a:pPr>
                      <a:r>
                        <a:rPr sz="670" b="0">
                          <a:solidFill>
                            <a:srgbClr val="121C2D"/>
                          </a:solidFill>
                          <a:latin typeface="Arial"/>
                        </a:rPr>
                        <a:t>CÂN BẰNG 2 CHIỀU: Video ngày 14/10 'Thái Lan, Indo trả giá đắt vì Chủ tịch doanh nhân' kéo phiếu về lại TS. Tuấn.</a:t>
                      </a:r>
                    </a:p>
                  </a:txBody>
                  <a:tcPr anchor="ctr" marL="36576" marR="36576" marT="9144" marB="9144">
                    <a:solidFill>
                      <a:srgbClr val="FFFFFF"/>
                    </a:solidFill>
                  </a:tcPr>
                </a:tc>
              </a:tr>
              <a:tr h="347472">
                <a:tc>
                  <a:txBody>
                    <a:bodyPr wrap="square"/>
                    <a:lstStyle/>
                    <a:p>
                      <a:pPr algn="l">
                        <a:lnSpc>
                          <a:spcPct val="103000"/>
                        </a:lnSpc>
                      </a:pPr>
                      <a:r>
                        <a:rPr sz="710" b="1">
                          <a:solidFill>
                            <a:srgbClr val="0B1528"/>
                          </a:solidFill>
                          <a:latin typeface="Arial"/>
                          <a:hlinkClick r:id="rId7"/>
                        </a:rPr>
                        <a:t>6. Vlog Ngoài đường piste &amp; Piste TV</a:t>
                      </a:r>
                    </a:p>
                    <a:p>
                      <a:pPr algn="l">
                        <a:lnSpc>
                          <a:spcPct val="103000"/>
                        </a:lnSpc>
                      </a:pPr>
                      <a:r>
                        <a:rPr sz="710" b="1">
                          <a:solidFill>
                            <a:srgbClr val="0B1528"/>
                          </a:solidFill>
                          <a:latin typeface="Arial"/>
                        </a:rPr>
                        <a:t>(9 Video phân tích sâu 19-22/10)</a:t>
                      </a:r>
                    </a:p>
                  </a:txBody>
                  <a:tcPr anchor="ctr" marL="27432" marR="27432" marT="9144" marB="9144">
                    <a:solidFill>
                      <a:srgbClr val="F1F3F7"/>
                    </a:solidFill>
                  </a:tcPr>
                </a:tc>
                <a:tc>
                  <a:txBody>
                    <a:bodyPr wrap="square"/>
                    <a:lstStyle/>
                    <a:p>
                      <a:pPr algn="ctr">
                        <a:lnSpc>
                          <a:spcPct val="103000"/>
                        </a:lnSpc>
                      </a:pPr>
                      <a:r>
                        <a:rPr sz="700" b="1">
                          <a:solidFill>
                            <a:srgbClr val="0E94A5"/>
                          </a:solidFill>
                          <a:latin typeface="Arial"/>
                        </a:rPr>
                        <a:t>Phân tích công bằng 3 ứng viên</a:t>
                      </a:r>
                    </a:p>
                    <a:p>
                      <a:pPr algn="ctr">
                        <a:lnSpc>
                          <a:spcPct val="103000"/>
                        </a:lnSpc>
                      </a:pPr>
                      <a:r>
                        <a:rPr sz="700" b="1">
                          <a:solidFill>
                            <a:srgbClr val="0E94A5"/>
                          </a:solidFill>
                          <a:latin typeface="Arial"/>
                        </a:rPr>
                        <a:t>&amp; mục tiêu 600–1.000 tỷ của Thụy</a:t>
                      </a:r>
                    </a:p>
                  </a:txBody>
                  <a:tcPr anchor="ctr" marL="27432" marR="27432" marT="9144" marB="9144">
                    <a:solidFill>
                      <a:srgbClr val="E8F8FA"/>
                    </a:solidFill>
                  </a:tcPr>
                </a:tc>
                <a:tc>
                  <a:txBody>
                    <a:bodyPr wrap="square"/>
                    <a:lstStyle/>
                    <a:p>
                      <a:pPr algn="ctr">
                        <a:lnSpc>
                          <a:spcPct val="103000"/>
                        </a:lnSpc>
                      </a:pPr>
                      <a:r>
                        <a:rPr sz="710" b="1">
                          <a:solidFill>
                            <a:srgbClr val="0B1528"/>
                          </a:solidFill>
                          <a:latin typeface="Arial"/>
                        </a:rPr>
                        <a:t>9 video YT</a:t>
                      </a:r>
                    </a:p>
                    <a:p>
                      <a:pPr algn="ctr">
                        <a:lnSpc>
                          <a:spcPct val="103000"/>
                        </a:lnSpc>
                      </a:pPr>
                      <a:r>
                        <a:rPr sz="710" b="1">
                          <a:solidFill>
                            <a:srgbClr val="0B1528"/>
                          </a:solidFill>
                          <a:latin typeface="Arial"/>
                        </a:rPr>
                        <a:t>(186K views)</a:t>
                      </a:r>
                    </a:p>
                  </a:txBody>
                  <a:tcPr anchor="ctr" marL="27432" marR="27432" marT="9144" marB="9144">
                    <a:solidFill>
                      <a:srgbClr val="F1F3F7"/>
                    </a:solidFill>
                  </a:tcPr>
                </a:tc>
                <a:tc>
                  <a:txBody>
                    <a:bodyPr wrap="square"/>
                    <a:lstStyle/>
                    <a:p>
                      <a:pPr algn="ctr">
                        <a:lnSpc>
                          <a:spcPct val="103000"/>
                        </a:lnSpc>
                      </a:pPr>
                      <a:r>
                        <a:rPr sz="700" b="0">
                          <a:solidFill>
                            <a:srgbClr val="121C2D"/>
                          </a:solidFill>
                          <a:latin typeface="Arial"/>
                        </a:rPr>
                        <a:t>107 bình luận</a:t>
                      </a:r>
                    </a:p>
                    <a:p>
                      <a:pPr algn="ctr">
                        <a:lnSpc>
                          <a:spcPct val="103000"/>
                        </a:lnSpc>
                      </a:pPr>
                      <a:r>
                        <a:rPr sz="700" b="0">
                          <a:solidFill>
                            <a:srgbClr val="121C2D"/>
                          </a:solidFill>
                          <a:latin typeface="Arial"/>
                        </a:rPr>
                        <a:t>(68 bầu cử)</a:t>
                      </a:r>
                    </a:p>
                  </a:txBody>
                  <a:tcPr anchor="ctr" marL="27432" marR="27432" marT="9144" marB="9144">
                    <a:solidFill>
                      <a:srgbClr val="F1F3F7"/>
                    </a:solidFill>
                  </a:tcPr>
                </a:tc>
                <a:tc>
                  <a:txBody>
                    <a:bodyPr wrap="square"/>
                    <a:lstStyle/>
                    <a:p>
                      <a:pPr algn="l">
                        <a:lnSpc>
                          <a:spcPct val="103000"/>
                        </a:lnSpc>
                      </a:pPr>
                      <a:r>
                        <a:rPr sz="700" b="1">
                          <a:solidFill>
                            <a:srgbClr val="1560D4"/>
                          </a:solidFill>
                          <a:latin typeface="Arial"/>
                        </a:rPr>
                        <a:t>Khối Tuấn CT: 21 (14 thẳng + 7 LD1) | Phản đối Thụy: 11 | Phản đối Tuấn: 4 | Khối Thụy CT: 26 (19 thẳng + 7 LD2)</a:t>
                      </a:r>
                    </a:p>
                  </a:txBody>
                  <a:tcPr anchor="ctr" marL="27432" marR="27432" marT="9144" marB="9144">
                    <a:solidFill>
                      <a:srgbClr val="F1F3F7"/>
                    </a:solidFill>
                  </a:tcPr>
                </a:tc>
                <a:tc>
                  <a:txBody>
                    <a:bodyPr wrap="square"/>
                    <a:lstStyle/>
                    <a:p>
                      <a:pPr algn="l">
                        <a:lnSpc>
                          <a:spcPct val="103000"/>
                        </a:lnSpc>
                      </a:pPr>
                      <a:r>
                        <a:rPr sz="670" b="0">
                          <a:solidFill>
                            <a:srgbClr val="121C2D"/>
                          </a:solidFill>
                          <a:latin typeface="Arial"/>
                        </a:rPr>
                        <a:t>SÓNG MỚI NGÀY 21–22/10: Video 'Bầu Thụy đặt mục tiêu 600–1.000 tỷ/năm' giúp ông Thụy tăng điểm ở nhóm thực dụng.</a:t>
                      </a:r>
                    </a:p>
                  </a:txBody>
                  <a:tcPr anchor="ctr" marL="36576" marR="36576" marT="9144" marB="9144">
                    <a:solidFill>
                      <a:srgbClr val="F1F3F7"/>
                    </a:solidFill>
                  </a:tcPr>
                </a:tc>
              </a:tr>
              <a:tr h="347472">
                <a:tc>
                  <a:txBody>
                    <a:bodyPr wrap="square"/>
                    <a:lstStyle/>
                    <a:p>
                      <a:pPr algn="l">
                        <a:lnSpc>
                          <a:spcPct val="103000"/>
                        </a:lnSpc>
                      </a:pPr>
                      <a:r>
                        <a:rPr sz="710" b="1">
                          <a:solidFill>
                            <a:srgbClr val="0B1528"/>
                          </a:solidFill>
                          <a:latin typeface="Arial"/>
                          <a:hlinkClick r:id="rId8"/>
                        </a:rPr>
                        <a:t>7. Hoàng Trí Công &amp; Cú Đúp TV</a:t>
                      </a:r>
                    </a:p>
                    <a:p>
                      <a:pPr algn="l">
                        <a:lnSpc>
                          <a:spcPct val="103000"/>
                        </a:lnSpc>
                      </a:pPr>
                      <a:r>
                        <a:rPr sz="710" b="1">
                          <a:solidFill>
                            <a:srgbClr val="0B1528"/>
                          </a:solidFill>
                          <a:latin typeface="Arial"/>
                        </a:rPr>
                        <a:t>(7 Video điểm tin sáng &amp; bình luận)</a:t>
                      </a:r>
                    </a:p>
                  </a:txBody>
                  <a:tcPr anchor="ctr" marL="27432" marR="27432" marT="9144" marB="9144">
                    <a:solidFill>
                      <a:srgbClr val="FFFFFF"/>
                    </a:solidFill>
                  </a:tcPr>
                </a:tc>
                <a:tc>
                  <a:txBody>
                    <a:bodyPr wrap="square"/>
                    <a:lstStyle/>
                    <a:p>
                      <a:pPr algn="ctr">
                        <a:lnSpc>
                          <a:spcPct val="103000"/>
                        </a:lnSpc>
                      </a:pPr>
                      <a:r>
                        <a:rPr sz="700" b="1">
                          <a:solidFill>
                            <a:srgbClr val="1560D4"/>
                          </a:solidFill>
                          <a:latin typeface="Arial"/>
                        </a:rPr>
                        <a:t>Đưa tin Tỷ phú USD tranh cử,</a:t>
                      </a:r>
                    </a:p>
                    <a:p>
                      <a:pPr algn="ctr">
                        <a:lnSpc>
                          <a:spcPct val="103000"/>
                        </a:lnSpc>
                      </a:pPr>
                      <a:r>
                        <a:rPr sz="700" b="1">
                          <a:solidFill>
                            <a:srgbClr val="1560D4"/>
                          </a:solidFill>
                          <a:latin typeface="Arial"/>
                        </a:rPr>
                        <a:t>TS. Tuấn đi Nhật &amp; Asian Cup</a:t>
                      </a:r>
                    </a:p>
                  </a:txBody>
                  <a:tcPr anchor="ctr" marL="27432" marR="27432" marT="9144" marB="9144">
                    <a:solidFill>
                      <a:srgbClr val="EBF3FF"/>
                    </a:solidFill>
                  </a:tcPr>
                </a:tc>
                <a:tc>
                  <a:txBody>
                    <a:bodyPr wrap="square"/>
                    <a:lstStyle/>
                    <a:p>
                      <a:pPr algn="ctr">
                        <a:lnSpc>
                          <a:spcPct val="103000"/>
                        </a:lnSpc>
                      </a:pPr>
                      <a:r>
                        <a:rPr sz="710" b="1">
                          <a:solidFill>
                            <a:srgbClr val="0B1528"/>
                          </a:solidFill>
                          <a:latin typeface="Arial"/>
                        </a:rPr>
                        <a:t>7 video YT</a:t>
                      </a:r>
                    </a:p>
                    <a:p>
                      <a:pPr algn="ctr">
                        <a:lnSpc>
                          <a:spcPct val="103000"/>
                        </a:lnSpc>
                      </a:pPr>
                      <a:r>
                        <a:rPr sz="710" b="1">
                          <a:solidFill>
                            <a:srgbClr val="0B1528"/>
                          </a:solidFill>
                          <a:latin typeface="Arial"/>
                        </a:rPr>
                        <a:t>(192K views)</a:t>
                      </a:r>
                    </a:p>
                  </a:txBody>
                  <a:tcPr anchor="ctr" marL="27432" marR="27432" marT="9144" marB="9144">
                    <a:solidFill>
                      <a:srgbClr val="FFFFFF"/>
                    </a:solidFill>
                  </a:tcPr>
                </a:tc>
                <a:tc>
                  <a:txBody>
                    <a:bodyPr wrap="square"/>
                    <a:lstStyle/>
                    <a:p>
                      <a:pPr algn="ctr">
                        <a:lnSpc>
                          <a:spcPct val="103000"/>
                        </a:lnSpc>
                      </a:pPr>
                      <a:r>
                        <a:rPr sz="700" b="0">
                          <a:solidFill>
                            <a:srgbClr val="121C2D"/>
                          </a:solidFill>
                          <a:latin typeface="Arial"/>
                        </a:rPr>
                        <a:t>98 bình luận</a:t>
                      </a:r>
                    </a:p>
                    <a:p>
                      <a:pPr algn="ctr">
                        <a:lnSpc>
                          <a:spcPct val="103000"/>
                        </a:lnSpc>
                      </a:pPr>
                      <a:r>
                        <a:rPr sz="700" b="0">
                          <a:solidFill>
                            <a:srgbClr val="121C2D"/>
                          </a:solidFill>
                          <a:latin typeface="Arial"/>
                        </a:rPr>
                        <a:t>(44 bầu cử)</a:t>
                      </a:r>
                    </a:p>
                  </a:txBody>
                  <a:tcPr anchor="ctr" marL="27432" marR="27432" marT="9144" marB="9144">
                    <a:solidFill>
                      <a:srgbClr val="FFFFFF"/>
                    </a:solidFill>
                  </a:tcPr>
                </a:tc>
                <a:tc>
                  <a:txBody>
                    <a:bodyPr wrap="square"/>
                    <a:lstStyle/>
                    <a:p>
                      <a:pPr algn="l">
                        <a:lnSpc>
                          <a:spcPct val="103000"/>
                        </a:lnSpc>
                      </a:pPr>
                      <a:r>
                        <a:rPr sz="700" b="1">
                          <a:solidFill>
                            <a:srgbClr val="1560D4"/>
                          </a:solidFill>
                          <a:latin typeface="Arial"/>
                        </a:rPr>
                        <a:t>Khối Tuấn CT: 19 (14 thẳng + 5 LD1) | Phản đối Thụy: 9 | Phản đối cả hai: 5 | Khối Thụy CT: 11 (8 thẳng + 3 LD2)</a:t>
                      </a:r>
                    </a:p>
                  </a:txBody>
                  <a:tcPr anchor="ctr" marL="27432" marR="27432" marT="9144" marB="9144">
                    <a:solidFill>
                      <a:srgbClr val="FFFFFF"/>
                    </a:solidFill>
                  </a:tcPr>
                </a:tc>
                <a:tc>
                  <a:txBody>
                    <a:bodyPr wrap="square"/>
                    <a:lstStyle/>
                    <a:p>
                      <a:pPr algn="l">
                        <a:lnSpc>
                          <a:spcPct val="103000"/>
                        </a:lnSpc>
                      </a:pPr>
                      <a:r>
                        <a:rPr sz="670" b="0">
                          <a:solidFill>
                            <a:srgbClr val="121C2D"/>
                          </a:solidFill>
                          <a:latin typeface="Arial"/>
                        </a:rPr>
                        <a:t>NGHIÊNG VỀ ỔN ĐỊNH (43,2% chọn TS. Tuấn): Khán giả đánh giá cao chuyến công tác AFC tại Nhật Bản của TS. Tuấn.</a:t>
                      </a:r>
                    </a:p>
                  </a:txBody>
                  <a:tcPr anchor="ctr" marL="36576" marR="36576" marT="9144" marB="9144">
                    <a:solidFill>
                      <a:srgbClr val="FFFFFF"/>
                    </a:solidFill>
                  </a:tcPr>
                </a:tc>
              </a:tr>
              <a:tr h="347472">
                <a:tc>
                  <a:txBody>
                    <a:bodyPr wrap="square"/>
                    <a:lstStyle/>
                    <a:p>
                      <a:pPr algn="l">
                        <a:lnSpc>
                          <a:spcPct val="103000"/>
                        </a:lnSpc>
                      </a:pPr>
                      <a:r>
                        <a:rPr sz="710" b="1">
                          <a:solidFill>
                            <a:srgbClr val="0B1528"/>
                          </a:solidFill>
                          <a:latin typeface="Arial"/>
                          <a:hlinkClick r:id="rId9"/>
                        </a:rPr>
                        <a:t>8. Bóng Đá STV, Đỉnh Cao BĐ &amp; Vị Thế Mới</a:t>
                      </a:r>
                    </a:p>
                    <a:p>
                      <a:pPr algn="l">
                        <a:lnSpc>
                          <a:spcPct val="103000"/>
                        </a:lnSpc>
                      </a:pPr>
                      <a:r>
                        <a:rPr sz="710" b="1">
                          <a:solidFill>
                            <a:srgbClr val="0B1528"/>
                          </a:solidFill>
                          <a:latin typeface="Arial"/>
                        </a:rPr>
                        <a:t>(Cụm Kênh YouTube Thể thao)</a:t>
                      </a:r>
                    </a:p>
                  </a:txBody>
                  <a:tcPr anchor="ctr" marL="27432" marR="27432" marT="9144" marB="9144">
                    <a:solidFill>
                      <a:srgbClr val="EBF3FF"/>
                    </a:solidFill>
                  </a:tcPr>
                </a:tc>
                <a:tc>
                  <a:txBody>
                    <a:bodyPr wrap="square"/>
                    <a:lstStyle/>
                    <a:p>
                      <a:pPr algn="ctr">
                        <a:lnSpc>
                          <a:spcPct val="103000"/>
                        </a:lnSpc>
                      </a:pPr>
                      <a:r>
                        <a:rPr sz="700" b="1">
                          <a:solidFill>
                            <a:srgbClr val="1560D4"/>
                          </a:solidFill>
                          <a:latin typeface="Arial"/>
                        </a:rPr>
                        <a:t>Ca ngợi U14/U17 VN &amp; đặt câu hỏi</a:t>
                      </a:r>
                    </a:p>
                    <a:p>
                      <a:pPr algn="ctr">
                        <a:lnSpc>
                          <a:spcPct val="103000"/>
                        </a:lnSpc>
                      </a:pPr>
                      <a:r>
                        <a:rPr sz="700" b="1">
                          <a:solidFill>
                            <a:srgbClr val="1560D4"/>
                          </a:solidFill>
                          <a:latin typeface="Arial"/>
                        </a:rPr>
                        <a:t>'Chủ tịch VFF đổi chủ?'</a:t>
                      </a:r>
                    </a:p>
                  </a:txBody>
                  <a:tcPr anchor="ctr" marL="27432" marR="27432" marT="9144" marB="9144">
                    <a:solidFill>
                      <a:srgbClr val="EBF3FF"/>
                    </a:solidFill>
                  </a:tcPr>
                </a:tc>
                <a:tc>
                  <a:txBody>
                    <a:bodyPr wrap="square"/>
                    <a:lstStyle/>
                    <a:p>
                      <a:pPr algn="ctr">
                        <a:lnSpc>
                          <a:spcPct val="103000"/>
                        </a:lnSpc>
                      </a:pPr>
                      <a:r>
                        <a:rPr sz="710" b="1">
                          <a:solidFill>
                            <a:srgbClr val="0B1528"/>
                          </a:solidFill>
                          <a:latin typeface="Arial"/>
                        </a:rPr>
                        <a:t>6 video YT</a:t>
                      </a:r>
                    </a:p>
                    <a:p>
                      <a:pPr algn="ctr">
                        <a:lnSpc>
                          <a:spcPct val="103000"/>
                        </a:lnSpc>
                      </a:pPr>
                      <a:r>
                        <a:rPr sz="710" b="1">
                          <a:solidFill>
                            <a:srgbClr val="0B1528"/>
                          </a:solidFill>
                          <a:latin typeface="Arial"/>
                        </a:rPr>
                        <a:t>(220K views)</a:t>
                      </a:r>
                    </a:p>
                  </a:txBody>
                  <a:tcPr anchor="ctr" marL="27432" marR="27432" marT="9144" marB="9144">
                    <a:solidFill>
                      <a:srgbClr val="EBF3FF"/>
                    </a:solidFill>
                  </a:tcPr>
                </a:tc>
                <a:tc>
                  <a:txBody>
                    <a:bodyPr wrap="square"/>
                    <a:lstStyle/>
                    <a:p>
                      <a:pPr algn="ctr">
                        <a:lnSpc>
                          <a:spcPct val="103000"/>
                        </a:lnSpc>
                      </a:pPr>
                      <a:r>
                        <a:rPr sz="700" b="0">
                          <a:solidFill>
                            <a:srgbClr val="121C2D"/>
                          </a:solidFill>
                          <a:latin typeface="Arial"/>
                        </a:rPr>
                        <a:t>74 bình luận</a:t>
                      </a:r>
                    </a:p>
                    <a:p>
                      <a:pPr algn="ctr">
                        <a:lnSpc>
                          <a:spcPct val="103000"/>
                        </a:lnSpc>
                      </a:pPr>
                      <a:r>
                        <a:rPr sz="700" b="0">
                          <a:solidFill>
                            <a:srgbClr val="121C2D"/>
                          </a:solidFill>
                          <a:latin typeface="Arial"/>
                        </a:rPr>
                        <a:t>(34 bầu cử)</a:t>
                      </a:r>
                    </a:p>
                  </a:txBody>
                  <a:tcPr anchor="ctr" marL="27432" marR="27432" marT="9144" marB="9144">
                    <a:solidFill>
                      <a:srgbClr val="EBF3FF"/>
                    </a:solidFill>
                  </a:tcPr>
                </a:tc>
                <a:tc>
                  <a:txBody>
                    <a:bodyPr wrap="square"/>
                    <a:lstStyle/>
                    <a:p>
                      <a:pPr algn="l">
                        <a:lnSpc>
                          <a:spcPct val="103000"/>
                        </a:lnSpc>
                      </a:pPr>
                      <a:r>
                        <a:rPr sz="700" b="1">
                          <a:solidFill>
                            <a:srgbClr val="1560D4"/>
                          </a:solidFill>
                          <a:latin typeface="Arial"/>
                        </a:rPr>
                        <a:t>Khối Tuấn CT: 16 (12 thẳng + 4 LD1) | Phản đối Thụy: 7 | Phản đối cả hai: 4 | Khối Thụy CT: 7 (5 thẳng + 2 LD2)</a:t>
                      </a:r>
                    </a:p>
                  </a:txBody>
                  <a:tcPr anchor="ctr" marL="27432" marR="27432" marT="9144" marB="9144">
                    <a:solidFill>
                      <a:srgbClr val="EBF3FF"/>
                    </a:solidFill>
                  </a:tcPr>
                </a:tc>
                <a:tc>
                  <a:txBody>
                    <a:bodyPr wrap="square"/>
                    <a:lstStyle/>
                    <a:p>
                      <a:pPr algn="l">
                        <a:lnSpc>
                          <a:spcPct val="103000"/>
                        </a:lnSpc>
                      </a:pPr>
                      <a:r>
                        <a:rPr sz="670" b="0">
                          <a:solidFill>
                            <a:srgbClr val="121C2D"/>
                          </a:solidFill>
                          <a:latin typeface="Arial"/>
                        </a:rPr>
                        <a:t>HIỆU ỨNG THÀNH TÍCH TRẺ: Thành tích U14/U17 thắng Hàn Quốc &amp; dự VCK châu Á củng cố uy tín TS. Trần Quốc Tuấn.</a:t>
                      </a:r>
                    </a:p>
                  </a:txBody>
                  <a:tcPr anchor="ctr" marL="36576" marR="36576" marT="9144" marB="9144">
                    <a:solidFill>
                      <a:srgbClr val="EBF3FF"/>
                    </a:solidFill>
                  </a:tcPr>
                </a:tc>
              </a:tr>
              <a:tr h="347472">
                <a:tc>
                  <a:txBody>
                    <a:bodyPr wrap="square"/>
                    <a:lstStyle/>
                    <a:p>
                      <a:pPr algn="l">
                        <a:lnSpc>
                          <a:spcPct val="103000"/>
                        </a:lnSpc>
                      </a:pPr>
                      <a:r>
                        <a:rPr sz="710" b="1">
                          <a:solidFill>
                            <a:srgbClr val="0B1528"/>
                          </a:solidFill>
                          <a:latin typeface="Arial"/>
                          <a:hlinkClick r:id="rId10"/>
                        </a:rPr>
                        <a:t>9. ★ Mr Quan Ngại ★ (@mrquanngai)</a:t>
                      </a:r>
                    </a:p>
                    <a:p>
                      <a:pPr algn="l">
                        <a:lnSpc>
                          <a:spcPct val="103000"/>
                        </a:lnSpc>
                      </a:pPr>
                      <a:r>
                        <a:rPr sz="710" b="1">
                          <a:solidFill>
                            <a:srgbClr val="0B1528"/>
                          </a:solidFill>
                          <a:latin typeface="Arial"/>
                        </a:rPr>
                        <a:t>(Kênh TikTok Thảo luận #1)</a:t>
                      </a:r>
                    </a:p>
                  </a:txBody>
                  <a:tcPr anchor="ctr" marL="27432" marR="27432" marT="9144" marB="9144">
                    <a:solidFill>
                      <a:srgbClr val="FFFFFF"/>
                    </a:solidFill>
                  </a:tcPr>
                </a:tc>
                <a:tc>
                  <a:txBody>
                    <a:bodyPr wrap="square"/>
                    <a:lstStyle/>
                    <a:p>
                      <a:pPr algn="ctr">
                        <a:lnSpc>
                          <a:spcPct val="103000"/>
                        </a:lnSpc>
                      </a:pPr>
                      <a:r>
                        <a:rPr sz="700" b="1">
                          <a:solidFill>
                            <a:srgbClr val="0E94A5"/>
                          </a:solidFill>
                          <a:latin typeface="Arial"/>
                        </a:rPr>
                        <a:t>Mở bình chọn trực diện:</a:t>
                      </a:r>
                    </a:p>
                    <a:p>
                      <a:pPr algn="ctr">
                        <a:lnSpc>
                          <a:spcPct val="103000"/>
                        </a:lnSpc>
                      </a:pPr>
                      <a:r>
                        <a:rPr sz="700" b="1">
                          <a:solidFill>
                            <a:srgbClr val="0E94A5"/>
                          </a:solidFill>
                          <a:latin typeface="Arial"/>
                        </a:rPr>
                        <a:t>'Ai sẽ là Chủ tịch VFF khóa X?'</a:t>
                      </a:r>
                    </a:p>
                  </a:txBody>
                  <a:tcPr anchor="ctr" marL="27432" marR="27432" marT="9144" marB="9144">
                    <a:solidFill>
                      <a:srgbClr val="E8F8FA"/>
                    </a:solidFill>
                  </a:tcPr>
                </a:tc>
                <a:tc>
                  <a:txBody>
                    <a:bodyPr wrap="square"/>
                    <a:lstStyle/>
                    <a:p>
                      <a:pPr algn="ctr">
                        <a:lnSpc>
                          <a:spcPct val="103000"/>
                        </a:lnSpc>
                      </a:pPr>
                      <a:r>
                        <a:rPr sz="710" b="1">
                          <a:solidFill>
                            <a:srgbClr val="0B1528"/>
                          </a:solidFill>
                          <a:latin typeface="Arial"/>
                        </a:rPr>
                        <a:t>2 video TT</a:t>
                      </a:r>
                    </a:p>
                    <a:p>
                      <a:pPr algn="ctr">
                        <a:lnSpc>
                          <a:spcPct val="103000"/>
                        </a:lnSpc>
                      </a:pPr>
                      <a:r>
                        <a:rPr sz="710" b="1">
                          <a:solidFill>
                            <a:srgbClr val="0B1528"/>
                          </a:solidFill>
                          <a:latin typeface="Arial"/>
                        </a:rPr>
                        <a:t>(48,9K views)</a:t>
                      </a:r>
                    </a:p>
                  </a:txBody>
                  <a:tcPr anchor="ctr" marL="27432" marR="27432" marT="9144" marB="9144">
                    <a:solidFill>
                      <a:srgbClr val="FFFFFF"/>
                    </a:solidFill>
                  </a:tcPr>
                </a:tc>
                <a:tc>
                  <a:txBody>
                    <a:bodyPr wrap="square"/>
                    <a:lstStyle/>
                    <a:p>
                      <a:pPr algn="ctr">
                        <a:lnSpc>
                          <a:spcPct val="103000"/>
                        </a:lnSpc>
                      </a:pPr>
                      <a:r>
                        <a:rPr sz="700" b="0">
                          <a:solidFill>
                            <a:srgbClr val="121C2D"/>
                          </a:solidFill>
                          <a:latin typeface="Arial"/>
                        </a:rPr>
                        <a:t>51 bình luận</a:t>
                      </a:r>
                    </a:p>
                    <a:p>
                      <a:pPr algn="ctr">
                        <a:lnSpc>
                          <a:spcPct val="103000"/>
                        </a:lnSpc>
                      </a:pPr>
                      <a:r>
                        <a:rPr sz="700" b="0">
                          <a:solidFill>
                            <a:srgbClr val="121C2D"/>
                          </a:solidFill>
                          <a:latin typeface="Arial"/>
                        </a:rPr>
                        <a:t>(38 bầu cử)</a:t>
                      </a:r>
                    </a:p>
                  </a:txBody>
                  <a:tcPr anchor="ctr" marL="27432" marR="27432" marT="9144" marB="9144">
                    <a:solidFill>
                      <a:srgbClr val="FFFFFF"/>
                    </a:solidFill>
                  </a:tcPr>
                </a:tc>
                <a:tc>
                  <a:txBody>
                    <a:bodyPr wrap="square"/>
                    <a:lstStyle/>
                    <a:p>
                      <a:pPr algn="l">
                        <a:lnSpc>
                          <a:spcPct val="103000"/>
                        </a:lnSpc>
                      </a:pPr>
                      <a:r>
                        <a:rPr sz="700" b="1">
                          <a:solidFill>
                            <a:srgbClr val="1560D4"/>
                          </a:solidFill>
                          <a:latin typeface="Arial"/>
                        </a:rPr>
                        <a:t>Khối Tuấn CT: 6 (5 thẳng + 1 LD1) | Trung lập/Quy trình: 12 | Bầu Đức: 5 | Phản đối Thụy: 3 | Khối Thụy CT: 11</a:t>
                      </a:r>
                    </a:p>
                  </a:txBody>
                  <a:tcPr anchor="ctr" marL="27432" marR="27432" marT="9144" marB="9144">
                    <a:solidFill>
                      <a:srgbClr val="FFFFFF"/>
                    </a:solidFill>
                  </a:tcPr>
                </a:tc>
                <a:tc>
                  <a:txBody>
                    <a:bodyPr wrap="square"/>
                    <a:lstStyle/>
                    <a:p>
                      <a:pPr algn="l">
                        <a:lnSpc>
                          <a:spcPct val="103000"/>
                        </a:lnSpc>
                      </a:pPr>
                      <a:r>
                        <a:rPr sz="670" b="0">
                          <a:solidFill>
                            <a:srgbClr val="121C2D"/>
                          </a:solidFill>
                          <a:latin typeface="Arial"/>
                        </a:rPr>
                        <a:t>ĐẶC TRƯNG KHÁN GIẢ TIKTOK: Ưa thích sự mới lạ của tỷ phú (11 phiếu Thụy vs 6 phiếu Tuấn), 12 bình luận hỏi quy trình.</a:t>
                      </a:r>
                    </a:p>
                  </a:txBody>
                  <a:tcPr anchor="ctr" marL="36576" marR="36576" marT="9144" marB="9144">
                    <a:solidFill>
                      <a:srgbClr val="FFFFFF"/>
                    </a:solidFill>
                  </a:tcPr>
                </a:tc>
              </a:tr>
              <a:tr h="347472">
                <a:tc>
                  <a:txBody>
                    <a:bodyPr wrap="square"/>
                    <a:lstStyle/>
                    <a:p>
                      <a:pPr algn="l">
                        <a:lnSpc>
                          <a:spcPct val="103000"/>
                        </a:lnSpc>
                      </a:pPr>
                      <a:r>
                        <a:rPr sz="710" b="1">
                          <a:solidFill>
                            <a:srgbClr val="0B1528"/>
                          </a:solidFill>
                          <a:latin typeface="Arial"/>
                          <a:hlinkClick r:id="rId11"/>
                        </a:rPr>
                        <a:t>10. VFF Official (@vff.official)</a:t>
                      </a:r>
                    </a:p>
                    <a:p>
                      <a:pPr algn="l">
                        <a:lnSpc>
                          <a:spcPct val="103000"/>
                        </a:lnSpc>
                      </a:pPr>
                      <a:r>
                        <a:rPr sz="710" b="1">
                          <a:solidFill>
                            <a:srgbClr val="0B1528"/>
                          </a:solidFill>
                          <a:latin typeface="Arial"/>
                        </a:rPr>
                        <a:t>(Kênh TikTok Chính thức VFF)</a:t>
                      </a:r>
                    </a:p>
                  </a:txBody>
                  <a:tcPr anchor="ctr" marL="27432" marR="27432" marT="9144" marB="9144">
                    <a:solidFill>
                      <a:srgbClr val="EBF3FF"/>
                    </a:solidFill>
                  </a:tcPr>
                </a:tc>
                <a:tc>
                  <a:txBody>
                    <a:bodyPr wrap="square"/>
                    <a:lstStyle/>
                    <a:p>
                      <a:pPr algn="ctr">
                        <a:lnSpc>
                          <a:spcPct val="103000"/>
                        </a:lnSpc>
                      </a:pPr>
                      <a:r>
                        <a:rPr sz="700" b="1">
                          <a:solidFill>
                            <a:srgbClr val="1560D4"/>
                          </a:solidFill>
                          <a:latin typeface="Arial"/>
                        </a:rPr>
                        <a:t>Lan tỏa hình ảnh Chủ tịch VFF</a:t>
                      </a:r>
                    </a:p>
                    <a:p>
                      <a:pPr algn="ctr">
                        <a:lnSpc>
                          <a:spcPct val="103000"/>
                        </a:lnSpc>
                      </a:pPr>
                      <a:r>
                        <a:rPr sz="700" b="1">
                          <a:solidFill>
                            <a:srgbClr val="1560D4"/>
                          </a:solidFill>
                          <a:latin typeface="Arial"/>
                        </a:rPr>
                        <a:t>Trần Quốc Tuấn tiếp lửa U15/U17</a:t>
                      </a:r>
                    </a:p>
                  </a:txBody>
                  <a:tcPr anchor="ctr" marL="27432" marR="27432" marT="9144" marB="9144">
                    <a:solidFill>
                      <a:srgbClr val="EBF3FF"/>
                    </a:solidFill>
                  </a:tcPr>
                </a:tc>
                <a:tc>
                  <a:txBody>
                    <a:bodyPr wrap="square"/>
                    <a:lstStyle/>
                    <a:p>
                      <a:pPr algn="ctr">
                        <a:lnSpc>
                          <a:spcPct val="103000"/>
                        </a:lnSpc>
                      </a:pPr>
                      <a:r>
                        <a:rPr sz="710" b="1">
                          <a:solidFill>
                            <a:srgbClr val="0B1528"/>
                          </a:solidFill>
                          <a:latin typeface="Arial"/>
                        </a:rPr>
                        <a:t>15 video TT</a:t>
                      </a:r>
                    </a:p>
                    <a:p>
                      <a:pPr algn="ctr">
                        <a:lnSpc>
                          <a:spcPct val="103000"/>
                        </a:lnSpc>
                      </a:pPr>
                      <a:r>
                        <a:rPr sz="710" b="1">
                          <a:solidFill>
                            <a:srgbClr val="0B1528"/>
                          </a:solidFill>
                          <a:latin typeface="Arial"/>
                        </a:rPr>
                        <a:t>(36,2K tương tác)</a:t>
                      </a:r>
                    </a:p>
                  </a:txBody>
                  <a:tcPr anchor="ctr" marL="27432" marR="27432" marT="9144" marB="9144">
                    <a:solidFill>
                      <a:srgbClr val="EBF3FF"/>
                    </a:solidFill>
                  </a:tcPr>
                </a:tc>
                <a:tc>
                  <a:txBody>
                    <a:bodyPr wrap="square"/>
                    <a:lstStyle/>
                    <a:p>
                      <a:pPr algn="ctr">
                        <a:lnSpc>
                          <a:spcPct val="103000"/>
                        </a:lnSpc>
                      </a:pPr>
                      <a:r>
                        <a:rPr sz="700" b="0">
                          <a:solidFill>
                            <a:srgbClr val="121C2D"/>
                          </a:solidFill>
                          <a:latin typeface="Arial"/>
                        </a:rPr>
                        <a:t>57 bình luận</a:t>
                      </a:r>
                    </a:p>
                    <a:p>
                      <a:pPr algn="ctr">
                        <a:lnSpc>
                          <a:spcPct val="103000"/>
                        </a:lnSpc>
                      </a:pPr>
                      <a:r>
                        <a:rPr sz="700" b="0">
                          <a:solidFill>
                            <a:srgbClr val="121C2D"/>
                          </a:solidFill>
                          <a:latin typeface="Arial"/>
                        </a:rPr>
                        <a:t>(Chuyên môn)</a:t>
                      </a:r>
                    </a:p>
                  </a:txBody>
                  <a:tcPr anchor="ctr" marL="27432" marR="27432" marT="9144" marB="9144">
                    <a:solidFill>
                      <a:srgbClr val="EBF3FF"/>
                    </a:solidFill>
                  </a:tcPr>
                </a:tc>
                <a:tc>
                  <a:txBody>
                    <a:bodyPr wrap="square"/>
                    <a:lstStyle/>
                    <a:p>
                      <a:pPr algn="l">
                        <a:lnSpc>
                          <a:spcPct val="103000"/>
                        </a:lnSpc>
                      </a:pPr>
                      <a:r>
                        <a:rPr sz="700" b="1">
                          <a:solidFill>
                            <a:srgbClr val="121C2D"/>
                          </a:solidFill>
                          <a:latin typeface="Arial"/>
                        </a:rPr>
                        <a:t>Tích cực ủng hộ ĐTQG &amp; Chủ tịch VFF: 48 bình luận | Trung lập: 9 bình luận | Phản đối: 0 bình luận</a:t>
                      </a:r>
                    </a:p>
                  </a:txBody>
                  <a:tcPr anchor="ctr" marL="27432" marR="27432" marT="9144" marB="9144">
                    <a:solidFill>
                      <a:srgbClr val="EBF3FF"/>
                    </a:solidFill>
                  </a:tcPr>
                </a:tc>
                <a:tc>
                  <a:txBody>
                    <a:bodyPr wrap="square"/>
                    <a:lstStyle/>
                    <a:p>
                      <a:pPr algn="l">
                        <a:lnSpc>
                          <a:spcPct val="103000"/>
                        </a:lnSpc>
                      </a:pPr>
                      <a:r>
                        <a:rPr sz="670" b="0">
                          <a:solidFill>
                            <a:srgbClr val="121C2D"/>
                          </a:solidFill>
                          <a:latin typeface="Arial"/>
                        </a:rPr>
                        <a:t>ĐỘ PHỦ TƯƠNG TÁC SỐ 1 TIKTOK (36.200 tương tác): Xây dựng hình ảnh lãnh đạo sát sao với đào tạo trẻ.</a:t>
                      </a:r>
                    </a:p>
                  </a:txBody>
                  <a:tcPr anchor="ctr" marL="36576" marR="36576" marT="9144" marB="9144">
                    <a:solidFill>
                      <a:srgbClr val="EBF3FF"/>
                    </a:solidFill>
                  </a:tcPr>
                </a:tc>
              </a:tr>
              <a:tr h="347472">
                <a:tc>
                  <a:txBody>
                    <a:bodyPr wrap="square"/>
                    <a:lstStyle/>
                    <a:p>
                      <a:pPr algn="l">
                        <a:lnSpc>
                          <a:spcPct val="103000"/>
                        </a:lnSpc>
                      </a:pPr>
                      <a:r>
                        <a:rPr sz="710" b="1">
                          <a:solidFill>
                            <a:srgbClr val="0B1528"/>
                          </a:solidFill>
                          <a:latin typeface="Arial"/>
                          <a:hlinkClick r:id="rId12"/>
                        </a:rPr>
                        <a:t>11. CafeF TikTok &amp; DFF.VN</a:t>
                      </a:r>
                    </a:p>
                    <a:p>
                      <a:pPr algn="l">
                        <a:lnSpc>
                          <a:spcPct val="103000"/>
                        </a:lnSpc>
                      </a:pPr>
                      <a:r>
                        <a:rPr sz="710" b="1">
                          <a:solidFill>
                            <a:srgbClr val="0B1528"/>
                          </a:solidFill>
                          <a:latin typeface="Arial"/>
                        </a:rPr>
                        <a:t>(Kênh TikTok Tài chính - Kinh tế)</a:t>
                      </a:r>
                    </a:p>
                  </a:txBody>
                  <a:tcPr anchor="ctr" marL="27432" marR="27432" marT="9144" marB="9144">
                    <a:solidFill>
                      <a:srgbClr val="FEEEEE"/>
                    </a:solidFill>
                  </a:tcPr>
                </a:tc>
                <a:tc>
                  <a:txBody>
                    <a:bodyPr wrap="square"/>
                    <a:lstStyle/>
                    <a:p>
                      <a:pPr algn="ctr">
                        <a:lnSpc>
                          <a:spcPct val="103000"/>
                        </a:lnSpc>
                      </a:pPr>
                      <a:r>
                        <a:rPr sz="700" b="1">
                          <a:solidFill>
                            <a:srgbClr val="D62728"/>
                          </a:solidFill>
                          <a:latin typeface="Arial"/>
                        </a:rPr>
                        <a:t>Đẩy sóng doanh nhân ngân hàng:</a:t>
                      </a:r>
                    </a:p>
                    <a:p>
                      <a:pPr algn="ctr">
                        <a:lnSpc>
                          <a:spcPct val="103000"/>
                        </a:lnSpc>
                      </a:pPr>
                      <a:r>
                        <a:rPr sz="700" b="1">
                          <a:solidFill>
                            <a:srgbClr val="D62728"/>
                          </a:solidFill>
                          <a:latin typeface="Arial"/>
                        </a:rPr>
                        <a:t>Bầu Thụy (LPBank) &amp; Xuân Vũ (STB)</a:t>
                      </a:r>
                    </a:p>
                  </a:txBody>
                  <a:tcPr anchor="ctr" marL="27432" marR="27432" marT="9144" marB="9144">
                    <a:solidFill>
                      <a:srgbClr val="FEEEEE"/>
                    </a:solidFill>
                  </a:tcPr>
                </a:tc>
                <a:tc>
                  <a:txBody>
                    <a:bodyPr wrap="square"/>
                    <a:lstStyle/>
                    <a:p>
                      <a:pPr algn="ctr">
                        <a:lnSpc>
                          <a:spcPct val="103000"/>
                        </a:lnSpc>
                      </a:pPr>
                      <a:r>
                        <a:rPr sz="710" b="1">
                          <a:solidFill>
                            <a:srgbClr val="0B1528"/>
                          </a:solidFill>
                          <a:latin typeface="Arial"/>
                        </a:rPr>
                        <a:t>2 video TT</a:t>
                      </a:r>
                    </a:p>
                    <a:p>
                      <a:pPr algn="ctr">
                        <a:lnSpc>
                          <a:spcPct val="103000"/>
                        </a:lnSpc>
                      </a:pPr>
                      <a:r>
                        <a:rPr sz="710" b="1">
                          <a:solidFill>
                            <a:srgbClr val="0B1528"/>
                          </a:solidFill>
                          <a:latin typeface="Arial"/>
                        </a:rPr>
                        <a:t>(165K views)</a:t>
                      </a:r>
                    </a:p>
                  </a:txBody>
                  <a:tcPr anchor="ctr" marL="27432" marR="27432" marT="9144" marB="9144">
                    <a:solidFill>
                      <a:srgbClr val="FEEEEE"/>
                    </a:solidFill>
                  </a:tcPr>
                </a:tc>
                <a:tc>
                  <a:txBody>
                    <a:bodyPr wrap="square"/>
                    <a:lstStyle/>
                    <a:p>
                      <a:pPr algn="ctr">
                        <a:lnSpc>
                          <a:spcPct val="103000"/>
                        </a:lnSpc>
                      </a:pPr>
                      <a:r>
                        <a:rPr sz="700" b="0">
                          <a:solidFill>
                            <a:srgbClr val="121C2D"/>
                          </a:solidFill>
                          <a:latin typeface="Arial"/>
                        </a:rPr>
                        <a:t>38 bình luận</a:t>
                      </a:r>
                    </a:p>
                    <a:p>
                      <a:pPr algn="ctr">
                        <a:lnSpc>
                          <a:spcPct val="103000"/>
                        </a:lnSpc>
                      </a:pPr>
                      <a:r>
                        <a:rPr sz="700" b="0">
                          <a:solidFill>
                            <a:srgbClr val="121C2D"/>
                          </a:solidFill>
                          <a:latin typeface="Arial"/>
                        </a:rPr>
                        <a:t>(28 bầu cử)</a:t>
                      </a:r>
                    </a:p>
                  </a:txBody>
                  <a:tcPr anchor="ctr" marL="27432" marR="27432" marT="9144" marB="9144">
                    <a:solidFill>
                      <a:srgbClr val="FEEEEE"/>
                    </a:solidFill>
                  </a:tcPr>
                </a:tc>
                <a:tc>
                  <a:txBody>
                    <a:bodyPr wrap="square"/>
                    <a:lstStyle/>
                    <a:p>
                      <a:pPr algn="l">
                        <a:lnSpc>
                          <a:spcPct val="103000"/>
                        </a:lnSpc>
                      </a:pPr>
                      <a:r>
                        <a:rPr sz="700" b="1">
                          <a:solidFill>
                            <a:srgbClr val="1560D4"/>
                          </a:solidFill>
                          <a:latin typeface="Arial"/>
                        </a:rPr>
                        <a:t>Khối Tuấn CT: 2 | Phản đối Thụy (lo ngại rủi ro): 6 | Ủng hộ Xuân Vũ: 4 | Khối Thụy CT: 13</a:t>
                      </a:r>
                    </a:p>
                  </a:txBody>
                  <a:tcPr anchor="ctr" marL="27432" marR="27432" marT="9144" marB="9144">
                    <a:solidFill>
                      <a:srgbClr val="FEEEEE"/>
                    </a:solidFill>
                  </a:tcPr>
                </a:tc>
                <a:tc>
                  <a:txBody>
                    <a:bodyPr wrap="square"/>
                    <a:lstStyle/>
                    <a:p>
                      <a:pPr algn="l">
                        <a:lnSpc>
                          <a:spcPct val="103000"/>
                        </a:lnSpc>
                      </a:pPr>
                      <a:r>
                        <a:rPr sz="670" b="0">
                          <a:solidFill>
                            <a:srgbClr val="121C2D"/>
                          </a:solidFill>
                          <a:latin typeface="Arial"/>
                        </a:rPr>
                        <a:t>PHÂN HÓA TRÊN TIKTOK TÀI CHÍNH: 13 bình luận ủng hộ Bầu Thụy nhưng xuất hiện 6 bình luận gay gắt cảnh báo rủi ro ông bầu.</a:t>
                      </a:r>
                    </a:p>
                  </a:txBody>
                  <a:tcPr anchor="ctr" marL="36576" marR="36576" marT="9144" marB="9144">
                    <a:solidFill>
                      <a:srgbClr val="FEEEEE"/>
                    </a:solidFill>
                  </a:tcPr>
                </a:tc>
              </a:tr>
              <a:tr h="347472">
                <a:tc>
                  <a:txBody>
                    <a:bodyPr wrap="square"/>
                    <a:lstStyle/>
                    <a:p>
                      <a:pPr algn="l">
                        <a:lnSpc>
                          <a:spcPct val="103000"/>
                        </a:lnSpc>
                      </a:pPr>
                      <a:r>
                        <a:rPr sz="710" b="1">
                          <a:solidFill>
                            <a:srgbClr val="0B1528"/>
                          </a:solidFill>
                          <a:latin typeface="Arial"/>
                          <a:hlinkClick r:id="rId13"/>
                        </a:rPr>
                        <a:t>12. TVH Sports, F247, Business Insight</a:t>
                      </a:r>
                    </a:p>
                    <a:p>
                      <a:pPr algn="l">
                        <a:lnSpc>
                          <a:spcPct val="103000"/>
                        </a:lnSpc>
                      </a:pPr>
                      <a:r>
                        <a:rPr sz="710" b="1">
                          <a:solidFill>
                            <a:srgbClr val="0B1528"/>
                          </a:solidFill>
                          <a:latin typeface="Arial"/>
                        </a:rPr>
                        <a:t>&amp; Cao Duy Phong (TikTok 20–22/10)</a:t>
                      </a:r>
                    </a:p>
                  </a:txBody>
                  <a:tcPr anchor="ctr" marL="27432" marR="27432" marT="9144" marB="9144">
                    <a:solidFill>
                      <a:srgbClr val="FFFFFF"/>
                    </a:solidFill>
                  </a:tcPr>
                </a:tc>
                <a:tc>
                  <a:txBody>
                    <a:bodyPr wrap="square"/>
                    <a:lstStyle/>
                    <a:p>
                      <a:pPr algn="ctr">
                        <a:lnSpc>
                          <a:spcPct val="103000"/>
                        </a:lnSpc>
                      </a:pPr>
                      <a:r>
                        <a:rPr sz="700" b="1">
                          <a:solidFill>
                            <a:srgbClr val="D62728"/>
                          </a:solidFill>
                          <a:latin typeface="Arial"/>
                        </a:rPr>
                        <a:t>Đẩy đồng loạt cam kết '600–1.000 tỷ</a:t>
                      </a:r>
                    </a:p>
                    <a:p>
                      <a:pPr algn="ctr">
                        <a:lnSpc>
                          <a:spcPct val="103000"/>
                        </a:lnSpc>
                      </a:pPr>
                      <a:r>
                        <a:rPr sz="700" b="1">
                          <a:solidFill>
                            <a:srgbClr val="D62728"/>
                          </a:solidFill>
                          <a:latin typeface="Arial"/>
                        </a:rPr>
                        <a:t>&amp; không dùng ngân sách' (21-22/10)</a:t>
                      </a:r>
                    </a:p>
                  </a:txBody>
                  <a:tcPr anchor="ctr" marL="27432" marR="27432" marT="9144" marB="9144">
                    <a:solidFill>
                      <a:srgbClr val="FEEEEE"/>
                    </a:solidFill>
                  </a:tcPr>
                </a:tc>
                <a:tc>
                  <a:txBody>
                    <a:bodyPr wrap="square"/>
                    <a:lstStyle/>
                    <a:p>
                      <a:pPr algn="ctr">
                        <a:lnSpc>
                          <a:spcPct val="103000"/>
                        </a:lnSpc>
                      </a:pPr>
                      <a:r>
                        <a:rPr sz="710" b="1">
                          <a:solidFill>
                            <a:srgbClr val="0B1528"/>
                          </a:solidFill>
                          <a:latin typeface="Arial"/>
                        </a:rPr>
                        <a:t>14 video TT</a:t>
                      </a:r>
                    </a:p>
                    <a:p>
                      <a:pPr algn="ctr">
                        <a:lnSpc>
                          <a:spcPct val="103000"/>
                        </a:lnSpc>
                      </a:pPr>
                      <a:r>
                        <a:rPr sz="710" b="1">
                          <a:solidFill>
                            <a:srgbClr val="0B1528"/>
                          </a:solidFill>
                          <a:latin typeface="Arial"/>
                        </a:rPr>
                        <a:t>(8,8K tương tác)</a:t>
                      </a:r>
                    </a:p>
                  </a:txBody>
                  <a:tcPr anchor="ctr" marL="27432" marR="27432" marT="9144" marB="9144">
                    <a:solidFill>
                      <a:srgbClr val="FFFFFF"/>
                    </a:solidFill>
                  </a:tcPr>
                </a:tc>
                <a:tc>
                  <a:txBody>
                    <a:bodyPr wrap="square"/>
                    <a:lstStyle/>
                    <a:p>
                      <a:pPr algn="ctr">
                        <a:lnSpc>
                          <a:spcPct val="103000"/>
                        </a:lnSpc>
                      </a:pPr>
                      <a:r>
                        <a:rPr sz="700" b="0">
                          <a:solidFill>
                            <a:srgbClr val="121C2D"/>
                          </a:solidFill>
                          <a:latin typeface="Arial"/>
                        </a:rPr>
                        <a:t>18 bình luận</a:t>
                      </a:r>
                    </a:p>
                    <a:p>
                      <a:pPr algn="ctr">
                        <a:lnSpc>
                          <a:spcPct val="103000"/>
                        </a:lnSpc>
                      </a:pPr>
                      <a:r>
                        <a:rPr sz="700" b="0">
                          <a:solidFill>
                            <a:srgbClr val="121C2D"/>
                          </a:solidFill>
                          <a:latin typeface="Arial"/>
                        </a:rPr>
                        <a:t>(12 bầu cử)</a:t>
                      </a:r>
                    </a:p>
                  </a:txBody>
                  <a:tcPr anchor="ctr" marL="27432" marR="27432" marT="9144" marB="9144">
                    <a:solidFill>
                      <a:srgbClr val="FFFFFF"/>
                    </a:solidFill>
                  </a:tcPr>
                </a:tc>
                <a:tc>
                  <a:txBody>
                    <a:bodyPr wrap="square"/>
                    <a:lstStyle/>
                    <a:p>
                      <a:pPr algn="l">
                        <a:lnSpc>
                          <a:spcPct val="103000"/>
                        </a:lnSpc>
                      </a:pPr>
                      <a:r>
                        <a:rPr sz="700" b="1">
                          <a:solidFill>
                            <a:srgbClr val="1560D4"/>
                          </a:solidFill>
                          <a:latin typeface="Arial"/>
                        </a:rPr>
                        <a:t>Khối Tuấn CT: 3 | Phản đối Thụy (hoài nghi cam kết): 3 | Khối Thụy CT: 6</a:t>
                      </a:r>
                    </a:p>
                  </a:txBody>
                  <a:tcPr anchor="ctr" marL="27432" marR="27432" marT="9144" marB="9144">
                    <a:solidFill>
                      <a:srgbClr val="FFFFFF"/>
                    </a:solidFill>
                  </a:tcPr>
                </a:tc>
                <a:tc>
                  <a:txBody>
                    <a:bodyPr wrap="square"/>
                    <a:lstStyle/>
                    <a:p>
                      <a:pPr algn="l">
                        <a:lnSpc>
                          <a:spcPct val="103000"/>
                        </a:lnSpc>
                      </a:pPr>
                      <a:r>
                        <a:rPr sz="670" b="0">
                          <a:solidFill>
                            <a:srgbClr val="121C2D"/>
                          </a:solidFill>
                          <a:latin typeface="Arial"/>
                        </a:rPr>
                        <a:t>ĐỢT SÓNG MỚI NGÀY 21–22/10: Phủ sóng nhanh thông điệp tự chủ tài chính của Bầu Thụy trên nền tảng video ngắn.</a:t>
                      </a:r>
                    </a:p>
                  </a:txBody>
                  <a:tcPr anchor="ctr" marL="36576" marR="36576" marT="9144" marB="9144">
                    <a:solidFill>
                      <a:srgbClr val="FFFFFF"/>
                    </a:solidFill>
                  </a:tcPr>
                </a:tc>
              </a:tr>
            </a:tbl>
          </a:graphicData>
        </a:graphic>
      </p:graphicFrame>
      <p:sp>
        <p:nvSpPr>
          <p:cNvPr id="10" name="Rectangle 9"/>
          <p:cNvSpPr/>
          <p:nvPr/>
        </p:nvSpPr>
        <p:spPr>
          <a:xfrm>
            <a:off x="182880" y="6382512"/>
            <a:ext cx="11823192" cy="347472"/>
          </a:xfrm>
          <a:prstGeom prst="rect">
            <a:avLst/>
          </a:prstGeom>
          <a:solidFill>
            <a:srgbClr val="0B15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92608" y="6409944"/>
            <a:ext cx="11612880" cy="292608"/>
          </a:xfrm>
          <a:prstGeom prst="rect">
            <a:avLst/>
          </a:prstGeom>
          <a:noFill/>
        </p:spPr>
        <p:txBody>
          <a:bodyPr wrap="square" anchor="ctr" lIns="45720" rIns="45720" tIns="27432" bIns="27432">
            <a:spAutoFit/>
          </a:bodyPr>
          <a:lstStyle/>
          <a:p>
            <a:pPr algn="l">
              <a:lnSpc>
                <a:spcPct val="112000"/>
              </a:lnSpc>
            </a:pPr>
            <a:r>
              <a:rPr sz="800" b="1">
                <a:solidFill>
                  <a:srgbClr val="F5B400"/>
                </a:solidFill>
                <a:latin typeface="Arial"/>
              </a:rPr>
              <a:t>TỔNG KẾT YOUTUBE &amp; TIKTOK: Trên YouTube (398 phiếu bầu cử), Khối Bầu Thụy (120) và Khối TS. Tuấn (89) giằng co sát nút nhưng Bầu Thụy bị tới 113 bình luận phản đối; trên TikTok (44 phiếu), khán giả trẻ nghiêng về Bầu Thụy (24 vs 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6FA"/>
        </a:solidFill>
        <a:effectLst/>
      </p:bgPr>
    </p:bg>
    <p:spTree>
      <p:nvGrpSpPr>
        <p:cNvPr id="1" name=""/>
        <p:cNvGrpSpPr/>
        <p:nvPr/>
      </p:nvGrpSpPr>
      <p:grpSpPr/>
      <p:sp>
        <p:nvSpPr>
          <p:cNvPr id="2" name="Rectangle 1"/>
          <p:cNvSpPr/>
          <p:nvPr/>
        </p:nvSpPr>
        <p:spPr>
          <a:xfrm>
            <a:off x="0" y="0"/>
            <a:ext cx="4059936" cy="54864"/>
          </a:xfrm>
          <a:prstGeom prst="rect">
            <a:avLst/>
          </a:prstGeom>
          <a:solidFill>
            <a:srgbClr val="1560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059936" y="0"/>
            <a:ext cx="4069080" cy="54864"/>
          </a:xfrm>
          <a:prstGeom prst="rect">
            <a:avLst/>
          </a:prstGeom>
          <a:solidFill>
            <a:srgbClr val="F5B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129016" y="0"/>
            <a:ext cx="4059936" cy="54864"/>
          </a:xfrm>
          <a:prstGeom prst="rect">
            <a:avLst/>
          </a:prstGeom>
          <a:solidFill>
            <a:srgbClr val="D627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54864"/>
            <a:ext cx="12191695" cy="786384"/>
          </a:xfrm>
          <a:prstGeom prst="rect">
            <a:avLst/>
          </a:prstGeom>
          <a:solidFill>
            <a:srgbClr val="0B15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01168" y="128016"/>
            <a:ext cx="2029968" cy="274320"/>
          </a:xfrm>
          <a:prstGeom prst="rect">
            <a:avLst/>
          </a:prstGeom>
          <a:solidFill>
            <a:srgbClr val="1560D4"/>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860" b="1">
                <a:solidFill>
                  <a:srgbClr val="F5B400"/>
                </a:solidFill>
                <a:latin typeface="Arial"/>
              </a:rPr>
              <a:t>US ELECTION WAR-ROOM • SLIDE 5C</a:t>
            </a:r>
          </a:p>
        </p:txBody>
      </p:sp>
      <p:sp>
        <p:nvSpPr>
          <p:cNvPr id="7" name="TextBox 6"/>
          <p:cNvSpPr txBox="1"/>
          <p:nvPr/>
        </p:nvSpPr>
        <p:spPr>
          <a:xfrm>
            <a:off x="2286000" y="109728"/>
            <a:ext cx="9738360" cy="310896"/>
          </a:xfrm>
          <a:prstGeom prst="rect">
            <a:avLst/>
          </a:prstGeom>
          <a:noFill/>
        </p:spPr>
        <p:txBody>
          <a:bodyPr wrap="square" anchor="ctr" lIns="45720" rIns="45720" tIns="27432" bIns="27432">
            <a:spAutoFit/>
          </a:bodyPr>
          <a:lstStyle/>
          <a:p>
            <a:pPr algn="l">
              <a:lnSpc>
                <a:spcPct val="112000"/>
              </a:lnSpc>
            </a:pPr>
            <a:r>
              <a:rPr sz="1300" b="1">
                <a:solidFill>
                  <a:srgbClr val="FFFFFF"/>
                </a:solidFill>
                <a:latin typeface="Arial"/>
              </a:rPr>
              <a:t>MA TRẬN ĐỊNH HƯỚNG BÁO CHÍNH THỐNG &amp; TRANG TIN ĐIỆN TỬ (78 BÀI BÁO + FANPAGE BÁO)</a:t>
            </a:r>
          </a:p>
        </p:txBody>
      </p:sp>
      <p:sp>
        <p:nvSpPr>
          <p:cNvPr id="8" name="TextBox 7"/>
          <p:cNvSpPr txBox="1"/>
          <p:nvPr/>
        </p:nvSpPr>
        <p:spPr>
          <a:xfrm>
            <a:off x="201168" y="475488"/>
            <a:ext cx="11795760" cy="292608"/>
          </a:xfrm>
          <a:prstGeom prst="rect">
            <a:avLst/>
          </a:prstGeom>
          <a:noFill/>
        </p:spPr>
        <p:txBody>
          <a:bodyPr wrap="square" anchor="ctr" lIns="45720" rIns="45720" tIns="27432" bIns="27432">
            <a:spAutoFit/>
          </a:bodyPr>
          <a:lstStyle/>
          <a:p>
            <a:pPr algn="l">
              <a:lnSpc>
                <a:spcPct val="112000"/>
              </a:lnSpc>
            </a:pPr>
            <a:r>
              <a:rPr sz="960" b="0">
                <a:solidFill>
                  <a:srgbClr val="C8D4E6"/>
                </a:solidFill>
                <a:latin typeface="Arial"/>
              </a:rPr>
              <a:t>Tách riêng Khối Báo chí Chính thống trên toàn bộ dữ liệu thu thập: Đối chiếu Lập trường Tòa soạn, Số bài báo, Số bài Fanpage và Phản hồi Độc giả</a:t>
            </a:r>
          </a:p>
        </p:txBody>
      </p:sp>
      <p:graphicFrame>
        <p:nvGraphicFramePr>
          <p:cNvPr id="9" name="Table 8"/>
          <p:cNvGraphicFramePr>
            <a:graphicFrameLocks noGrp="1"/>
          </p:cNvGraphicFramePr>
          <p:nvPr/>
        </p:nvGraphicFramePr>
        <p:xfrm>
          <a:off x="201168" y="868680"/>
          <a:ext cx="11750040" cy="4498848"/>
        </p:xfrm>
        <a:graphic>
          <a:graphicData uri="http://schemas.openxmlformats.org/drawingml/2006/table">
            <a:tbl>
              <a:tblPr firstRow="1" bandRow="1">
                <a:tableStyleId>{5C22544A-7EE6-4342-B048-85BDC9FD1C3A}</a:tableStyleId>
              </a:tblPr>
              <a:tblGrid>
                <a:gridCol w="2011680"/>
                <a:gridCol w="1609344"/>
                <a:gridCol w="896112"/>
                <a:gridCol w="1024128"/>
                <a:gridCol w="3008376"/>
                <a:gridCol w="3200400"/>
              </a:tblGrid>
              <a:tr h="329184">
                <a:tc>
                  <a:txBody>
                    <a:bodyPr wrap="square"/>
                    <a:lstStyle/>
                    <a:p>
                      <a:pPr algn="ctr">
                        <a:lnSpc>
                          <a:spcPct val="103000"/>
                        </a:lnSpc>
                      </a:pPr>
                      <a:r>
                        <a:rPr sz="740" b="1">
                          <a:solidFill>
                            <a:srgbClr val="FFFFFF"/>
                          </a:solidFill>
                          <a:latin typeface="Arial"/>
                        </a:rPr>
                        <a:t>Kênh / Trang / Hội Nhóm Cụ Thể</a:t>
                      </a:r>
                    </a:p>
                  </a:txBody>
                  <a:tcPr anchor="ctr" marL="27432" marR="27432" marT="9144" marB="9144">
                    <a:solidFill>
                      <a:srgbClr val="0B1528"/>
                    </a:solidFill>
                  </a:tcPr>
                </a:tc>
                <a:tc>
                  <a:txBody>
                    <a:bodyPr wrap="square"/>
                    <a:lstStyle/>
                    <a:p>
                      <a:pPr algn="ctr">
                        <a:lnSpc>
                          <a:spcPct val="103000"/>
                        </a:lnSpc>
                      </a:pPr>
                      <a:r>
                        <a:rPr sz="740" b="1">
                          <a:solidFill>
                            <a:srgbClr val="FFFFFF"/>
                          </a:solidFill>
                          <a:latin typeface="Arial"/>
                        </a:rPr>
                        <a:t>Lập Trường Bài Đăng</a:t>
                      </a:r>
                    </a:p>
                    <a:p>
                      <a:pPr algn="ctr">
                        <a:lnSpc>
                          <a:spcPct val="103000"/>
                        </a:lnSpc>
                      </a:pPr>
                      <a:r>
                        <a:rPr sz="740" b="1">
                          <a:solidFill>
                            <a:srgbClr val="FFFFFF"/>
                          </a:solidFill>
                          <a:latin typeface="Arial"/>
                        </a:rPr>
                        <a:t>(Post Stance)</a:t>
                      </a:r>
                    </a:p>
                  </a:txBody>
                  <a:tcPr anchor="ctr" marL="27432" marR="27432" marT="9144" marB="9144">
                    <a:solidFill>
                      <a:srgbClr val="0B1528"/>
                    </a:solidFill>
                  </a:tcPr>
                </a:tc>
                <a:tc>
                  <a:txBody>
                    <a:bodyPr wrap="square"/>
                    <a:lstStyle/>
                    <a:p>
                      <a:pPr algn="ctr">
                        <a:lnSpc>
                          <a:spcPct val="103000"/>
                        </a:lnSpc>
                      </a:pPr>
                      <a:r>
                        <a:rPr sz="740" b="1">
                          <a:solidFill>
                            <a:srgbClr val="FFFFFF"/>
                          </a:solidFill>
                          <a:latin typeface="Arial"/>
                        </a:rPr>
                        <a:t>Tổng Số Bài</a:t>
                      </a:r>
                    </a:p>
                    <a:p>
                      <a:pPr algn="ctr">
                        <a:lnSpc>
                          <a:spcPct val="103000"/>
                        </a:lnSpc>
                      </a:pPr>
                      <a:r>
                        <a:rPr sz="740" b="1">
                          <a:solidFill>
                            <a:srgbClr val="FFFFFF"/>
                          </a:solidFill>
                          <a:latin typeface="Arial"/>
                        </a:rPr>
                        <a:t>(Danh bạ/Xác thực)</a:t>
                      </a:r>
                    </a:p>
                  </a:txBody>
                  <a:tcPr anchor="ctr" marL="27432" marR="27432" marT="9144" marB="9144">
                    <a:solidFill>
                      <a:srgbClr val="0B1528"/>
                    </a:solidFill>
                  </a:tcPr>
                </a:tc>
                <a:tc>
                  <a:txBody>
                    <a:bodyPr wrap="square"/>
                    <a:lstStyle/>
                    <a:p>
                      <a:pPr algn="ctr">
                        <a:lnSpc>
                          <a:spcPct val="103000"/>
                        </a:lnSpc>
                      </a:pPr>
                      <a:r>
                        <a:rPr sz="740" b="1">
                          <a:solidFill>
                            <a:srgbClr val="FFFFFF"/>
                          </a:solidFill>
                          <a:latin typeface="Arial"/>
                        </a:rPr>
                        <a:t>Tổng Bình Luận</a:t>
                      </a:r>
                    </a:p>
                    <a:p>
                      <a:pPr algn="ctr">
                        <a:lnSpc>
                          <a:spcPct val="103000"/>
                        </a:lnSpc>
                      </a:pPr>
                      <a:r>
                        <a:rPr sz="740" b="1">
                          <a:solidFill>
                            <a:srgbClr val="FFFFFF"/>
                          </a:solidFill>
                          <a:latin typeface="Arial"/>
                        </a:rPr>
                        <a:t>&amp; Tương Tác</a:t>
                      </a:r>
                    </a:p>
                  </a:txBody>
                  <a:tcPr anchor="ctr" marL="27432" marR="27432" marT="9144" marB="9144">
                    <a:solidFill>
                      <a:srgbClr val="0B1528"/>
                    </a:solidFill>
                  </a:tcPr>
                </a:tc>
                <a:tc>
                  <a:txBody>
                    <a:bodyPr wrap="square"/>
                    <a:lstStyle/>
                    <a:p>
                      <a:pPr algn="ctr">
                        <a:lnSpc>
                          <a:spcPct val="103000"/>
                        </a:lnSpc>
                      </a:pPr>
                      <a:r>
                        <a:rPr sz="740" b="1">
                          <a:solidFill>
                            <a:srgbClr val="FFFFFF"/>
                          </a:solidFill>
                          <a:latin typeface="Arial"/>
                        </a:rPr>
                        <a:t>Phân Bổ 7 Lá Phiếu Bình Luận Bên Dưới</a:t>
                      </a:r>
                    </a:p>
                    <a:p>
                      <a:pPr algn="ctr">
                        <a:lnSpc>
                          <a:spcPct val="103000"/>
                        </a:lnSpc>
                      </a:pPr>
                      <a:r>
                        <a:rPr sz="740" b="1">
                          <a:solidFill>
                            <a:srgbClr val="FFFFFF"/>
                          </a:solidFill>
                          <a:latin typeface="Arial"/>
                        </a:rPr>
                        <a:t>(Tuấn CT | LD1 | Phản đối Thụy/Tuấn/Cả hai | LD2 | Thụy CT)</a:t>
                      </a:r>
                    </a:p>
                  </a:txBody>
                  <a:tcPr anchor="ctr" marL="27432" marR="27432" marT="9144" marB="9144">
                    <a:solidFill>
                      <a:srgbClr val="0B1528"/>
                    </a:solidFill>
                  </a:tcPr>
                </a:tc>
                <a:tc>
                  <a:txBody>
                    <a:bodyPr wrap="square"/>
                    <a:lstStyle/>
                    <a:p>
                      <a:pPr algn="ctr">
                        <a:lnSpc>
                          <a:spcPct val="103000"/>
                        </a:lnSpc>
                      </a:pPr>
                      <a:r>
                        <a:rPr sz="740" b="1">
                          <a:solidFill>
                            <a:srgbClr val="FFFFFF"/>
                          </a:solidFill>
                          <a:latin typeface="Arial"/>
                        </a:rPr>
                        <a:t>Kết Luận Giải Phẫu Tương Quan</a:t>
                      </a:r>
                    </a:p>
                    <a:p>
                      <a:pPr algn="ctr">
                        <a:lnSpc>
                          <a:spcPct val="103000"/>
                        </a:lnSpc>
                      </a:pPr>
                      <a:r>
                        <a:rPr sz="740" b="1">
                          <a:solidFill>
                            <a:srgbClr val="FFFFFF"/>
                          </a:solidFill>
                          <a:latin typeface="Arial"/>
                        </a:rPr>
                        <a:t>Bài Đăng vs. Bình Luận Khán Giả</a:t>
                      </a:r>
                    </a:p>
                  </a:txBody>
                  <a:tcPr anchor="ctr" marL="27432" marR="27432" marT="9144" marB="9144">
                    <a:solidFill>
                      <a:srgbClr val="0B1528"/>
                    </a:solidFill>
                  </a:tcPr>
                </a:tc>
              </a:tr>
              <a:tr h="347472">
                <a:tc>
                  <a:txBody>
                    <a:bodyPr wrap="square"/>
                    <a:lstStyle/>
                    <a:p>
                      <a:pPr algn="l">
                        <a:lnSpc>
                          <a:spcPct val="103000"/>
                        </a:lnSpc>
                      </a:pPr>
                      <a:r>
                        <a:rPr sz="710" b="1">
                          <a:solidFill>
                            <a:srgbClr val="0B1528"/>
                          </a:solidFill>
                          <a:latin typeface="Arial"/>
                          <a:hlinkClick r:id="rId2"/>
                        </a:rPr>
                        <a:t>1. Cổng thông tin VFF (VFF.org.vn)</a:t>
                      </a:r>
                    </a:p>
                    <a:p>
                      <a:pPr algn="l">
                        <a:lnSpc>
                          <a:spcPct val="103000"/>
                        </a:lnSpc>
                      </a:pPr>
                      <a:r>
                        <a:rPr sz="710" b="1">
                          <a:solidFill>
                            <a:srgbClr val="0B1528"/>
                          </a:solidFill>
                          <a:latin typeface="Arial"/>
                        </a:rPr>
                        <a:t>&amp; Tạp chí Bóng Đá (Bongdaplus.vn)</a:t>
                      </a:r>
                    </a:p>
                  </a:txBody>
                  <a:tcPr anchor="ctr" marL="27432" marR="27432" marT="9144" marB="9144">
                    <a:solidFill>
                      <a:srgbClr val="EBF3FF"/>
                    </a:solidFill>
                  </a:tcPr>
                </a:tc>
                <a:tc>
                  <a:txBody>
                    <a:bodyPr wrap="square"/>
                    <a:lstStyle/>
                    <a:p>
                      <a:pPr algn="ctr">
                        <a:lnSpc>
                          <a:spcPct val="103000"/>
                        </a:lnSpc>
                      </a:pPr>
                      <a:r>
                        <a:rPr sz="700" b="1">
                          <a:solidFill>
                            <a:srgbClr val="1560D4"/>
                          </a:solidFill>
                          <a:latin typeface="Arial"/>
                        </a:rPr>
                        <a:t>Ủng hộ TS. Trần Quốc Tuấn</a:t>
                      </a:r>
                    </a:p>
                    <a:p>
                      <a:pPr algn="ctr">
                        <a:lnSpc>
                          <a:spcPct val="103000"/>
                        </a:lnSpc>
                      </a:pPr>
                      <a:r>
                        <a:rPr sz="700" b="1">
                          <a:solidFill>
                            <a:srgbClr val="1560D4"/>
                          </a:solidFill>
                          <a:latin typeface="Arial"/>
                        </a:rPr>
                        <a:t>(7 ĐTQG dự VCK châu Á &amp; AFC)</a:t>
                      </a:r>
                    </a:p>
                  </a:txBody>
                  <a:tcPr anchor="ctr" marL="27432" marR="27432" marT="9144" marB="9144">
                    <a:solidFill>
                      <a:srgbClr val="EBF3FF"/>
                    </a:solidFill>
                  </a:tcPr>
                </a:tc>
                <a:tc>
                  <a:txBody>
                    <a:bodyPr wrap="square"/>
                    <a:lstStyle/>
                    <a:p>
                      <a:pPr algn="ctr">
                        <a:lnSpc>
                          <a:spcPct val="103000"/>
                        </a:lnSpc>
                      </a:pPr>
                      <a:r>
                        <a:rPr sz="710" b="1">
                          <a:solidFill>
                            <a:srgbClr val="0B1528"/>
                          </a:solidFill>
                          <a:latin typeface="Arial"/>
                        </a:rPr>
                        <a:t>10 bài báo</a:t>
                      </a:r>
                    </a:p>
                    <a:p>
                      <a:pPr algn="ctr">
                        <a:lnSpc>
                          <a:spcPct val="103000"/>
                        </a:lnSpc>
                      </a:pPr>
                      <a:r>
                        <a:rPr sz="710" b="1">
                          <a:solidFill>
                            <a:srgbClr val="0B1528"/>
                          </a:solidFill>
                          <a:latin typeface="Arial"/>
                        </a:rPr>
                        <a:t>+16 bài FB</a:t>
                      </a:r>
                    </a:p>
                  </a:txBody>
                  <a:tcPr anchor="ctr" marL="27432" marR="27432" marT="9144" marB="9144">
                    <a:solidFill>
                      <a:srgbClr val="EBF3FF"/>
                    </a:solidFill>
                  </a:tcPr>
                </a:tc>
                <a:tc>
                  <a:txBody>
                    <a:bodyPr wrap="square"/>
                    <a:lstStyle/>
                    <a:p>
                      <a:pPr algn="ctr">
                        <a:lnSpc>
                          <a:spcPct val="103000"/>
                        </a:lnSpc>
                      </a:pPr>
                      <a:r>
                        <a:rPr sz="700" b="0">
                          <a:solidFill>
                            <a:srgbClr val="121C2D"/>
                          </a:solidFill>
                          <a:latin typeface="Arial"/>
                        </a:rPr>
                        <a:t>12 bình luận FB</a:t>
                      </a:r>
                    </a:p>
                    <a:p>
                      <a:pPr algn="ctr">
                        <a:lnSpc>
                          <a:spcPct val="103000"/>
                        </a:lnSpc>
                      </a:pPr>
                      <a:r>
                        <a:rPr sz="700" b="0">
                          <a:solidFill>
                            <a:srgbClr val="121C2D"/>
                          </a:solidFill>
                          <a:latin typeface="Arial"/>
                        </a:rPr>
                        <a:t>1.559 cảm xúc</a:t>
                      </a:r>
                    </a:p>
                  </a:txBody>
                  <a:tcPr anchor="ctr" marL="27432" marR="27432" marT="9144" marB="9144">
                    <a:solidFill>
                      <a:srgbClr val="EBF3FF"/>
                    </a:solidFill>
                  </a:tcPr>
                </a:tc>
                <a:tc>
                  <a:txBody>
                    <a:bodyPr wrap="square"/>
                    <a:lstStyle/>
                    <a:p>
                      <a:pPr algn="l">
                        <a:lnSpc>
                          <a:spcPct val="103000"/>
                        </a:lnSpc>
                      </a:pPr>
                      <a:r>
                        <a:rPr sz="700" b="1">
                          <a:solidFill>
                            <a:srgbClr val="121C2D"/>
                          </a:solidFill>
                          <a:latin typeface="Arial"/>
                        </a:rPr>
                        <a:t>Tầng Báo &amp; Fanpage: 100% khẳng định thành tích nhiệm kỳ IX, công tác đối ngoại FIFA/AFC &amp; lịch Đại hội 04/01/2027</a:t>
                      </a:r>
                    </a:p>
                  </a:txBody>
                  <a:tcPr anchor="ctr" marL="27432" marR="27432" marT="9144" marB="9144">
                    <a:solidFill>
                      <a:srgbClr val="EBF3FF"/>
                    </a:solidFill>
                  </a:tcPr>
                </a:tc>
                <a:tc>
                  <a:txBody>
                    <a:bodyPr wrap="square"/>
                    <a:lstStyle/>
                    <a:p>
                      <a:pPr algn="l">
                        <a:lnSpc>
                          <a:spcPct val="103000"/>
                        </a:lnSpc>
                      </a:pPr>
                      <a:r>
                        <a:rPr sz="670" b="0">
                          <a:solidFill>
                            <a:srgbClr val="121C2D"/>
                          </a:solidFill>
                          <a:latin typeface="Arial"/>
                        </a:rPr>
                        <a:t>TRỤ CỘT THÔNG TIN THỂ CHẾ: Giữ nhịp truyền thông chính thống xuyên suốt 22 ngày, định hướng tiêu chuẩn lãnh đạo.</a:t>
                      </a:r>
                    </a:p>
                  </a:txBody>
                  <a:tcPr anchor="ctr" marL="36576" marR="36576" marT="9144" marB="9144">
                    <a:solidFill>
                      <a:srgbClr val="EBF3FF"/>
                    </a:solidFill>
                  </a:tcPr>
                </a:tc>
              </a:tr>
              <a:tr h="347472">
                <a:tc>
                  <a:txBody>
                    <a:bodyPr wrap="square"/>
                    <a:lstStyle/>
                    <a:p>
                      <a:pPr algn="l">
                        <a:lnSpc>
                          <a:spcPct val="103000"/>
                        </a:lnSpc>
                      </a:pPr>
                      <a:r>
                        <a:rPr sz="710" b="1">
                          <a:solidFill>
                            <a:srgbClr val="0B1528"/>
                          </a:solidFill>
                          <a:latin typeface="Arial"/>
                          <a:hlinkClick r:id="rId3"/>
                        </a:rPr>
                        <a:t>2. Báo VnExpress &amp; Thể thao VnExpress</a:t>
                      </a:r>
                    </a:p>
                    <a:p>
                      <a:pPr algn="l">
                        <a:lnSpc>
                          <a:spcPct val="103000"/>
                        </a:lnSpc>
                      </a:pPr>
                      <a:r>
                        <a:rPr sz="710" b="1">
                          <a:solidFill>
                            <a:srgbClr val="0B1528"/>
                          </a:solidFill>
                          <a:latin typeface="Arial"/>
                        </a:rPr>
                        <a:t>(Báo điện tử lớn nhất)</a:t>
                      </a:r>
                    </a:p>
                  </a:txBody>
                  <a:tcPr anchor="ctr" marL="27432" marR="27432" marT="9144" marB="9144">
                    <a:solidFill>
                      <a:srgbClr val="FFFFFF"/>
                    </a:solidFill>
                  </a:tcPr>
                </a:tc>
                <a:tc>
                  <a:txBody>
                    <a:bodyPr wrap="square"/>
                    <a:lstStyle/>
                    <a:p>
                      <a:pPr algn="ctr">
                        <a:lnSpc>
                          <a:spcPct val="103000"/>
                        </a:lnSpc>
                      </a:pPr>
                      <a:r>
                        <a:rPr sz="700" b="1">
                          <a:solidFill>
                            <a:srgbClr val="1560D4"/>
                          </a:solidFill>
                          <a:latin typeface="Arial"/>
                        </a:rPr>
                        <a:t>Ủng hộ TS. Trần Quốc Tuấn</a:t>
                      </a:r>
                    </a:p>
                    <a:p>
                      <a:pPr algn="ctr">
                        <a:lnSpc>
                          <a:spcPct val="103000"/>
                        </a:lnSpc>
                      </a:pPr>
                      <a:r>
                        <a:rPr sz="700" b="1">
                          <a:solidFill>
                            <a:srgbClr val="1560D4"/>
                          </a:solidFill>
                          <a:latin typeface="Arial"/>
                        </a:rPr>
                        <a:t>&amp; đưa tin cân bằng 3 ứng viên</a:t>
                      </a:r>
                    </a:p>
                  </a:txBody>
                  <a:tcPr anchor="ctr" marL="27432" marR="27432" marT="9144" marB="9144">
                    <a:solidFill>
                      <a:srgbClr val="EBF3FF"/>
                    </a:solidFill>
                  </a:tcPr>
                </a:tc>
                <a:tc>
                  <a:txBody>
                    <a:bodyPr wrap="square"/>
                    <a:lstStyle/>
                    <a:p>
                      <a:pPr algn="ctr">
                        <a:lnSpc>
                          <a:spcPct val="103000"/>
                        </a:lnSpc>
                      </a:pPr>
                      <a:r>
                        <a:rPr sz="710" b="1">
                          <a:solidFill>
                            <a:srgbClr val="0B1528"/>
                          </a:solidFill>
                          <a:latin typeface="Arial"/>
                        </a:rPr>
                        <a:t>6 bài báo</a:t>
                      </a:r>
                    </a:p>
                    <a:p>
                      <a:pPr algn="ctr">
                        <a:lnSpc>
                          <a:spcPct val="103000"/>
                        </a:lnSpc>
                      </a:pPr>
                      <a:r>
                        <a:rPr sz="710" b="1">
                          <a:solidFill>
                            <a:srgbClr val="0B1528"/>
                          </a:solidFill>
                          <a:latin typeface="Arial"/>
                        </a:rPr>
                        <a:t>+15 bài FB</a:t>
                      </a:r>
                    </a:p>
                  </a:txBody>
                  <a:tcPr anchor="ctr" marL="27432" marR="27432" marT="9144" marB="9144">
                    <a:solidFill>
                      <a:srgbClr val="FFFFFF"/>
                    </a:solidFill>
                  </a:tcPr>
                </a:tc>
                <a:tc>
                  <a:txBody>
                    <a:bodyPr wrap="square"/>
                    <a:lstStyle/>
                    <a:p>
                      <a:pPr algn="ctr">
                        <a:lnSpc>
                          <a:spcPct val="103000"/>
                        </a:lnSpc>
                      </a:pPr>
                      <a:r>
                        <a:rPr sz="700" b="0">
                          <a:solidFill>
                            <a:srgbClr val="121C2D"/>
                          </a:solidFill>
                          <a:latin typeface="Arial"/>
                        </a:rPr>
                        <a:t>68 bình luận Web/FB</a:t>
                      </a:r>
                    </a:p>
                    <a:p>
                      <a:pPr algn="ctr">
                        <a:lnSpc>
                          <a:spcPct val="103000"/>
                        </a:lnSpc>
                      </a:pPr>
                      <a:r>
                        <a:rPr sz="700" b="0">
                          <a:solidFill>
                            <a:srgbClr val="121C2D"/>
                          </a:solidFill>
                          <a:latin typeface="Arial"/>
                        </a:rPr>
                        <a:t>(Đa số ủng hộ Tuấn)</a:t>
                      </a:r>
                    </a:p>
                  </a:txBody>
                  <a:tcPr anchor="ctr" marL="27432" marR="27432" marT="9144" marB="9144">
                    <a:solidFill>
                      <a:srgbClr val="FFFFFF"/>
                    </a:solidFill>
                  </a:tcPr>
                </a:tc>
                <a:tc>
                  <a:txBody>
                    <a:bodyPr wrap="square"/>
                    <a:lstStyle/>
                    <a:p>
                      <a:pPr algn="l">
                        <a:lnSpc>
                          <a:spcPct val="103000"/>
                        </a:lnSpc>
                      </a:pPr>
                      <a:r>
                        <a:rPr sz="700" b="1">
                          <a:solidFill>
                            <a:srgbClr val="121C2D"/>
                          </a:solidFill>
                          <a:latin typeface="Arial"/>
                        </a:rPr>
                        <a:t>Bài 'Dấu ấn bóng đá Việt nhiệm kỳ IX' (19/10) &amp; Hội nghị AFC Tokyo (20/10): 72% độc giả bình luận ủng hộ TS. Tuấn</a:t>
                      </a:r>
                    </a:p>
                  </a:txBody>
                  <a:tcPr anchor="ctr" marL="27432" marR="27432" marT="9144" marB="9144">
                    <a:solidFill>
                      <a:srgbClr val="FFFFFF"/>
                    </a:solidFill>
                  </a:tcPr>
                </a:tc>
                <a:tc>
                  <a:txBody>
                    <a:bodyPr wrap="square"/>
                    <a:lstStyle/>
                    <a:p>
                      <a:pPr algn="l">
                        <a:lnSpc>
                          <a:spcPct val="103000"/>
                        </a:lnSpc>
                      </a:pPr>
                      <a:r>
                        <a:rPr sz="670" b="0">
                          <a:solidFill>
                            <a:srgbClr val="121C2D"/>
                          </a:solidFill>
                          <a:latin typeface="Arial"/>
                        </a:rPr>
                        <a:t>ĐỘ TIN CẬY ĐẠI CHÚNG CAO: Khẳng định dấu ấn toàn diện của VFF khóa IX trước giờ chốt danh sách ứng viên.</a:t>
                      </a:r>
                    </a:p>
                  </a:txBody>
                  <a:tcPr anchor="ctr" marL="36576" marR="36576" marT="9144" marB="9144">
                    <a:solidFill>
                      <a:srgbClr val="FFFFFF"/>
                    </a:solidFill>
                  </a:tcPr>
                </a:tc>
              </a:tr>
              <a:tr h="347472">
                <a:tc>
                  <a:txBody>
                    <a:bodyPr wrap="square"/>
                    <a:lstStyle/>
                    <a:p>
                      <a:pPr algn="l">
                        <a:lnSpc>
                          <a:spcPct val="103000"/>
                        </a:lnSpc>
                      </a:pPr>
                      <a:r>
                        <a:rPr sz="710" b="1">
                          <a:solidFill>
                            <a:srgbClr val="0B1528"/>
                          </a:solidFill>
                          <a:latin typeface="Arial"/>
                          <a:hlinkClick r:id="rId4"/>
                        </a:rPr>
                        <a:t>3. Thethao247.vn &amp; Thể Thao 247</a:t>
                      </a:r>
                    </a:p>
                    <a:p>
                      <a:pPr algn="l">
                        <a:lnSpc>
                          <a:spcPct val="103000"/>
                        </a:lnSpc>
                      </a:pPr>
                      <a:r>
                        <a:rPr sz="710" b="1">
                          <a:solidFill>
                            <a:srgbClr val="0B1528"/>
                          </a:solidFill>
                          <a:latin typeface="Arial"/>
                        </a:rPr>
                        <a:t>(Hệ thống Trang tin &amp; Fanpage Thể thao)</a:t>
                      </a:r>
                    </a:p>
                  </a:txBody>
                  <a:tcPr anchor="ctr" marL="27432" marR="27432" marT="9144" marB="9144">
                    <a:solidFill>
                      <a:srgbClr val="F1F3F7"/>
                    </a:solidFill>
                  </a:tcPr>
                </a:tc>
                <a:tc>
                  <a:txBody>
                    <a:bodyPr wrap="square"/>
                    <a:lstStyle/>
                    <a:p>
                      <a:pPr algn="ctr">
                        <a:lnSpc>
                          <a:spcPct val="103000"/>
                        </a:lnSpc>
                      </a:pPr>
                      <a:r>
                        <a:rPr sz="700" b="1">
                          <a:solidFill>
                            <a:srgbClr val="1560D4"/>
                          </a:solidFill>
                          <a:latin typeface="Arial"/>
                        </a:rPr>
                        <a:t>Ủng hộ TS. Trần Quốc Tuấn</a:t>
                      </a:r>
                    </a:p>
                    <a:p>
                      <a:pPr algn="ctr">
                        <a:lnSpc>
                          <a:spcPct val="103000"/>
                        </a:lnSpc>
                      </a:pPr>
                      <a:r>
                        <a:rPr sz="700" b="1">
                          <a:solidFill>
                            <a:srgbClr val="1560D4"/>
                          </a:solidFill>
                          <a:latin typeface="Arial"/>
                        </a:rPr>
                        <a:t>&amp; khảo sát 3 ứng viên khóa X</a:t>
                      </a:r>
                    </a:p>
                  </a:txBody>
                  <a:tcPr anchor="ctr" marL="27432" marR="27432" marT="9144" marB="9144">
                    <a:solidFill>
                      <a:srgbClr val="EBF3FF"/>
                    </a:solidFill>
                  </a:tcPr>
                </a:tc>
                <a:tc>
                  <a:txBody>
                    <a:bodyPr wrap="square"/>
                    <a:lstStyle/>
                    <a:p>
                      <a:pPr algn="ctr">
                        <a:lnSpc>
                          <a:spcPct val="103000"/>
                        </a:lnSpc>
                      </a:pPr>
                      <a:r>
                        <a:rPr sz="710" b="1">
                          <a:solidFill>
                            <a:srgbClr val="0B1528"/>
                          </a:solidFill>
                          <a:latin typeface="Arial"/>
                        </a:rPr>
                        <a:t>5 bài báo</a:t>
                      </a:r>
                    </a:p>
                    <a:p>
                      <a:pPr algn="ctr">
                        <a:lnSpc>
                          <a:spcPct val="103000"/>
                        </a:lnSpc>
                      </a:pPr>
                      <a:r>
                        <a:rPr sz="710" b="1">
                          <a:solidFill>
                            <a:srgbClr val="0B1528"/>
                          </a:solidFill>
                          <a:latin typeface="Arial"/>
                        </a:rPr>
                        <a:t>+16 bài FB</a:t>
                      </a:r>
                    </a:p>
                  </a:txBody>
                  <a:tcPr anchor="ctr" marL="27432" marR="27432" marT="9144" marB="9144">
                    <a:solidFill>
                      <a:srgbClr val="F1F3F7"/>
                    </a:solidFill>
                  </a:tcPr>
                </a:tc>
                <a:tc>
                  <a:txBody>
                    <a:bodyPr wrap="square"/>
                    <a:lstStyle/>
                    <a:p>
                      <a:pPr algn="ctr">
                        <a:lnSpc>
                          <a:spcPct val="103000"/>
                        </a:lnSpc>
                      </a:pPr>
                      <a:r>
                        <a:rPr sz="700" b="0">
                          <a:solidFill>
                            <a:srgbClr val="121C2D"/>
                          </a:solidFill>
                          <a:latin typeface="Arial"/>
                        </a:rPr>
                        <a:t>280 bình luận FB</a:t>
                      </a:r>
                    </a:p>
                    <a:p>
                      <a:pPr algn="ctr">
                        <a:lnSpc>
                          <a:spcPct val="103000"/>
                        </a:lnSpc>
                      </a:pPr>
                      <a:r>
                        <a:rPr sz="700" b="0">
                          <a:solidFill>
                            <a:srgbClr val="121C2D"/>
                          </a:solidFill>
                          <a:latin typeface="Arial"/>
                        </a:rPr>
                        <a:t>7.885 cảm xúc</a:t>
                      </a:r>
                    </a:p>
                  </a:txBody>
                  <a:tcPr anchor="ctr" marL="27432" marR="27432" marT="9144" marB="9144">
                    <a:solidFill>
                      <a:srgbClr val="F1F3F7"/>
                    </a:solidFill>
                  </a:tcPr>
                </a:tc>
                <a:tc>
                  <a:txBody>
                    <a:bodyPr wrap="square"/>
                    <a:lstStyle/>
                    <a:p>
                      <a:pPr algn="l">
                        <a:lnSpc>
                          <a:spcPct val="103000"/>
                        </a:lnSpc>
                      </a:pPr>
                      <a:r>
                        <a:rPr sz="700" b="1">
                          <a:solidFill>
                            <a:srgbClr val="1560D4"/>
                          </a:solidFill>
                          <a:latin typeface="Arial"/>
                        </a:rPr>
                        <a:t>Khối Tuấn CT: 34 (25 thẳng + 9 LD1) | Phản đối Thụy: 8 | Phản đối Tuấn: 5 | Khối Thụy CT: 14 (10 thẳng + 4 LD2)</a:t>
                      </a:r>
                    </a:p>
                  </a:txBody>
                  <a:tcPr anchor="ctr" marL="27432" marR="27432" marT="9144" marB="9144">
                    <a:solidFill>
                      <a:srgbClr val="F1F3F7"/>
                    </a:solidFill>
                  </a:tcPr>
                </a:tc>
                <a:tc>
                  <a:txBody>
                    <a:bodyPr wrap="square"/>
                    <a:lstStyle/>
                    <a:p>
                      <a:pPr algn="l">
                        <a:lnSpc>
                          <a:spcPct val="103000"/>
                        </a:lnSpc>
                      </a:pPr>
                      <a:r>
                        <a:rPr sz="670" b="0">
                          <a:solidFill>
                            <a:srgbClr val="121C2D"/>
                          </a:solidFill>
                          <a:latin typeface="Arial"/>
                        </a:rPr>
                        <a:t>TƯƠNG TÁC CAO NHẤT KHỐI BÁO THỂ THAO (7.885 cảm xúc): Độc giả nghiêng rõ về phương án giữ TS. Tuấn làm Chủ tịch.</a:t>
                      </a:r>
                    </a:p>
                  </a:txBody>
                  <a:tcPr anchor="ctr" marL="36576" marR="36576" marT="9144" marB="9144">
                    <a:solidFill>
                      <a:srgbClr val="F1F3F7"/>
                    </a:solidFill>
                  </a:tcPr>
                </a:tc>
              </a:tr>
              <a:tr h="347472">
                <a:tc>
                  <a:txBody>
                    <a:bodyPr wrap="square"/>
                    <a:lstStyle/>
                    <a:p>
                      <a:pPr algn="l">
                        <a:lnSpc>
                          <a:spcPct val="103000"/>
                        </a:lnSpc>
                      </a:pPr>
                      <a:r>
                        <a:rPr sz="710" b="1">
                          <a:solidFill>
                            <a:srgbClr val="0B1528"/>
                          </a:solidFill>
                          <a:latin typeface="Arial"/>
                          <a:hlinkClick r:id="rId5"/>
                        </a:rPr>
                        <a:t>4. Báo Thanh Niên &amp; Báo Tuổi Trẻ</a:t>
                      </a:r>
                    </a:p>
                    <a:p>
                      <a:pPr algn="l">
                        <a:lnSpc>
                          <a:spcPct val="103000"/>
                        </a:lnSpc>
                      </a:pPr>
                      <a:r>
                        <a:rPr sz="710" b="1">
                          <a:solidFill>
                            <a:srgbClr val="0B1528"/>
                          </a:solidFill>
                          <a:latin typeface="Arial"/>
                        </a:rPr>
                        <a:t>(2 Nhật báo Chính trị - Xã hội lớn)</a:t>
                      </a:r>
                    </a:p>
                  </a:txBody>
                  <a:tcPr anchor="ctr" marL="27432" marR="27432" marT="9144" marB="9144">
                    <a:solidFill>
                      <a:srgbClr val="FFFFFF"/>
                    </a:solidFill>
                  </a:tcPr>
                </a:tc>
                <a:tc>
                  <a:txBody>
                    <a:bodyPr wrap="square"/>
                    <a:lstStyle/>
                    <a:p>
                      <a:pPr algn="ctr">
                        <a:lnSpc>
                          <a:spcPct val="103000"/>
                        </a:lnSpc>
                      </a:pPr>
                      <a:r>
                        <a:rPr sz="700" b="1">
                          <a:solidFill>
                            <a:srgbClr val="1560D4"/>
                          </a:solidFill>
                          <a:latin typeface="Arial"/>
                        </a:rPr>
                        <a:t>Ủng hộ TS. Trần Quốc Tuấn</a:t>
                      </a:r>
                    </a:p>
                    <a:p>
                      <a:pPr algn="ctr">
                        <a:lnSpc>
                          <a:spcPct val="103000"/>
                        </a:lnSpc>
                      </a:pPr>
                      <a:r>
                        <a:rPr sz="700" b="1">
                          <a:solidFill>
                            <a:srgbClr val="1560D4"/>
                          </a:solidFill>
                          <a:latin typeface="Arial"/>
                        </a:rPr>
                        <a:t>(Đối ngoại AFC &amp; Ổn định ĐTQG)</a:t>
                      </a:r>
                    </a:p>
                  </a:txBody>
                  <a:tcPr anchor="ctr" marL="27432" marR="27432" marT="9144" marB="9144">
                    <a:solidFill>
                      <a:srgbClr val="EBF3FF"/>
                    </a:solidFill>
                  </a:tcPr>
                </a:tc>
                <a:tc>
                  <a:txBody>
                    <a:bodyPr wrap="square"/>
                    <a:lstStyle/>
                    <a:p>
                      <a:pPr algn="ctr">
                        <a:lnSpc>
                          <a:spcPct val="103000"/>
                        </a:lnSpc>
                      </a:pPr>
                      <a:r>
                        <a:rPr sz="710" b="1">
                          <a:solidFill>
                            <a:srgbClr val="0B1528"/>
                          </a:solidFill>
                          <a:latin typeface="Arial"/>
                        </a:rPr>
                        <a:t>9 bài báo</a:t>
                      </a:r>
                    </a:p>
                    <a:p>
                      <a:pPr algn="ctr">
                        <a:lnSpc>
                          <a:spcPct val="103000"/>
                        </a:lnSpc>
                      </a:pPr>
                      <a:r>
                        <a:rPr sz="710" b="1">
                          <a:solidFill>
                            <a:srgbClr val="0B1528"/>
                          </a:solidFill>
                          <a:latin typeface="Arial"/>
                        </a:rPr>
                        <a:t>(03–22/10)</a:t>
                      </a:r>
                    </a:p>
                  </a:txBody>
                  <a:tcPr anchor="ctr" marL="27432" marR="27432" marT="9144" marB="9144">
                    <a:solidFill>
                      <a:srgbClr val="FFFFFF"/>
                    </a:solidFill>
                  </a:tcPr>
                </a:tc>
                <a:tc>
                  <a:txBody>
                    <a:bodyPr wrap="square"/>
                    <a:lstStyle/>
                    <a:p>
                      <a:pPr algn="ctr">
                        <a:lnSpc>
                          <a:spcPct val="103000"/>
                        </a:lnSpc>
                      </a:pPr>
                      <a:r>
                        <a:rPr sz="700" b="0">
                          <a:solidFill>
                            <a:srgbClr val="121C2D"/>
                          </a:solidFill>
                          <a:latin typeface="Arial"/>
                        </a:rPr>
                        <a:t>45 bình luận Web</a:t>
                      </a:r>
                    </a:p>
                    <a:p>
                      <a:pPr algn="ctr">
                        <a:lnSpc>
                          <a:spcPct val="103000"/>
                        </a:lnSpc>
                      </a:pPr>
                      <a:r>
                        <a:rPr sz="700" b="0">
                          <a:solidFill>
                            <a:srgbClr val="121C2D"/>
                          </a:solidFill>
                          <a:latin typeface="Arial"/>
                        </a:rPr>
                        <a:t>(Đồng thuận cao)</a:t>
                      </a:r>
                    </a:p>
                  </a:txBody>
                  <a:tcPr anchor="ctr" marL="27432" marR="27432" marT="9144" marB="9144">
                    <a:solidFill>
                      <a:srgbClr val="FFFFFF"/>
                    </a:solidFill>
                  </a:tcPr>
                </a:tc>
                <a:tc>
                  <a:txBody>
                    <a:bodyPr wrap="square"/>
                    <a:lstStyle/>
                    <a:p>
                      <a:pPr algn="l">
                        <a:lnSpc>
                          <a:spcPct val="103000"/>
                        </a:lnSpc>
                      </a:pPr>
                      <a:r>
                        <a:rPr sz="700" b="1">
                          <a:solidFill>
                            <a:srgbClr val="121C2D"/>
                          </a:solidFill>
                          <a:latin typeface="Arial"/>
                        </a:rPr>
                        <a:t>Tập trung đưa tin Chủ tịch VFF Trần Quốc Tuấn dự Hội nghị AFC tại Tokyo (20/10) và chiến lược đào tạo trẻ U15/U17</a:t>
                      </a:r>
                    </a:p>
                  </a:txBody>
                  <a:tcPr anchor="ctr" marL="27432" marR="27432" marT="9144" marB="9144">
                    <a:solidFill>
                      <a:srgbClr val="FFFFFF"/>
                    </a:solidFill>
                  </a:tcPr>
                </a:tc>
                <a:tc>
                  <a:txBody>
                    <a:bodyPr wrap="square"/>
                    <a:lstStyle/>
                    <a:p>
                      <a:pPr algn="l">
                        <a:lnSpc>
                          <a:spcPct val="103000"/>
                        </a:lnSpc>
                      </a:pPr>
                      <a:r>
                        <a:rPr sz="670" b="0">
                          <a:solidFill>
                            <a:srgbClr val="121C2D"/>
                          </a:solidFill>
                          <a:latin typeface="Arial"/>
                        </a:rPr>
                        <a:t>ĐỐI TRỌNG TRỰC DIỆN NGÀY 20/10: Làm đối trọng thể chế ngay trong buổi sáng khối Báo Kinh tế đẩy tin Bầu Thụy.</a:t>
                      </a:r>
                    </a:p>
                  </a:txBody>
                  <a:tcPr anchor="ctr" marL="36576" marR="36576" marT="9144" marB="9144">
                    <a:solidFill>
                      <a:srgbClr val="FFFFFF"/>
                    </a:solidFill>
                  </a:tcPr>
                </a:tc>
              </a:tr>
              <a:tr h="347472">
                <a:tc>
                  <a:txBody>
                    <a:bodyPr wrap="square"/>
                    <a:lstStyle/>
                    <a:p>
                      <a:pPr algn="l">
                        <a:lnSpc>
                          <a:spcPct val="103000"/>
                        </a:lnSpc>
                      </a:pPr>
                      <a:r>
                        <a:rPr sz="710" b="1">
                          <a:solidFill>
                            <a:srgbClr val="0B1528"/>
                          </a:solidFill>
                          <a:latin typeface="Arial"/>
                          <a:hlinkClick r:id="rId6"/>
                        </a:rPr>
                        <a:t>5. Báo Lao Động &amp; VTC News</a:t>
                      </a:r>
                    </a:p>
                    <a:p>
                      <a:pPr algn="l">
                        <a:lnSpc>
                          <a:spcPct val="103000"/>
                        </a:lnSpc>
                      </a:pPr>
                      <a:r>
                        <a:rPr sz="710" b="1">
                          <a:solidFill>
                            <a:srgbClr val="0B1528"/>
                          </a:solidFill>
                          <a:latin typeface="Arial"/>
                        </a:rPr>
                        <a:t>(Khối Báo Chính thống Đưa tin Quy chế)</a:t>
                      </a:r>
                    </a:p>
                  </a:txBody>
                  <a:tcPr anchor="ctr" marL="27432" marR="27432" marT="9144" marB="9144">
                    <a:solidFill>
                      <a:srgbClr val="E8F8FA"/>
                    </a:solidFill>
                  </a:tcPr>
                </a:tc>
                <a:tc>
                  <a:txBody>
                    <a:bodyPr wrap="square"/>
                    <a:lstStyle/>
                    <a:p>
                      <a:pPr algn="ctr">
                        <a:lnSpc>
                          <a:spcPct val="103000"/>
                        </a:lnSpc>
                      </a:pPr>
                      <a:r>
                        <a:rPr sz="700" b="1">
                          <a:solidFill>
                            <a:srgbClr val="0E94A5"/>
                          </a:solidFill>
                          <a:latin typeface="Arial"/>
                        </a:rPr>
                        <a:t>Trung lập chuẩn mực / Giải thích</a:t>
                      </a:r>
                    </a:p>
                    <a:p>
                      <a:pPr algn="ctr">
                        <a:lnSpc>
                          <a:spcPct val="103000"/>
                        </a:lnSpc>
                      </a:pPr>
                      <a:r>
                        <a:rPr sz="700" b="1">
                          <a:solidFill>
                            <a:srgbClr val="0E94A5"/>
                          </a:solidFill>
                          <a:latin typeface="Arial"/>
                        </a:rPr>
                        <a:t>quy chế &amp; công bố 3 ứng viên</a:t>
                      </a:r>
                    </a:p>
                  </a:txBody>
                  <a:tcPr anchor="ctr" marL="27432" marR="27432" marT="9144" marB="9144">
                    <a:solidFill>
                      <a:srgbClr val="E8F8FA"/>
                    </a:solidFill>
                  </a:tcPr>
                </a:tc>
                <a:tc>
                  <a:txBody>
                    <a:bodyPr wrap="square"/>
                    <a:lstStyle/>
                    <a:p>
                      <a:pPr algn="ctr">
                        <a:lnSpc>
                          <a:spcPct val="103000"/>
                        </a:lnSpc>
                      </a:pPr>
                      <a:r>
                        <a:rPr sz="710" b="1">
                          <a:solidFill>
                            <a:srgbClr val="0B1528"/>
                          </a:solidFill>
                          <a:latin typeface="Arial"/>
                        </a:rPr>
                        <a:t>9 bài báo</a:t>
                      </a:r>
                    </a:p>
                    <a:p>
                      <a:pPr algn="ctr">
                        <a:lnSpc>
                          <a:spcPct val="103000"/>
                        </a:lnSpc>
                      </a:pPr>
                      <a:r>
                        <a:rPr sz="710" b="1">
                          <a:solidFill>
                            <a:srgbClr val="0B1528"/>
                          </a:solidFill>
                          <a:latin typeface="Arial"/>
                        </a:rPr>
                        <a:t>+1 bài FB (67 bình luận)</a:t>
                      </a:r>
                    </a:p>
                  </a:txBody>
                  <a:tcPr anchor="ctr" marL="27432" marR="27432" marT="9144" marB="9144">
                    <a:solidFill>
                      <a:srgbClr val="E8F8FA"/>
                    </a:solidFill>
                  </a:tcPr>
                </a:tc>
                <a:tc>
                  <a:txBody>
                    <a:bodyPr wrap="square"/>
                    <a:lstStyle/>
                    <a:p>
                      <a:pPr algn="ctr">
                        <a:lnSpc>
                          <a:spcPct val="103000"/>
                        </a:lnSpc>
                      </a:pPr>
                      <a:r>
                        <a:rPr sz="700" b="0">
                          <a:solidFill>
                            <a:srgbClr val="121C2D"/>
                          </a:solidFill>
                          <a:latin typeface="Arial"/>
                        </a:rPr>
                        <a:t>67 bình luận FB</a:t>
                      </a:r>
                    </a:p>
                    <a:p>
                      <a:pPr algn="ctr">
                        <a:lnSpc>
                          <a:spcPct val="103000"/>
                        </a:lnSpc>
                      </a:pPr>
                      <a:r>
                        <a:rPr sz="700" b="0">
                          <a:solidFill>
                            <a:srgbClr val="121C2D"/>
                          </a:solidFill>
                          <a:latin typeface="Arial"/>
                        </a:rPr>
                        <a:t>199 cảm xúc</a:t>
                      </a:r>
                    </a:p>
                  </a:txBody>
                  <a:tcPr anchor="ctr" marL="27432" marR="27432" marT="9144" marB="9144">
                    <a:solidFill>
                      <a:srgbClr val="E8F8FA"/>
                    </a:solidFill>
                  </a:tcPr>
                </a:tc>
                <a:tc>
                  <a:txBody>
                    <a:bodyPr wrap="square"/>
                    <a:lstStyle/>
                    <a:p>
                      <a:pPr algn="l">
                        <a:lnSpc>
                          <a:spcPct val="103000"/>
                        </a:lnSpc>
                      </a:pPr>
                      <a:r>
                        <a:rPr sz="700" b="1">
                          <a:solidFill>
                            <a:srgbClr val="121C2D"/>
                          </a:solidFill>
                          <a:latin typeface="Arial"/>
                        </a:rPr>
                        <a:t>Trên trang Góc nhìn thể thao (Báo Lao Động - 67 bình luận): 19 phiếu chọn Tuấn CT + LD1 vs 14 phiếu chọn Thụy CT + LD2</a:t>
                      </a:r>
                    </a:p>
                  </a:txBody>
                  <a:tcPr anchor="ctr" marL="27432" marR="27432" marT="9144" marB="9144">
                    <a:solidFill>
                      <a:srgbClr val="E8F8FA"/>
                    </a:solidFill>
                  </a:tcPr>
                </a:tc>
                <a:tc>
                  <a:txBody>
                    <a:bodyPr wrap="square"/>
                    <a:lstStyle/>
                    <a:p>
                      <a:pPr algn="l">
                        <a:lnSpc>
                          <a:spcPct val="103000"/>
                        </a:lnSpc>
                      </a:pPr>
                      <a:r>
                        <a:rPr sz="670" b="0">
                          <a:solidFill>
                            <a:srgbClr val="121C2D"/>
                          </a:solidFill>
                          <a:latin typeface="Arial"/>
                        </a:rPr>
                        <a:t>ĐỊNH HƯỚNG QUY TRÌNH: Giải thích rõ đề cử của CLB mới là bước 1, phải qua hiệp thương &amp; phê duyệt cấp có thẩm quyền.</a:t>
                      </a:r>
                    </a:p>
                  </a:txBody>
                  <a:tcPr anchor="ctr" marL="36576" marR="36576" marT="9144" marB="9144">
                    <a:solidFill>
                      <a:srgbClr val="E8F8FA"/>
                    </a:solidFill>
                  </a:tcPr>
                </a:tc>
              </a:tr>
              <a:tr h="347472">
                <a:tc>
                  <a:txBody>
                    <a:bodyPr wrap="square"/>
                    <a:lstStyle/>
                    <a:p>
                      <a:pPr algn="l">
                        <a:lnSpc>
                          <a:spcPct val="103000"/>
                        </a:lnSpc>
                      </a:pPr>
                      <a:r>
                        <a:rPr sz="710" b="1">
                          <a:solidFill>
                            <a:srgbClr val="0B1528"/>
                          </a:solidFill>
                          <a:latin typeface="Arial"/>
                          <a:hlinkClick r:id="rId7"/>
                        </a:rPr>
                        <a:t>6. Báo Thể thao &amp; Văn hóa (TTXVN)</a:t>
                      </a:r>
                    </a:p>
                    <a:p>
                      <a:pPr algn="l">
                        <a:lnSpc>
                          <a:spcPct val="103000"/>
                        </a:lnSpc>
                      </a:pPr>
                      <a:r>
                        <a:rPr sz="710" b="1">
                          <a:solidFill>
                            <a:srgbClr val="0B1528"/>
                          </a:solidFill>
                          <a:latin typeface="Arial"/>
                        </a:rPr>
                        <a:t>&amp; Báo Tiền Phong (Kèm Tiền Phong TV)</a:t>
                      </a:r>
                    </a:p>
                  </a:txBody>
                  <a:tcPr anchor="ctr" marL="27432" marR="27432" marT="9144" marB="9144">
                    <a:solidFill>
                      <a:srgbClr val="FFFFFF"/>
                    </a:solidFill>
                  </a:tcPr>
                </a:tc>
                <a:tc>
                  <a:txBody>
                    <a:bodyPr wrap="square"/>
                    <a:lstStyle/>
                    <a:p>
                      <a:pPr algn="ctr">
                        <a:lnSpc>
                          <a:spcPct val="103000"/>
                        </a:lnSpc>
                      </a:pPr>
                      <a:r>
                        <a:rPr sz="700" b="1">
                          <a:solidFill>
                            <a:srgbClr val="0E94A5"/>
                          </a:solidFill>
                          <a:latin typeface="Arial"/>
                        </a:rPr>
                        <a:t>Trung lập phân tích / Đính chính</a:t>
                      </a:r>
                    </a:p>
                    <a:p>
                      <a:pPr algn="ctr">
                        <a:lnSpc>
                          <a:spcPct val="103000"/>
                        </a:lnSpc>
                      </a:pPr>
                      <a:r>
                        <a:rPr sz="700" b="1">
                          <a:solidFill>
                            <a:srgbClr val="0E94A5"/>
                          </a:solidFill>
                          <a:latin typeface="Arial"/>
                        </a:rPr>
                        <a:t>tin đồn &amp; gợi mở kết hợp</a:t>
                      </a:r>
                    </a:p>
                  </a:txBody>
                  <a:tcPr anchor="ctr" marL="27432" marR="27432" marT="9144" marB="9144">
                    <a:solidFill>
                      <a:srgbClr val="E8F8FA"/>
                    </a:solidFill>
                  </a:tcPr>
                </a:tc>
                <a:tc>
                  <a:txBody>
                    <a:bodyPr wrap="square"/>
                    <a:lstStyle/>
                    <a:p>
                      <a:pPr algn="ctr">
                        <a:lnSpc>
                          <a:spcPct val="103000"/>
                        </a:lnSpc>
                      </a:pPr>
                      <a:r>
                        <a:rPr sz="710" b="1">
                          <a:solidFill>
                            <a:srgbClr val="0B1528"/>
                          </a:solidFill>
                          <a:latin typeface="Arial"/>
                        </a:rPr>
                        <a:t>7 bài báo</a:t>
                      </a:r>
                    </a:p>
                    <a:p>
                      <a:pPr algn="ctr">
                        <a:lnSpc>
                          <a:spcPct val="103000"/>
                        </a:lnSpc>
                      </a:pPr>
                      <a:r>
                        <a:rPr sz="710" b="1">
                          <a:solidFill>
                            <a:srgbClr val="0B1528"/>
                          </a:solidFill>
                          <a:latin typeface="Arial"/>
                        </a:rPr>
                        <a:t>+3 FB + 2 YT</a:t>
                      </a:r>
                    </a:p>
                  </a:txBody>
                  <a:tcPr anchor="ctr" marL="27432" marR="27432" marT="9144" marB="9144">
                    <a:solidFill>
                      <a:srgbClr val="FFFFFF"/>
                    </a:solidFill>
                  </a:tcPr>
                </a:tc>
                <a:tc>
                  <a:txBody>
                    <a:bodyPr wrap="square"/>
                    <a:lstStyle/>
                    <a:p>
                      <a:pPr algn="ctr">
                        <a:lnSpc>
                          <a:spcPct val="103000"/>
                        </a:lnSpc>
                      </a:pPr>
                      <a:r>
                        <a:rPr sz="700" b="0">
                          <a:solidFill>
                            <a:srgbClr val="121C2D"/>
                          </a:solidFill>
                          <a:latin typeface="Arial"/>
                        </a:rPr>
                        <a:t>15 bình luận FB</a:t>
                      </a:r>
                    </a:p>
                    <a:p>
                      <a:pPr algn="ctr">
                        <a:lnSpc>
                          <a:spcPct val="103000"/>
                        </a:lnSpc>
                      </a:pPr>
                      <a:r>
                        <a:rPr sz="700" b="0">
                          <a:solidFill>
                            <a:srgbClr val="121C2D"/>
                          </a:solidFill>
                          <a:latin typeface="Arial"/>
                        </a:rPr>
                        <a:t>379 cảm xúc</a:t>
                      </a:r>
                    </a:p>
                  </a:txBody>
                  <a:tcPr anchor="ctr" marL="27432" marR="27432" marT="9144" marB="9144">
                    <a:solidFill>
                      <a:srgbClr val="FFFFFF"/>
                    </a:solidFill>
                  </a:tcPr>
                </a:tc>
                <a:tc>
                  <a:txBody>
                    <a:bodyPr wrap="square"/>
                    <a:lstStyle/>
                    <a:p>
                      <a:pPr algn="l">
                        <a:lnSpc>
                          <a:spcPct val="103000"/>
                        </a:lnSpc>
                      </a:pPr>
                      <a:r>
                        <a:rPr sz="700" b="1">
                          <a:solidFill>
                            <a:srgbClr val="121C2D"/>
                          </a:solidFill>
                          <a:latin typeface="Arial"/>
                        </a:rPr>
                        <a:t>Phân tích 'Cuộc đua giữa doanh nhân và nhà quản lý bóng đá'; 11/15 bình luận trên FB TT&amp;VH chọn 'Tuấn CT + 2 đại gia làm Phó'</a:t>
                      </a:r>
                    </a:p>
                  </a:txBody>
                  <a:tcPr anchor="ctr" marL="27432" marR="27432" marT="9144" marB="9144">
                    <a:solidFill>
                      <a:srgbClr val="FFFFFF"/>
                    </a:solidFill>
                  </a:tcPr>
                </a:tc>
                <a:tc>
                  <a:txBody>
                    <a:bodyPr wrap="square"/>
                    <a:lstStyle/>
                    <a:p>
                      <a:pPr algn="l">
                        <a:lnSpc>
                          <a:spcPct val="103000"/>
                        </a:lnSpc>
                      </a:pPr>
                      <a:r>
                        <a:rPr sz="670" b="0">
                          <a:solidFill>
                            <a:srgbClr val="121C2D"/>
                          </a:solidFill>
                          <a:latin typeface="Arial"/>
                        </a:rPr>
                        <a:t>GỢI MỞ CÔNG THỨC DUNG HÒA: Nêu bật ưu thế chuyên môn của TS. Tuấn và gợi ý doanh nhân làm Phó Chủ tịch Tài chính.</a:t>
                      </a:r>
                    </a:p>
                  </a:txBody>
                  <a:tcPr anchor="ctr" marL="36576" marR="36576" marT="9144" marB="9144">
                    <a:solidFill>
                      <a:srgbClr val="FFFFFF"/>
                    </a:solidFill>
                  </a:tcPr>
                </a:tc>
              </a:tr>
              <a:tr h="347472">
                <a:tc>
                  <a:txBody>
                    <a:bodyPr wrap="square"/>
                    <a:lstStyle/>
                    <a:p>
                      <a:pPr algn="l">
                        <a:lnSpc>
                          <a:spcPct val="103000"/>
                        </a:lnSpc>
                      </a:pPr>
                      <a:r>
                        <a:rPr sz="710" b="1">
                          <a:solidFill>
                            <a:srgbClr val="0B1528"/>
                          </a:solidFill>
                          <a:latin typeface="Arial"/>
                          <a:hlinkClick r:id="rId8"/>
                        </a:rPr>
                        <a:t>7. VOV.VN, Báo Nhân Dân, Đồng Tháp</a:t>
                      </a:r>
                    </a:p>
                    <a:p>
                      <a:pPr algn="l">
                        <a:lnSpc>
                          <a:spcPct val="103000"/>
                        </a:lnSpc>
                      </a:pPr>
                      <a:r>
                        <a:rPr sz="710" b="1">
                          <a:solidFill>
                            <a:srgbClr val="0B1528"/>
                          </a:solidFill>
                          <a:latin typeface="Arial"/>
                        </a:rPr>
                        <a:t>&amp; VietnamPlus (Khối Cơ quan Đảng/Nhà nước)</a:t>
                      </a:r>
                    </a:p>
                  </a:txBody>
                  <a:tcPr anchor="ctr" marL="27432" marR="27432" marT="9144" marB="9144">
                    <a:solidFill>
                      <a:srgbClr val="EBF3FF"/>
                    </a:solidFill>
                  </a:tcPr>
                </a:tc>
                <a:tc>
                  <a:txBody>
                    <a:bodyPr wrap="square"/>
                    <a:lstStyle/>
                    <a:p>
                      <a:pPr algn="ctr">
                        <a:lnSpc>
                          <a:spcPct val="103000"/>
                        </a:lnSpc>
                      </a:pPr>
                      <a:r>
                        <a:rPr sz="700" b="1">
                          <a:solidFill>
                            <a:srgbClr val="1560D4"/>
                          </a:solidFill>
                          <a:latin typeface="Arial"/>
                        </a:rPr>
                        <a:t>Ủng hộ TS. Trần Quốc Tuấn</a:t>
                      </a:r>
                    </a:p>
                    <a:p>
                      <a:pPr algn="ctr">
                        <a:lnSpc>
                          <a:spcPct val="103000"/>
                        </a:lnSpc>
                      </a:pPr>
                      <a:r>
                        <a:rPr sz="700" b="1">
                          <a:solidFill>
                            <a:srgbClr val="1560D4"/>
                          </a:solidFill>
                          <a:latin typeface="Arial"/>
                        </a:rPr>
                        <a:t>(80 khóa đào tạo &amp; phủ sóng VAR)</a:t>
                      </a:r>
                    </a:p>
                  </a:txBody>
                  <a:tcPr anchor="ctr" marL="27432" marR="27432" marT="9144" marB="9144">
                    <a:solidFill>
                      <a:srgbClr val="EBF3FF"/>
                    </a:solidFill>
                  </a:tcPr>
                </a:tc>
                <a:tc>
                  <a:txBody>
                    <a:bodyPr wrap="square"/>
                    <a:lstStyle/>
                    <a:p>
                      <a:pPr algn="ctr">
                        <a:lnSpc>
                          <a:spcPct val="103000"/>
                        </a:lnSpc>
                      </a:pPr>
                      <a:r>
                        <a:rPr sz="710" b="1">
                          <a:solidFill>
                            <a:srgbClr val="0B1528"/>
                          </a:solidFill>
                          <a:latin typeface="Arial"/>
                        </a:rPr>
                        <a:t>7 bài báo</a:t>
                      </a:r>
                    </a:p>
                    <a:p>
                      <a:pPr algn="ctr">
                        <a:lnSpc>
                          <a:spcPct val="103000"/>
                        </a:lnSpc>
                      </a:pPr>
                      <a:r>
                        <a:rPr sz="710" b="1">
                          <a:solidFill>
                            <a:srgbClr val="0B1528"/>
                          </a:solidFill>
                          <a:latin typeface="Arial"/>
                        </a:rPr>
                        <a:t>(12–21/10)</a:t>
                      </a:r>
                    </a:p>
                  </a:txBody>
                  <a:tcPr anchor="ctr" marL="27432" marR="27432" marT="9144" marB="9144">
                    <a:solidFill>
                      <a:srgbClr val="EBF3FF"/>
                    </a:solidFill>
                  </a:tcPr>
                </a:tc>
                <a:tc>
                  <a:txBody>
                    <a:bodyPr wrap="square"/>
                    <a:lstStyle/>
                    <a:p>
                      <a:pPr algn="ctr">
                        <a:lnSpc>
                          <a:spcPct val="103000"/>
                        </a:lnSpc>
                      </a:pPr>
                      <a:r>
                        <a:rPr sz="700" b="0">
                          <a:solidFill>
                            <a:srgbClr val="121C2D"/>
                          </a:solidFill>
                          <a:latin typeface="Arial"/>
                        </a:rPr>
                        <a:t>22 bình luận Web</a:t>
                      </a:r>
                    </a:p>
                    <a:p>
                      <a:pPr algn="ctr">
                        <a:lnSpc>
                          <a:spcPct val="103000"/>
                        </a:lnSpc>
                      </a:pPr>
                      <a:r>
                        <a:rPr sz="700" b="0">
                          <a:solidFill>
                            <a:srgbClr val="121C2D"/>
                          </a:solidFill>
                          <a:latin typeface="Arial"/>
                        </a:rPr>
                        <a:t>(100% tích cực)</a:t>
                      </a:r>
                    </a:p>
                  </a:txBody>
                  <a:tcPr anchor="ctr" marL="27432" marR="27432" marT="9144" marB="9144">
                    <a:solidFill>
                      <a:srgbClr val="EBF3FF"/>
                    </a:solidFill>
                  </a:tcPr>
                </a:tc>
                <a:tc>
                  <a:txBody>
                    <a:bodyPr wrap="square"/>
                    <a:lstStyle/>
                    <a:p>
                      <a:pPr algn="l">
                        <a:lnSpc>
                          <a:spcPct val="103000"/>
                        </a:lnSpc>
                      </a:pPr>
                      <a:r>
                        <a:rPr sz="700" b="1">
                          <a:solidFill>
                            <a:srgbClr val="121C2D"/>
                          </a:solidFill>
                          <a:latin typeface="Arial"/>
                        </a:rPr>
                        <a:t>Ca ngợi nền tảng quản trị hệ thống, 80 khóa đào tạo HLV/trọng tài, phủ sóng VAR và vị thế quốc tế của VFF</a:t>
                      </a:r>
                    </a:p>
                  </a:txBody>
                  <a:tcPr anchor="ctr" marL="27432" marR="27432" marT="9144" marB="9144">
                    <a:solidFill>
                      <a:srgbClr val="EBF3FF"/>
                    </a:solidFill>
                  </a:tcPr>
                </a:tc>
                <a:tc>
                  <a:txBody>
                    <a:bodyPr wrap="square"/>
                    <a:lstStyle/>
                    <a:p>
                      <a:pPr algn="l">
                        <a:lnSpc>
                          <a:spcPct val="103000"/>
                        </a:lnSpc>
                      </a:pPr>
                      <a:r>
                        <a:rPr sz="670" b="0">
                          <a:solidFill>
                            <a:srgbClr val="121C2D"/>
                          </a:solidFill>
                          <a:latin typeface="Arial"/>
                        </a:rPr>
                        <a:t>CỦNG CỐ TÍN NHIỆM THỂ CHẾ: Khẳng định VFF đang đi đúng quỹ đạo chuyên nghiệp hóa của FIFA và AFC.</a:t>
                      </a:r>
                    </a:p>
                  </a:txBody>
                  <a:tcPr anchor="ctr" marL="36576" marR="36576" marT="9144" marB="9144">
                    <a:solidFill>
                      <a:srgbClr val="EBF3FF"/>
                    </a:solidFill>
                  </a:tcPr>
                </a:tc>
              </a:tr>
              <a:tr h="347472">
                <a:tc>
                  <a:txBody>
                    <a:bodyPr wrap="square"/>
                    <a:lstStyle/>
                    <a:p>
                      <a:pPr algn="l">
                        <a:lnSpc>
                          <a:spcPct val="103000"/>
                        </a:lnSpc>
                      </a:pPr>
                      <a:r>
                        <a:rPr sz="710" b="1">
                          <a:solidFill>
                            <a:srgbClr val="0B1528"/>
                          </a:solidFill>
                          <a:latin typeface="Arial"/>
                          <a:hlinkClick r:id="rId9"/>
                        </a:rPr>
                        <a:t>8. CafeF &amp; VietNamBiz</a:t>
                      </a:r>
                    </a:p>
                    <a:p>
                      <a:pPr algn="l">
                        <a:lnSpc>
                          <a:spcPct val="103000"/>
                        </a:lnSpc>
                      </a:pPr>
                      <a:r>
                        <a:rPr sz="710" b="1">
                          <a:solidFill>
                            <a:srgbClr val="0B1528"/>
                          </a:solidFill>
                          <a:latin typeface="Arial"/>
                        </a:rPr>
                        <a:t>(Mũi nhọn Báo Kinh tế - Tài chính)</a:t>
                      </a:r>
                    </a:p>
                  </a:txBody>
                  <a:tcPr anchor="ctr" marL="27432" marR="27432" marT="9144" marB="9144">
                    <a:solidFill>
                      <a:srgbClr val="FEEEEE"/>
                    </a:solidFill>
                  </a:tcPr>
                </a:tc>
                <a:tc>
                  <a:txBody>
                    <a:bodyPr wrap="square"/>
                    <a:lstStyle/>
                    <a:p>
                      <a:pPr algn="ctr">
                        <a:lnSpc>
                          <a:spcPct val="103000"/>
                        </a:lnSpc>
                      </a:pPr>
                      <a:r>
                        <a:rPr sz="700" b="1">
                          <a:solidFill>
                            <a:srgbClr val="D62728"/>
                          </a:solidFill>
                          <a:latin typeface="Arial"/>
                        </a:rPr>
                        <a:t>Đẩy sóng Bầu Thụy (&gt;40/57 đề cử,</a:t>
                      </a:r>
                    </a:p>
                    <a:p>
                      <a:pPr algn="ctr">
                        <a:lnSpc>
                          <a:spcPct val="103000"/>
                        </a:lnSpc>
                      </a:pPr>
                      <a:r>
                        <a:rPr sz="700" b="1">
                          <a:solidFill>
                            <a:srgbClr val="D62728"/>
                          </a:solidFill>
                          <a:latin typeface="Arial"/>
                        </a:rPr>
                        <a:t>Bầu Hiển/Bầu Đức ủng hộ &amp; 1.000 tỷ)</a:t>
                      </a:r>
                    </a:p>
                  </a:txBody>
                  <a:tcPr anchor="ctr" marL="27432" marR="27432" marT="9144" marB="9144">
                    <a:solidFill>
                      <a:srgbClr val="FEEEEE"/>
                    </a:solidFill>
                  </a:tcPr>
                </a:tc>
                <a:tc>
                  <a:txBody>
                    <a:bodyPr wrap="square"/>
                    <a:lstStyle/>
                    <a:p>
                      <a:pPr algn="ctr">
                        <a:lnSpc>
                          <a:spcPct val="103000"/>
                        </a:lnSpc>
                      </a:pPr>
                      <a:r>
                        <a:rPr sz="710" b="1">
                          <a:solidFill>
                            <a:srgbClr val="0B1528"/>
                          </a:solidFill>
                          <a:latin typeface="Arial"/>
                        </a:rPr>
                        <a:t>6 bài báo</a:t>
                      </a:r>
                    </a:p>
                    <a:p>
                      <a:pPr algn="ctr">
                        <a:lnSpc>
                          <a:spcPct val="103000"/>
                        </a:lnSpc>
                      </a:pPr>
                      <a:r>
                        <a:rPr sz="710" b="1">
                          <a:solidFill>
                            <a:srgbClr val="0B1528"/>
                          </a:solidFill>
                          <a:latin typeface="Arial"/>
                        </a:rPr>
                        <a:t>+1 FB + 1 TT</a:t>
                      </a:r>
                    </a:p>
                  </a:txBody>
                  <a:tcPr anchor="ctr" marL="27432" marR="27432" marT="9144" marB="9144">
                    <a:solidFill>
                      <a:srgbClr val="FEEEEE"/>
                    </a:solidFill>
                  </a:tcPr>
                </a:tc>
                <a:tc>
                  <a:txBody>
                    <a:bodyPr wrap="square"/>
                    <a:lstStyle/>
                    <a:p>
                      <a:pPr algn="ctr">
                        <a:lnSpc>
                          <a:spcPct val="103000"/>
                        </a:lnSpc>
                      </a:pPr>
                      <a:r>
                        <a:rPr sz="700" b="0">
                          <a:solidFill>
                            <a:srgbClr val="121C2D"/>
                          </a:solidFill>
                          <a:latin typeface="Arial"/>
                        </a:rPr>
                        <a:t>39 bình luận FB/TT</a:t>
                      </a:r>
                    </a:p>
                    <a:p>
                      <a:pPr algn="ctr">
                        <a:lnSpc>
                          <a:spcPct val="103000"/>
                        </a:lnSpc>
                      </a:pPr>
                      <a:r>
                        <a:rPr sz="700" b="0">
                          <a:solidFill>
                            <a:srgbClr val="121C2D"/>
                          </a:solidFill>
                          <a:latin typeface="Arial"/>
                        </a:rPr>
                        <a:t>(15 FB + 24 TT)</a:t>
                      </a:r>
                    </a:p>
                  </a:txBody>
                  <a:tcPr anchor="ctr" marL="27432" marR="27432" marT="9144" marB="9144">
                    <a:solidFill>
                      <a:srgbClr val="FEEEEE"/>
                    </a:solidFill>
                  </a:tcPr>
                </a:tc>
                <a:tc>
                  <a:txBody>
                    <a:bodyPr wrap="square"/>
                    <a:lstStyle/>
                    <a:p>
                      <a:pPr algn="l">
                        <a:lnSpc>
                          <a:spcPct val="103000"/>
                        </a:lnSpc>
                      </a:pPr>
                      <a:r>
                        <a:rPr sz="700" b="1">
                          <a:solidFill>
                            <a:srgbClr val="121C2D"/>
                          </a:solidFill>
                          <a:latin typeface="Arial"/>
                        </a:rPr>
                        <a:t>Trên FB CafeF (15 bình luận): 6 ủng hộ Thụy, 1 cảnh báo | Trên TikTok CafeF (24 bình luận): 9 ủng hộ Thụy, 6 cảnh giác mô hình ông bầu</a:t>
                      </a:r>
                    </a:p>
                  </a:txBody>
                  <a:tcPr anchor="ctr" marL="27432" marR="27432" marT="9144" marB="9144">
                    <a:solidFill>
                      <a:srgbClr val="FEEEEE"/>
                    </a:solidFill>
                  </a:tcPr>
                </a:tc>
                <a:tc>
                  <a:txBody>
                    <a:bodyPr wrap="square"/>
                    <a:lstStyle/>
                    <a:p>
                      <a:pPr algn="l">
                        <a:lnSpc>
                          <a:spcPct val="103000"/>
                        </a:lnSpc>
                      </a:pPr>
                      <a:r>
                        <a:rPr sz="670" b="0">
                          <a:solidFill>
                            <a:srgbClr val="121C2D"/>
                          </a:solidFill>
                          <a:latin typeface="Arial"/>
                        </a:rPr>
                        <a:t>MŨI NHỌN PR CHO BẦU THỤY: Tạo hiệu ứng mạnh trong giới đầu tư tài chính, nhưng sang TikTok bị phản biện ngược.</a:t>
                      </a:r>
                    </a:p>
                  </a:txBody>
                  <a:tcPr anchor="ctr" marL="36576" marR="36576" marT="9144" marB="9144">
                    <a:solidFill>
                      <a:srgbClr val="FEEEEE"/>
                    </a:solidFill>
                  </a:tcPr>
                </a:tc>
              </a:tr>
              <a:tr h="347472">
                <a:tc>
                  <a:txBody>
                    <a:bodyPr wrap="square"/>
                    <a:lstStyle/>
                    <a:p>
                      <a:pPr algn="l">
                        <a:lnSpc>
                          <a:spcPct val="103000"/>
                        </a:lnSpc>
                      </a:pPr>
                      <a:r>
                        <a:rPr sz="710" b="1">
                          <a:solidFill>
                            <a:srgbClr val="0B1528"/>
                          </a:solidFill>
                          <a:latin typeface="Arial"/>
                          <a:hlinkClick r:id="rId10"/>
                        </a:rPr>
                        <a:t>9. VietnamFinance &amp; VietTimes</a:t>
                      </a:r>
                    </a:p>
                    <a:p>
                      <a:pPr algn="l">
                        <a:lnSpc>
                          <a:spcPct val="103000"/>
                        </a:lnSpc>
                      </a:pPr>
                      <a:r>
                        <a:rPr sz="710" b="1">
                          <a:solidFill>
                            <a:srgbClr val="0B1528"/>
                          </a:solidFill>
                          <a:latin typeface="Arial"/>
                        </a:rPr>
                        <a:t>(Khối Tạp chí Kinh tế - Đầu tư)</a:t>
                      </a:r>
                    </a:p>
                  </a:txBody>
                  <a:tcPr anchor="ctr" marL="27432" marR="27432" marT="9144" marB="9144">
                    <a:solidFill>
                      <a:srgbClr val="FFFFFF"/>
                    </a:solidFill>
                  </a:tcPr>
                </a:tc>
                <a:tc>
                  <a:txBody>
                    <a:bodyPr wrap="square"/>
                    <a:lstStyle/>
                    <a:p>
                      <a:pPr algn="ctr">
                        <a:lnSpc>
                          <a:spcPct val="103000"/>
                        </a:lnSpc>
                      </a:pPr>
                      <a:r>
                        <a:rPr sz="700" b="1">
                          <a:solidFill>
                            <a:srgbClr val="D62728"/>
                          </a:solidFill>
                          <a:latin typeface="Arial"/>
                        </a:rPr>
                        <a:t>Đẩy mạnh tin đề cử Bầu Thụy</a:t>
                      </a:r>
                    </a:p>
                    <a:p>
                      <a:pPr algn="ctr">
                        <a:lnSpc>
                          <a:spcPct val="103000"/>
                        </a:lnSpc>
                      </a:pPr>
                      <a:r>
                        <a:rPr sz="700" b="1">
                          <a:solidFill>
                            <a:srgbClr val="D62728"/>
                          </a:solidFill>
                          <a:latin typeface="Arial"/>
                        </a:rPr>
                        <a:t>&amp; cam kết không dùng ngân sách</a:t>
                      </a:r>
                    </a:p>
                  </a:txBody>
                  <a:tcPr anchor="ctr" marL="27432" marR="27432" marT="9144" marB="9144">
                    <a:solidFill>
                      <a:srgbClr val="FEEEEE"/>
                    </a:solidFill>
                  </a:tcPr>
                </a:tc>
                <a:tc>
                  <a:txBody>
                    <a:bodyPr wrap="square"/>
                    <a:lstStyle/>
                    <a:p>
                      <a:pPr algn="ctr">
                        <a:lnSpc>
                          <a:spcPct val="103000"/>
                        </a:lnSpc>
                      </a:pPr>
                      <a:r>
                        <a:rPr sz="710" b="1">
                          <a:solidFill>
                            <a:srgbClr val="0B1528"/>
                          </a:solidFill>
                          <a:latin typeface="Arial"/>
                        </a:rPr>
                        <a:t>7 bài báo</a:t>
                      </a:r>
                    </a:p>
                    <a:p>
                      <a:pPr algn="ctr">
                        <a:lnSpc>
                          <a:spcPct val="103000"/>
                        </a:lnSpc>
                      </a:pPr>
                      <a:r>
                        <a:rPr sz="710" b="1">
                          <a:solidFill>
                            <a:srgbClr val="0B1528"/>
                          </a:solidFill>
                          <a:latin typeface="Arial"/>
                        </a:rPr>
                        <a:t>+3 bài FB</a:t>
                      </a:r>
                    </a:p>
                  </a:txBody>
                  <a:tcPr anchor="ctr" marL="27432" marR="27432" marT="9144" marB="9144">
                    <a:solidFill>
                      <a:srgbClr val="FFFFFF"/>
                    </a:solidFill>
                  </a:tcPr>
                </a:tc>
                <a:tc>
                  <a:txBody>
                    <a:bodyPr wrap="square"/>
                    <a:lstStyle/>
                    <a:p>
                      <a:pPr algn="ctr">
                        <a:lnSpc>
                          <a:spcPct val="103000"/>
                        </a:lnSpc>
                      </a:pPr>
                      <a:r>
                        <a:rPr sz="700" b="0">
                          <a:solidFill>
                            <a:srgbClr val="121C2D"/>
                          </a:solidFill>
                          <a:latin typeface="Arial"/>
                        </a:rPr>
                        <a:t>47 bình luận FB</a:t>
                      </a:r>
                    </a:p>
                    <a:p>
                      <a:pPr algn="ctr">
                        <a:lnSpc>
                          <a:spcPct val="103000"/>
                        </a:lnSpc>
                      </a:pPr>
                      <a:r>
                        <a:rPr sz="700" b="0">
                          <a:solidFill>
                            <a:srgbClr val="121C2D"/>
                          </a:solidFill>
                          <a:latin typeface="Arial"/>
                        </a:rPr>
                        <a:t>309 cảm xúc</a:t>
                      </a:r>
                    </a:p>
                  </a:txBody>
                  <a:tcPr anchor="ctr" marL="27432" marR="27432" marT="9144" marB="9144">
                    <a:solidFill>
                      <a:srgbClr val="FFFFFF"/>
                    </a:solidFill>
                  </a:tcPr>
                </a:tc>
                <a:tc>
                  <a:txBody>
                    <a:bodyPr wrap="square"/>
                    <a:lstStyle/>
                    <a:p>
                      <a:pPr algn="l">
                        <a:lnSpc>
                          <a:spcPct val="103000"/>
                        </a:lnSpc>
                      </a:pPr>
                      <a:r>
                        <a:rPr sz="700" b="1">
                          <a:solidFill>
                            <a:srgbClr val="1560D4"/>
                          </a:solidFill>
                          <a:latin typeface="Arial"/>
                        </a:rPr>
                        <a:t>Khối Tuấn CT: 14 (10 thẳng + 4 LD1) | Phản đối Thụy: 9 | Khối Thụy CT: 18 (14 thẳng + 4 LD2)</a:t>
                      </a:r>
                    </a:p>
                  </a:txBody>
                  <a:tcPr anchor="ctr" marL="27432" marR="27432" marT="9144" marB="9144">
                    <a:solidFill>
                      <a:srgbClr val="FFFFFF"/>
                    </a:solidFill>
                  </a:tcPr>
                </a:tc>
                <a:tc>
                  <a:txBody>
                    <a:bodyPr wrap="square"/>
                    <a:lstStyle/>
                    <a:p>
                      <a:pPr algn="l">
                        <a:lnSpc>
                          <a:spcPct val="103000"/>
                        </a:lnSpc>
                      </a:pPr>
                      <a:r>
                        <a:rPr sz="670" b="0">
                          <a:solidFill>
                            <a:srgbClr val="121C2D"/>
                          </a:solidFill>
                          <a:latin typeface="Arial"/>
                        </a:rPr>
                        <a:t>TẠO SÓNG NGÀY 19–22/10: Đưa tin dày đặc về Bầu Thụy, thu hút 47 bình luận tranh luận giữa tiền bạc và chuyên môn.</a:t>
                      </a:r>
                    </a:p>
                  </a:txBody>
                  <a:tcPr anchor="ctr" marL="36576" marR="36576" marT="9144" marB="9144">
                    <a:solidFill>
                      <a:srgbClr val="FFFFFF"/>
                    </a:solidFill>
                  </a:tcPr>
                </a:tc>
              </a:tr>
              <a:tr h="347472">
                <a:tc>
                  <a:txBody>
                    <a:bodyPr wrap="square"/>
                    <a:lstStyle/>
                    <a:p>
                      <a:pPr algn="l">
                        <a:lnSpc>
                          <a:spcPct val="103000"/>
                        </a:lnSpc>
                      </a:pPr>
                      <a:r>
                        <a:rPr sz="710" b="1">
                          <a:solidFill>
                            <a:srgbClr val="0B1528"/>
                          </a:solidFill>
                          <a:latin typeface="Arial"/>
                          <a:hlinkClick r:id="rId11"/>
                        </a:rPr>
                        <a:t>10. Báo Dân Trí, Znews (Tri Thức)</a:t>
                      </a:r>
                    </a:p>
                    <a:p>
                      <a:pPr algn="l">
                        <a:lnSpc>
                          <a:spcPct val="103000"/>
                        </a:lnSpc>
                      </a:pPr>
                      <a:r>
                        <a:rPr sz="710" b="1">
                          <a:solidFill>
                            <a:srgbClr val="0B1528"/>
                          </a:solidFill>
                          <a:latin typeface="Arial"/>
                        </a:rPr>
                        <a:t>&amp; Sài Gòn Giải Phóng (SGGP Thể Thao)</a:t>
                      </a:r>
                    </a:p>
                  </a:txBody>
                  <a:tcPr anchor="ctr" marL="27432" marR="27432" marT="9144" marB="9144">
                    <a:solidFill>
                      <a:srgbClr val="F1F3F7"/>
                    </a:solidFill>
                  </a:tcPr>
                </a:tc>
                <a:tc>
                  <a:txBody>
                    <a:bodyPr wrap="square"/>
                    <a:lstStyle/>
                    <a:p>
                      <a:pPr algn="ctr">
                        <a:lnSpc>
                          <a:spcPct val="103000"/>
                        </a:lnSpc>
                      </a:pPr>
                      <a:r>
                        <a:rPr sz="700" b="1">
                          <a:solidFill>
                            <a:srgbClr val="D62728"/>
                          </a:solidFill>
                          <a:latin typeface="Arial"/>
                        </a:rPr>
                        <a:t>Đưa tin đề cử Bầu Thụy (&gt;40/57)</a:t>
                      </a:r>
                    </a:p>
                    <a:p>
                      <a:pPr algn="ctr">
                        <a:lnSpc>
                          <a:spcPct val="103000"/>
                        </a:lnSpc>
                      </a:pPr>
                      <a:r>
                        <a:rPr sz="700" b="1">
                          <a:solidFill>
                            <a:srgbClr val="D62728"/>
                          </a:solidFill>
                          <a:latin typeface="Arial"/>
                        </a:rPr>
                        <a:t>&amp; cập nhật danh sách 3 ứng viên</a:t>
                      </a:r>
                    </a:p>
                  </a:txBody>
                  <a:tcPr anchor="ctr" marL="27432" marR="27432" marT="9144" marB="9144">
                    <a:solidFill>
                      <a:srgbClr val="FEEEEE"/>
                    </a:solidFill>
                  </a:tcPr>
                </a:tc>
                <a:tc>
                  <a:txBody>
                    <a:bodyPr wrap="square"/>
                    <a:lstStyle/>
                    <a:p>
                      <a:pPr algn="ctr">
                        <a:lnSpc>
                          <a:spcPct val="103000"/>
                        </a:lnSpc>
                      </a:pPr>
                      <a:r>
                        <a:rPr sz="710" b="1">
                          <a:solidFill>
                            <a:srgbClr val="0B1528"/>
                          </a:solidFill>
                          <a:latin typeface="Arial"/>
                        </a:rPr>
                        <a:t>8 bài báo</a:t>
                      </a:r>
                    </a:p>
                    <a:p>
                      <a:pPr algn="ctr">
                        <a:lnSpc>
                          <a:spcPct val="103000"/>
                        </a:lnSpc>
                      </a:pPr>
                      <a:r>
                        <a:rPr sz="710" b="1">
                          <a:solidFill>
                            <a:srgbClr val="0B1528"/>
                          </a:solidFill>
                          <a:latin typeface="Arial"/>
                        </a:rPr>
                        <a:t>+10 bài FB</a:t>
                      </a:r>
                    </a:p>
                  </a:txBody>
                  <a:tcPr anchor="ctr" marL="27432" marR="27432" marT="9144" marB="9144">
                    <a:solidFill>
                      <a:srgbClr val="F1F3F7"/>
                    </a:solidFill>
                  </a:tcPr>
                </a:tc>
                <a:tc>
                  <a:txBody>
                    <a:bodyPr wrap="square"/>
                    <a:lstStyle/>
                    <a:p>
                      <a:pPr algn="ctr">
                        <a:lnSpc>
                          <a:spcPct val="103000"/>
                        </a:lnSpc>
                      </a:pPr>
                      <a:r>
                        <a:rPr sz="700" b="0">
                          <a:solidFill>
                            <a:srgbClr val="121C2D"/>
                          </a:solidFill>
                          <a:latin typeface="Arial"/>
                        </a:rPr>
                        <a:t>18 bình luận Web/FB</a:t>
                      </a:r>
                    </a:p>
                    <a:p>
                      <a:pPr algn="ctr">
                        <a:lnSpc>
                          <a:spcPct val="103000"/>
                        </a:lnSpc>
                      </a:pPr>
                      <a:r>
                        <a:rPr sz="700" b="0">
                          <a:solidFill>
                            <a:srgbClr val="121C2D"/>
                          </a:solidFill>
                          <a:latin typeface="Arial"/>
                        </a:rPr>
                        <a:t>97 cảm xúc</a:t>
                      </a:r>
                    </a:p>
                  </a:txBody>
                  <a:tcPr anchor="ctr" marL="27432" marR="27432" marT="9144" marB="9144">
                    <a:solidFill>
                      <a:srgbClr val="F1F3F7"/>
                    </a:solidFill>
                  </a:tcPr>
                </a:tc>
                <a:tc>
                  <a:txBody>
                    <a:bodyPr wrap="square"/>
                    <a:lstStyle/>
                    <a:p>
                      <a:pPr algn="l">
                        <a:lnSpc>
                          <a:spcPct val="103000"/>
                        </a:lnSpc>
                      </a:pPr>
                      <a:r>
                        <a:rPr sz="700" b="1">
                          <a:solidFill>
                            <a:srgbClr val="121C2D"/>
                          </a:solidFill>
                          <a:latin typeface="Arial"/>
                        </a:rPr>
                        <a:t>Đưa tin 'Ông Nguyễn Đức Thụy nhận nhiều đề cử từ các CLB V.League' (19–20/10) và chương trình hành động (21–22/10)</a:t>
                      </a:r>
                    </a:p>
                  </a:txBody>
                  <a:tcPr anchor="ctr" marL="27432" marR="27432" marT="9144" marB="9144">
                    <a:solidFill>
                      <a:srgbClr val="F1F3F7"/>
                    </a:solidFill>
                  </a:tcPr>
                </a:tc>
                <a:tc>
                  <a:txBody>
                    <a:bodyPr wrap="square"/>
                    <a:lstStyle/>
                    <a:p>
                      <a:pPr algn="l">
                        <a:lnSpc>
                          <a:spcPct val="103000"/>
                        </a:lnSpc>
                      </a:pPr>
                      <a:r>
                        <a:rPr sz="670" b="0">
                          <a:solidFill>
                            <a:srgbClr val="121C2D"/>
                          </a:solidFill>
                          <a:latin typeface="Arial"/>
                        </a:rPr>
                        <a:t>KHUẾCH ĐẠI ĐỘ PHỦ ĐẠI CHÚNG: Đưa thông tin đề cử của ông Nguyễn Đức Thụy từ báo kinh tế sang báo đại chúng.</a:t>
                      </a:r>
                    </a:p>
                  </a:txBody>
                  <a:tcPr anchor="ctr" marL="36576" marR="36576" marT="9144" marB="9144">
                    <a:solidFill>
                      <a:srgbClr val="F1F3F7"/>
                    </a:solidFill>
                  </a:tcPr>
                </a:tc>
              </a:tr>
              <a:tr h="347472">
                <a:tc>
                  <a:txBody>
                    <a:bodyPr wrap="square"/>
                    <a:lstStyle/>
                    <a:p>
                      <a:pPr algn="l">
                        <a:lnSpc>
                          <a:spcPct val="103000"/>
                        </a:lnSpc>
                      </a:pPr>
                      <a:r>
                        <a:rPr sz="710" b="1">
                          <a:solidFill>
                            <a:srgbClr val="0B1528"/>
                          </a:solidFill>
                          <a:latin typeface="Arial"/>
                          <a:hlinkClick r:id="rId12"/>
                        </a:rPr>
                        <a:t>11. Báo Bóng Đá, Sport5, Phụ Nữ VN</a:t>
                      </a:r>
                    </a:p>
                    <a:p>
                      <a:pPr algn="l">
                        <a:lnSpc>
                          <a:spcPct val="103000"/>
                        </a:lnSpc>
                      </a:pPr>
                      <a:r>
                        <a:rPr sz="710" b="1">
                          <a:solidFill>
                            <a:srgbClr val="0B1528"/>
                          </a:solidFill>
                          <a:latin typeface="Arial"/>
                        </a:rPr>
                        <a:t>&amp; Thể Thao &amp; Đời Sống (Đợt 20–22/10)</a:t>
                      </a:r>
                    </a:p>
                  </a:txBody>
                  <a:tcPr anchor="ctr" marL="27432" marR="27432" marT="9144" marB="9144">
                    <a:solidFill>
                      <a:srgbClr val="FFFFFF"/>
                    </a:solidFill>
                  </a:tcPr>
                </a:tc>
                <a:tc>
                  <a:txBody>
                    <a:bodyPr wrap="square"/>
                    <a:lstStyle/>
                    <a:p>
                      <a:pPr algn="ctr">
                        <a:lnSpc>
                          <a:spcPct val="103000"/>
                        </a:lnSpc>
                      </a:pPr>
                      <a:r>
                        <a:rPr sz="700" b="1">
                          <a:solidFill>
                            <a:srgbClr val="0E94A5"/>
                          </a:solidFill>
                          <a:latin typeface="Arial"/>
                        </a:rPr>
                        <a:t>Đưa tin 3 ứng viên Chủ tịch VFF</a:t>
                      </a:r>
                    </a:p>
                    <a:p>
                      <a:pPr algn="ctr">
                        <a:lnSpc>
                          <a:spcPct val="103000"/>
                        </a:lnSpc>
                      </a:pPr>
                      <a:r>
                        <a:rPr sz="700" b="1">
                          <a:solidFill>
                            <a:srgbClr val="0E94A5"/>
                          </a:solidFill>
                          <a:latin typeface="Arial"/>
                        </a:rPr>
                        <a:t>&amp; mục tiêu tài chính của Bầu Thụy</a:t>
                      </a:r>
                    </a:p>
                  </a:txBody>
                  <a:tcPr anchor="ctr" marL="27432" marR="27432" marT="9144" marB="9144">
                    <a:solidFill>
                      <a:srgbClr val="E8F8FA"/>
                    </a:solidFill>
                  </a:tcPr>
                </a:tc>
                <a:tc>
                  <a:txBody>
                    <a:bodyPr wrap="square"/>
                    <a:lstStyle/>
                    <a:p>
                      <a:pPr algn="ctr">
                        <a:lnSpc>
                          <a:spcPct val="103000"/>
                        </a:lnSpc>
                      </a:pPr>
                      <a:r>
                        <a:rPr sz="710" b="1">
                          <a:solidFill>
                            <a:srgbClr val="0B1528"/>
                          </a:solidFill>
                          <a:latin typeface="Arial"/>
                        </a:rPr>
                        <a:t>4 bài báo</a:t>
                      </a:r>
                    </a:p>
                    <a:p>
                      <a:pPr algn="ctr">
                        <a:lnSpc>
                          <a:spcPct val="103000"/>
                        </a:lnSpc>
                      </a:pPr>
                      <a:r>
                        <a:rPr sz="710" b="1">
                          <a:solidFill>
                            <a:srgbClr val="0B1528"/>
                          </a:solidFill>
                          <a:latin typeface="Arial"/>
                        </a:rPr>
                        <a:t>+5 YT + 3 FB</a:t>
                      </a:r>
                    </a:p>
                  </a:txBody>
                  <a:tcPr anchor="ctr" marL="27432" marR="27432" marT="9144" marB="9144">
                    <a:solidFill>
                      <a:srgbClr val="FFFFFF"/>
                    </a:solidFill>
                  </a:tcPr>
                </a:tc>
                <a:tc>
                  <a:txBody>
                    <a:bodyPr wrap="square"/>
                    <a:lstStyle/>
                    <a:p>
                      <a:pPr algn="ctr">
                        <a:lnSpc>
                          <a:spcPct val="103000"/>
                        </a:lnSpc>
                      </a:pPr>
                      <a:r>
                        <a:rPr sz="700" b="0">
                          <a:solidFill>
                            <a:srgbClr val="121C2D"/>
                          </a:solidFill>
                          <a:latin typeface="Arial"/>
                        </a:rPr>
                        <a:t>14 bình luận YT/FB</a:t>
                      </a:r>
                    </a:p>
                    <a:p>
                      <a:pPr algn="ctr">
                        <a:lnSpc>
                          <a:spcPct val="103000"/>
                        </a:lnSpc>
                      </a:pPr>
                      <a:r>
                        <a:rPr sz="700" b="0">
                          <a:solidFill>
                            <a:srgbClr val="121C2D"/>
                          </a:solidFill>
                          <a:latin typeface="Arial"/>
                        </a:rPr>
                        <a:t>4.582 views YT</a:t>
                      </a:r>
                    </a:p>
                  </a:txBody>
                  <a:tcPr anchor="ctr" marL="27432" marR="27432" marT="9144" marB="9144">
                    <a:solidFill>
                      <a:srgbClr val="FFFFFF"/>
                    </a:solidFill>
                  </a:tcPr>
                </a:tc>
                <a:tc>
                  <a:txBody>
                    <a:bodyPr wrap="square"/>
                    <a:lstStyle/>
                    <a:p>
                      <a:pPr algn="l">
                        <a:lnSpc>
                          <a:spcPct val="103000"/>
                        </a:lnSpc>
                      </a:pPr>
                      <a:r>
                        <a:rPr sz="700" b="1">
                          <a:solidFill>
                            <a:srgbClr val="121C2D"/>
                          </a:solidFill>
                          <a:latin typeface="Arial"/>
                        </a:rPr>
                        <a:t>Cập nhật chân dung 3 ứng viên (Tuấn, Thụy, Vũ) và mục tiêu huy động 600–1.000 tỷ đồng/năm ngày 21–22/10</a:t>
                      </a:r>
                    </a:p>
                  </a:txBody>
                  <a:tcPr anchor="ctr" marL="27432" marR="27432" marT="9144" marB="9144">
                    <a:solidFill>
                      <a:srgbClr val="FFFFFF"/>
                    </a:solidFill>
                  </a:tcPr>
                </a:tc>
                <a:tc>
                  <a:txBody>
                    <a:bodyPr wrap="square"/>
                    <a:lstStyle/>
                    <a:p>
                      <a:pPr algn="l">
                        <a:lnSpc>
                          <a:spcPct val="103000"/>
                        </a:lnSpc>
                      </a:pPr>
                      <a:r>
                        <a:rPr sz="670" b="0">
                          <a:solidFill>
                            <a:srgbClr val="121C2D"/>
                          </a:solidFill>
                          <a:latin typeface="Arial"/>
                        </a:rPr>
                        <a:t>CẬP NHẬT MỚI NHẤT ĐỢT 22/10: Hoàn thiện bức tranh đối chiếu chương trình hành động của 3 ứng viên.</a:t>
                      </a:r>
                    </a:p>
                  </a:txBody>
                  <a:tcPr anchor="ctr" marL="36576" marR="36576" marT="9144" marB="9144">
                    <a:solidFill>
                      <a:srgbClr val="FFFFFF"/>
                    </a:solidFill>
                  </a:tcPr>
                </a:tc>
              </a:tr>
              <a:tr h="347472">
                <a:tc>
                  <a:txBody>
                    <a:bodyPr wrap="square"/>
                    <a:lstStyle/>
                    <a:p>
                      <a:pPr algn="l">
                        <a:lnSpc>
                          <a:spcPct val="103000"/>
                        </a:lnSpc>
                      </a:pPr>
                      <a:r>
                        <a:rPr sz="710" b="1">
                          <a:solidFill>
                            <a:srgbClr val="0B1528"/>
                          </a:solidFill>
                          <a:latin typeface="Arial"/>
                          <a:hlinkClick r:id="rId13"/>
                        </a:rPr>
                        <a:t>12. SaoStar, Dân Việt, Soha &amp; Người Đưa Tin</a:t>
                      </a:r>
                    </a:p>
                    <a:p>
                      <a:pPr algn="l">
                        <a:lnSpc>
                          <a:spcPct val="103000"/>
                        </a:lnSpc>
                      </a:pPr>
                      <a:r>
                        <a:rPr sz="710" b="1">
                          <a:solidFill>
                            <a:srgbClr val="0B1528"/>
                          </a:solidFill>
                          <a:latin typeface="Arial"/>
                        </a:rPr>
                        <a:t>(Cụm Báo khởi phát phát biểu Bầu Đức)</a:t>
                      </a:r>
                    </a:p>
                  </a:txBody>
                  <a:tcPr anchor="ctr" marL="27432" marR="27432" marT="9144" marB="9144">
                    <a:solidFill>
                      <a:srgbClr val="FFF6E8"/>
                    </a:solidFill>
                  </a:tcPr>
                </a:tc>
                <a:tc>
                  <a:txBody>
                    <a:bodyPr wrap="square"/>
                    <a:lstStyle/>
                    <a:p>
                      <a:pPr algn="ctr">
                        <a:lnSpc>
                          <a:spcPct val="103000"/>
                        </a:lnSpc>
                      </a:pPr>
                      <a:r>
                        <a:rPr sz="700" b="1">
                          <a:solidFill>
                            <a:srgbClr val="E67E22"/>
                          </a:solidFill>
                          <a:latin typeface="Arial"/>
                        </a:rPr>
                        <a:t>Khởi phát gợi ý của Bầu Đức (03/10)</a:t>
                      </a:r>
                    </a:p>
                    <a:p>
                      <a:pPr algn="ctr">
                        <a:lnSpc>
                          <a:spcPct val="103000"/>
                        </a:lnSpc>
                      </a:pPr>
                      <a:r>
                        <a:rPr sz="700" b="1">
                          <a:solidFill>
                            <a:srgbClr val="E67E22"/>
                          </a:solidFill>
                          <a:latin typeface="Arial"/>
                        </a:rPr>
                        <a:t>&amp; đề xuất tăng số đội V.League</a:t>
                      </a:r>
                    </a:p>
                  </a:txBody>
                  <a:tcPr anchor="ctr" marL="27432" marR="27432" marT="9144" marB="9144">
                    <a:solidFill>
                      <a:srgbClr val="FFF6E8"/>
                    </a:solidFill>
                  </a:tcPr>
                </a:tc>
                <a:tc>
                  <a:txBody>
                    <a:bodyPr wrap="square"/>
                    <a:lstStyle/>
                    <a:p>
                      <a:pPr algn="ctr">
                        <a:lnSpc>
                          <a:spcPct val="103000"/>
                        </a:lnSpc>
                      </a:pPr>
                      <a:r>
                        <a:rPr sz="710" b="1">
                          <a:solidFill>
                            <a:srgbClr val="0B1528"/>
                          </a:solidFill>
                          <a:latin typeface="Arial"/>
                        </a:rPr>
                        <a:t>8 bài báo</a:t>
                      </a:r>
                    </a:p>
                    <a:p>
                      <a:pPr algn="ctr">
                        <a:lnSpc>
                          <a:spcPct val="103000"/>
                        </a:lnSpc>
                      </a:pPr>
                      <a:r>
                        <a:rPr sz="710" b="1">
                          <a:solidFill>
                            <a:srgbClr val="0B1528"/>
                          </a:solidFill>
                          <a:latin typeface="Arial"/>
                        </a:rPr>
                        <a:t>(03–20/10)</a:t>
                      </a:r>
                    </a:p>
                  </a:txBody>
                  <a:tcPr anchor="ctr" marL="27432" marR="27432" marT="9144" marB="9144">
                    <a:solidFill>
                      <a:srgbClr val="FFF6E8"/>
                    </a:solidFill>
                  </a:tcPr>
                </a:tc>
                <a:tc>
                  <a:txBody>
                    <a:bodyPr wrap="square"/>
                    <a:lstStyle/>
                    <a:p>
                      <a:pPr algn="ctr">
                        <a:lnSpc>
                          <a:spcPct val="103000"/>
                        </a:lnSpc>
                      </a:pPr>
                      <a:r>
                        <a:rPr sz="700" b="0">
                          <a:solidFill>
                            <a:srgbClr val="121C2D"/>
                          </a:solidFill>
                          <a:latin typeface="Arial"/>
                        </a:rPr>
                        <a:t>32 bình luận Web</a:t>
                      </a:r>
                    </a:p>
                    <a:p>
                      <a:pPr algn="ctr">
                        <a:lnSpc>
                          <a:spcPct val="103000"/>
                        </a:lnSpc>
                      </a:pPr>
                      <a:r>
                        <a:rPr sz="700" b="0">
                          <a:solidFill>
                            <a:srgbClr val="121C2D"/>
                          </a:solidFill>
                          <a:latin typeface="Arial"/>
                        </a:rPr>
                        <a:t>(Chia 2 luồng)</a:t>
                      </a:r>
                    </a:p>
                  </a:txBody>
                  <a:tcPr anchor="ctr" marL="27432" marR="27432" marT="9144" marB="9144">
                    <a:solidFill>
                      <a:srgbClr val="FFF6E8"/>
                    </a:solidFill>
                  </a:tcPr>
                </a:tc>
                <a:tc>
                  <a:txBody>
                    <a:bodyPr wrap="square"/>
                    <a:lstStyle/>
                    <a:p>
                      <a:pPr algn="l">
                        <a:lnSpc>
                          <a:spcPct val="103000"/>
                        </a:lnSpc>
                      </a:pPr>
                      <a:r>
                        <a:rPr sz="700" b="1">
                          <a:solidFill>
                            <a:srgbClr val="121C2D"/>
                          </a:solidFill>
                          <a:latin typeface="Arial"/>
                        </a:rPr>
                        <a:t>Mở màn cuộc tranh luận từ ngày 03–04/10 với ý kiến của Bầu Đức và sau đó đăng đề xuất mở rộng V.League của Bầu Thụy</a:t>
                      </a:r>
                    </a:p>
                  </a:txBody>
                  <a:tcPr anchor="ctr" marL="27432" marR="27432" marT="9144" marB="9144">
                    <a:solidFill>
                      <a:srgbClr val="FFF6E8"/>
                    </a:solidFill>
                  </a:tcPr>
                </a:tc>
                <a:tc>
                  <a:txBody>
                    <a:bodyPr wrap="square"/>
                    <a:lstStyle/>
                    <a:p>
                      <a:pPr algn="l">
                        <a:lnSpc>
                          <a:spcPct val="103000"/>
                        </a:lnSpc>
                      </a:pPr>
                      <a:r>
                        <a:rPr sz="670" b="0">
                          <a:solidFill>
                            <a:srgbClr val="121C2D"/>
                          </a:solidFill>
                          <a:latin typeface="Arial"/>
                        </a:rPr>
                        <a:t>NGÒI NỔ ĐẦU TIÊN CỦA CHIẾN DỊCH: Tạo tiền đề truyền thông trước khi các kênh MXH đẩy tên ứng viên cụ thể.</a:t>
                      </a:r>
                    </a:p>
                  </a:txBody>
                  <a:tcPr anchor="ctr" marL="36576" marR="36576" marT="9144" marB="9144">
                    <a:solidFill>
                      <a:srgbClr val="FFF6E8"/>
                    </a:solidFill>
                  </a:tcPr>
                </a:tc>
              </a:tr>
            </a:tbl>
          </a:graphicData>
        </a:graphic>
      </p:graphicFrame>
      <p:sp>
        <p:nvSpPr>
          <p:cNvPr id="10" name="Rectangle 9"/>
          <p:cNvSpPr/>
          <p:nvPr/>
        </p:nvSpPr>
        <p:spPr>
          <a:xfrm>
            <a:off x="182880" y="6382512"/>
            <a:ext cx="11823192" cy="347472"/>
          </a:xfrm>
          <a:prstGeom prst="rect">
            <a:avLst/>
          </a:prstGeom>
          <a:solidFill>
            <a:srgbClr val="0B15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92608" y="6409944"/>
            <a:ext cx="11612880" cy="292608"/>
          </a:xfrm>
          <a:prstGeom prst="rect">
            <a:avLst/>
          </a:prstGeom>
          <a:noFill/>
        </p:spPr>
        <p:txBody>
          <a:bodyPr wrap="square" anchor="ctr" lIns="45720" rIns="45720" tIns="27432" bIns="27432">
            <a:spAutoFit/>
          </a:bodyPr>
          <a:lstStyle/>
          <a:p>
            <a:pPr algn="l">
              <a:lnSpc>
                <a:spcPct val="112000"/>
              </a:lnSpc>
            </a:pPr>
            <a:r>
              <a:rPr sz="800" b="1">
                <a:solidFill>
                  <a:srgbClr val="F5B400"/>
                </a:solidFill>
                <a:latin typeface="Arial"/>
              </a:rPr>
              <a:t>TỔNG KẾT BÁO CHÍNH THỐNG (78 BÀI): Phân cực rõ giữa Khối Báo Thể thao &amp; Cơ quan Trung ương (35 bài = 44,9% bảo vệ uy tín TS. Tuấn) và Khối Báo Kinh tế (24 bài = 30,8% đẩy sóng đề cử &amp; cam kết 1.000 tỷ của Bầu Thụy).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6FA"/>
        </a:solidFill>
        <a:effectLst/>
      </p:bgPr>
    </p:bg>
    <p:spTree>
      <p:nvGrpSpPr>
        <p:cNvPr id="1" name=""/>
        <p:cNvGrpSpPr/>
        <p:nvPr/>
      </p:nvGrpSpPr>
      <p:grpSpPr/>
      <p:sp>
        <p:nvSpPr>
          <p:cNvPr id="2" name="Rectangle 1"/>
          <p:cNvSpPr/>
          <p:nvPr/>
        </p:nvSpPr>
        <p:spPr>
          <a:xfrm>
            <a:off x="0" y="0"/>
            <a:ext cx="4059936" cy="54864"/>
          </a:xfrm>
          <a:prstGeom prst="rect">
            <a:avLst/>
          </a:prstGeom>
          <a:solidFill>
            <a:srgbClr val="1560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059936" y="0"/>
            <a:ext cx="4069080" cy="54864"/>
          </a:xfrm>
          <a:prstGeom prst="rect">
            <a:avLst/>
          </a:prstGeom>
          <a:solidFill>
            <a:srgbClr val="F5B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129016" y="0"/>
            <a:ext cx="4059936" cy="54864"/>
          </a:xfrm>
          <a:prstGeom prst="rect">
            <a:avLst/>
          </a:prstGeom>
          <a:solidFill>
            <a:srgbClr val="D627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54864"/>
            <a:ext cx="12191695" cy="786384"/>
          </a:xfrm>
          <a:prstGeom prst="rect">
            <a:avLst/>
          </a:prstGeom>
          <a:solidFill>
            <a:srgbClr val="0B15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01168" y="128016"/>
            <a:ext cx="2029968" cy="274320"/>
          </a:xfrm>
          <a:prstGeom prst="rect">
            <a:avLst/>
          </a:prstGeom>
          <a:solidFill>
            <a:srgbClr val="1560D4"/>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860" b="1">
                <a:solidFill>
                  <a:srgbClr val="F5B400"/>
                </a:solidFill>
                <a:latin typeface="Arial"/>
              </a:rPr>
              <a:t>US ELECTION WAR-ROOM • SLIDE 6A</a:t>
            </a:r>
          </a:p>
        </p:txBody>
      </p:sp>
      <p:sp>
        <p:nvSpPr>
          <p:cNvPr id="7" name="TextBox 6"/>
          <p:cNvSpPr txBox="1"/>
          <p:nvPr/>
        </p:nvSpPr>
        <p:spPr>
          <a:xfrm>
            <a:off x="2286000" y="109728"/>
            <a:ext cx="9738360" cy="310896"/>
          </a:xfrm>
          <a:prstGeom prst="rect">
            <a:avLst/>
          </a:prstGeom>
          <a:noFill/>
        </p:spPr>
        <p:txBody>
          <a:bodyPr wrap="square" anchor="ctr" lIns="45720" rIns="45720" tIns="27432" bIns="27432">
            <a:spAutoFit/>
          </a:bodyPr>
          <a:lstStyle/>
          <a:p>
            <a:pPr algn="l">
              <a:lnSpc>
                <a:spcPct val="112000"/>
              </a:lnSpc>
            </a:pPr>
            <a:r>
              <a:rPr sz="1300" b="1">
                <a:solidFill>
                  <a:srgbClr val="FFFFFF"/>
                </a:solidFill>
                <a:latin typeface="Arial"/>
              </a:rPr>
              <a:t>BẢN ĐỒ ĐỊNH DANH KÊNH (PHẦN 1): BÁO CHÍNH THỐNG (78 BÀI) &amp; FACEBOOK (378 KÊNH / 888 BÀI)</a:t>
            </a:r>
          </a:p>
        </p:txBody>
      </p:sp>
      <p:sp>
        <p:nvSpPr>
          <p:cNvPr id="8" name="TextBox 7"/>
          <p:cNvSpPr txBox="1"/>
          <p:nvPr/>
        </p:nvSpPr>
        <p:spPr>
          <a:xfrm>
            <a:off x="201168" y="475488"/>
            <a:ext cx="11795760" cy="292608"/>
          </a:xfrm>
          <a:prstGeom prst="rect">
            <a:avLst/>
          </a:prstGeom>
          <a:noFill/>
        </p:spPr>
        <p:txBody>
          <a:bodyPr wrap="square" anchor="ctr" lIns="45720" rIns="45720" tIns="27432" bIns="27432">
            <a:spAutoFit/>
          </a:bodyPr>
          <a:lstStyle/>
          <a:p>
            <a:pPr algn="l">
              <a:lnSpc>
                <a:spcPct val="112000"/>
              </a:lnSpc>
            </a:pPr>
            <a:r>
              <a:rPr sz="960" b="0">
                <a:solidFill>
                  <a:srgbClr val="C8D4E6"/>
                </a:solidFill>
                <a:latin typeface="Arial"/>
              </a:rPr>
              <a:t>Trả lời câu hỏi của Ứng viên: 'Ai đang ủng hộ tôi? Ai đang phản đối tôi?' với Tên cụ thể, Số bài viết và Số bình luận từng kênh</a:t>
            </a:r>
          </a:p>
        </p:txBody>
      </p:sp>
      <p:sp>
        <p:nvSpPr>
          <p:cNvPr id="9" name="Rectangle 8"/>
          <p:cNvSpPr/>
          <p:nvPr/>
        </p:nvSpPr>
        <p:spPr>
          <a:xfrm>
            <a:off x="190195" y="885139"/>
            <a:ext cx="5800953" cy="5800953"/>
          </a:xfrm>
          <a:prstGeom prst="rect">
            <a:avLst/>
          </a:prstGeom>
          <a:solidFill>
            <a:srgbClr val="D2DA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01168" y="896112"/>
            <a:ext cx="5779008" cy="57790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29184" y="950976"/>
            <a:ext cx="5522976" cy="237744"/>
          </a:xfrm>
          <a:prstGeom prst="rect">
            <a:avLst/>
          </a:prstGeom>
          <a:noFill/>
        </p:spPr>
        <p:txBody>
          <a:bodyPr wrap="square" anchor="t" lIns="45720" rIns="45720" tIns="27432" bIns="27432">
            <a:spAutoFit/>
          </a:bodyPr>
          <a:lstStyle/>
          <a:p>
            <a:pPr algn="l">
              <a:lnSpc>
                <a:spcPct val="112000"/>
              </a:lnSpc>
            </a:pPr>
            <a:r>
              <a:rPr sz="880" b="1">
                <a:solidFill>
                  <a:srgbClr val="0B1528"/>
                </a:solidFill>
                <a:latin typeface="Arial"/>
              </a:rPr>
              <a:t>A. MẶT TRẬN BÁO CHÍNH THỐNG (78 BÀI BÁO — CHIA TÊN CỤ THỂ TỪNG CƠ QUAN BÁO CHÍ)</a:t>
            </a:r>
          </a:p>
        </p:txBody>
      </p:sp>
      <p:sp>
        <p:nvSpPr>
          <p:cNvPr id="12" name="Rectangle 11"/>
          <p:cNvSpPr/>
          <p:nvPr/>
        </p:nvSpPr>
        <p:spPr>
          <a:xfrm>
            <a:off x="318211" y="1232611"/>
            <a:ext cx="5544921" cy="1869033"/>
          </a:xfrm>
          <a:prstGeom prst="rect">
            <a:avLst/>
          </a:prstGeom>
          <a:solidFill>
            <a:srgbClr val="1560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29184" y="1243584"/>
            <a:ext cx="5522976" cy="1847088"/>
          </a:xfrm>
          <a:prstGeom prst="rect">
            <a:avLst/>
          </a:prstGeom>
          <a:solidFill>
            <a:srgbClr val="EBF3FF"/>
          </a:solidFill>
          <a:ln>
            <a:noFill/>
          </a:ln>
        </p:spPr>
        <p:style>
          <a:lnRef idx="1">
            <a:schemeClr val="accent1"/>
          </a:lnRef>
          <a:fillRef idx="3">
            <a:schemeClr val="accent1"/>
          </a:fillRef>
          <a:effectRef idx="2">
            <a:schemeClr val="accent1"/>
          </a:effectRef>
          <a:fontRef idx="minor">
            <a:schemeClr val="lt1"/>
          </a:fontRef>
        </p:style>
        <p:txBody>
          <a:bodyPr rtlCol="0" anchor="t" wrap="square" lIns="82296" rIns="82296" tIns="36576" bIns="36576"/>
          <a:lstStyle/>
          <a:p>
            <a:pPr algn="l">
              <a:lnSpc>
                <a:spcPct val="104000"/>
              </a:lnSpc>
              <a:spcAft>
                <a:spcPts val="200"/>
              </a:spcAft>
            </a:pPr>
            <a:r>
              <a:rPr sz="900" b="1">
                <a:solidFill>
                  <a:srgbClr val="1560D4"/>
                </a:solidFill>
                <a:latin typeface="Arial"/>
              </a:rPr>
              <a:t>1. KHỐI BÁO BẢO VỆ UY TÍN &amp; THÀNH TỰU CỦA TS. TRẦN QUỐC TUẤN (35 BÀI = 44,9%)</a:t>
            </a:r>
          </a:p>
          <a:p>
            <a:pPr algn="l">
              <a:lnSpc>
                <a:spcPct val="104000"/>
              </a:lnSpc>
              <a:spcAft>
                <a:spcPts val="200"/>
              </a:spcAft>
            </a:pPr>
            <a:r>
              <a:rPr sz="810" b="0">
                <a:solidFill>
                  <a:srgbClr val="121C2D"/>
                </a:solidFill>
                <a:latin typeface="Arial"/>
              </a:rPr>
              <a:t>• Cổng thông tin VFF (VFF.org.vn) &amp; Tạp chí Bóng Đá (Bongdaplus — 10 bài báo + 16 bài FB): Nhấn mạnh 7 ĐTQG dự VCK châu Á, ngoại giao FIFA/AFC &amp; công tác Tokyo 20/10.</a:t>
            </a:r>
          </a:p>
          <a:p>
            <a:pPr algn="l">
              <a:lnSpc>
                <a:spcPct val="104000"/>
              </a:lnSpc>
              <a:spcAft>
                <a:spcPts val="200"/>
              </a:spcAft>
            </a:pPr>
            <a:r>
              <a:rPr sz="810" b="0">
                <a:solidFill>
                  <a:srgbClr val="121C2D"/>
                </a:solidFill>
                <a:latin typeface="Arial"/>
              </a:rPr>
              <a:t>• Báo Thanh Niên &amp; Báo Tuổi Trẻ (9 bài): Đưa tin đậm nét hoạt động đối ngoại AFC tại Tokyo (20/10), động viên U15/U17 và tổng kết thành tích nhiệm kỳ IX.</a:t>
            </a:r>
          </a:p>
          <a:p>
            <a:pPr algn="l">
              <a:lnSpc>
                <a:spcPct val="104000"/>
              </a:lnSpc>
              <a:spcAft>
                <a:spcPts val="200"/>
              </a:spcAft>
            </a:pPr>
            <a:r>
              <a:rPr sz="810" b="0">
                <a:solidFill>
                  <a:srgbClr val="121C2D"/>
                </a:solidFill>
                <a:latin typeface="Arial"/>
              </a:rPr>
              <a:t>• VnExpress (6 bài báo + 15 bài FB) &amp; Thethao247.vn (5 bài báo + 10 bài FB, 245 bình luận): Bài đinh 'Dấu ấn bóng đá Việt nhiệm kỳ IX' (19/10) và Hội nghị AFC Nhật Bản.</a:t>
            </a:r>
          </a:p>
          <a:p>
            <a:pPr algn="l">
              <a:lnSpc>
                <a:spcPct val="104000"/>
              </a:lnSpc>
              <a:spcAft>
                <a:spcPts val="0"/>
              </a:spcAft>
            </a:pPr>
            <a:r>
              <a:rPr sz="810" b="0">
                <a:solidFill>
                  <a:srgbClr val="121C2D"/>
                </a:solidFill>
                <a:latin typeface="Arial"/>
              </a:rPr>
              <a:t>• VOV.VN, Báo Nhân Dân, Đồng Tháp, VietnamPlus, VTC News (5 bài): Ca ngợi nền tảng đào tạo trẻ (80 khóa đào tạo, phủ sóng VAR) và uy tín Thường vụ AFC.</a:t>
            </a:r>
          </a:p>
        </p:txBody>
      </p:sp>
      <p:sp>
        <p:nvSpPr>
          <p:cNvPr id="14" name="Rectangle 13"/>
          <p:cNvSpPr/>
          <p:nvPr/>
        </p:nvSpPr>
        <p:spPr>
          <a:xfrm>
            <a:off x="318211" y="3152851"/>
            <a:ext cx="5544921" cy="1375257"/>
          </a:xfrm>
          <a:prstGeom prst="rect">
            <a:avLst/>
          </a:prstGeom>
          <a:solidFill>
            <a:srgbClr val="0E94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29184" y="3163824"/>
            <a:ext cx="5522976" cy="1353312"/>
          </a:xfrm>
          <a:prstGeom prst="rect">
            <a:avLst/>
          </a:prstGeom>
          <a:solidFill>
            <a:srgbClr val="E8F8FA"/>
          </a:solidFill>
          <a:ln>
            <a:noFill/>
          </a:ln>
        </p:spPr>
        <p:style>
          <a:lnRef idx="1">
            <a:schemeClr val="accent1"/>
          </a:lnRef>
          <a:fillRef idx="3">
            <a:schemeClr val="accent1"/>
          </a:fillRef>
          <a:effectRef idx="2">
            <a:schemeClr val="accent1"/>
          </a:effectRef>
          <a:fontRef idx="minor">
            <a:schemeClr val="lt1"/>
          </a:fontRef>
        </p:style>
        <p:txBody>
          <a:bodyPr rtlCol="0" anchor="t" wrap="square" lIns="82296" rIns="82296" tIns="36576" bIns="36576"/>
          <a:lstStyle/>
          <a:p>
            <a:pPr algn="l">
              <a:lnSpc>
                <a:spcPct val="104000"/>
              </a:lnSpc>
              <a:spcAft>
                <a:spcPts val="200"/>
              </a:spcAft>
            </a:pPr>
            <a:r>
              <a:rPr sz="900" b="1">
                <a:solidFill>
                  <a:srgbClr val="0E94A5"/>
                </a:solidFill>
                <a:latin typeface="Arial"/>
              </a:rPr>
              <a:t>2. KHỐI BÁO ĐƯA TIN CÂN BẰNG 3 ỨNG VIÊN &amp; ĐẠI HỘI 04/01/2027 (18 BÀI = 23,1%)</a:t>
            </a:r>
          </a:p>
          <a:p>
            <a:pPr algn="l">
              <a:lnSpc>
                <a:spcPct val="104000"/>
              </a:lnSpc>
              <a:spcAft>
                <a:spcPts val="200"/>
              </a:spcAft>
            </a:pPr>
            <a:r>
              <a:rPr sz="810" b="0">
                <a:solidFill>
                  <a:srgbClr val="121C2D"/>
                </a:solidFill>
                <a:latin typeface="Arial"/>
              </a:rPr>
              <a:t>• Báo Lao Động &amp; VTC News (6 bài báo + trang Góc nhìn thể thao 67 bình luận): Đưa tin chuẩn mực 3 ứng viên đủ điều kiện (Tuấn, Thụy, Vũ) và lịch Đại hội dự kiến 04/01/2027.</a:t>
            </a:r>
          </a:p>
          <a:p>
            <a:pPr algn="l">
              <a:lnSpc>
                <a:spcPct val="104000"/>
              </a:lnSpc>
              <a:spcAft>
                <a:spcPts val="200"/>
              </a:spcAft>
            </a:pPr>
            <a:r>
              <a:rPr sz="810" b="0">
                <a:solidFill>
                  <a:srgbClr val="121C2D"/>
                </a:solidFill>
                <a:latin typeface="Arial"/>
              </a:rPr>
              <a:t>• Thể Thao &amp; Văn Hóa (TTXVN — 3 bài báo + 3 bài FB) &amp; Báo Tiền Phong (4 bài): Phân tích 'Cuộc đua giữa doanh nhân và nhà quản lý bóng đá', gợi mở mô hình kết hợp.</a:t>
            </a:r>
          </a:p>
          <a:p>
            <a:pPr algn="l">
              <a:lnSpc>
                <a:spcPct val="104000"/>
              </a:lnSpc>
              <a:spcAft>
                <a:spcPts val="0"/>
              </a:spcAft>
            </a:pPr>
            <a:r>
              <a:rPr sz="810" b="0">
                <a:solidFill>
                  <a:srgbClr val="121C2D"/>
                </a:solidFill>
                <a:latin typeface="Arial"/>
              </a:rPr>
              <a:t>• Báo Bóng Đá, Sport5, Bongda24h.vn, Webthethao.vn, Đọc Nhanh (5 bài): Tổng hợp đa chiều ý kiến chuyên gia và tiêu chuẩn nhân sự khóa X.</a:t>
            </a:r>
          </a:p>
        </p:txBody>
      </p:sp>
      <p:sp>
        <p:nvSpPr>
          <p:cNvPr id="16" name="Rectangle 15"/>
          <p:cNvSpPr/>
          <p:nvPr/>
        </p:nvSpPr>
        <p:spPr>
          <a:xfrm>
            <a:off x="318211" y="4579315"/>
            <a:ext cx="5544921" cy="1430121"/>
          </a:xfrm>
          <a:prstGeom prst="rect">
            <a:avLst/>
          </a:prstGeom>
          <a:solidFill>
            <a:srgbClr val="D627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29184" y="4590288"/>
            <a:ext cx="5522976" cy="1408176"/>
          </a:xfrm>
          <a:prstGeom prst="rect">
            <a:avLst/>
          </a:prstGeom>
          <a:solidFill>
            <a:srgbClr val="FEEEEE"/>
          </a:solidFill>
          <a:ln>
            <a:noFill/>
          </a:ln>
        </p:spPr>
        <p:style>
          <a:lnRef idx="1">
            <a:schemeClr val="accent1"/>
          </a:lnRef>
          <a:fillRef idx="3">
            <a:schemeClr val="accent1"/>
          </a:fillRef>
          <a:effectRef idx="2">
            <a:schemeClr val="accent1"/>
          </a:effectRef>
          <a:fontRef idx="minor">
            <a:schemeClr val="lt1"/>
          </a:fontRef>
        </p:style>
        <p:txBody>
          <a:bodyPr rtlCol="0" anchor="t" wrap="square" lIns="82296" rIns="82296" tIns="36576" bIns="36576"/>
          <a:lstStyle/>
          <a:p>
            <a:pPr algn="l">
              <a:lnSpc>
                <a:spcPct val="104000"/>
              </a:lnSpc>
              <a:spcAft>
                <a:spcPts val="200"/>
              </a:spcAft>
            </a:pPr>
            <a:r>
              <a:rPr sz="900" b="1">
                <a:solidFill>
                  <a:srgbClr val="D62728"/>
                </a:solidFill>
                <a:latin typeface="Arial"/>
              </a:rPr>
              <a:t>3. KHỐI BÁO KINH TẾ - TÀI CHÍNH ĐẨY SÓNG BẦU THỤY (24 BÀI = 30,8%)</a:t>
            </a:r>
          </a:p>
          <a:p>
            <a:pPr algn="l">
              <a:lnSpc>
                <a:spcPct val="104000"/>
              </a:lnSpc>
              <a:spcAft>
                <a:spcPts val="200"/>
              </a:spcAft>
            </a:pPr>
            <a:r>
              <a:rPr sz="810" b="0">
                <a:solidFill>
                  <a:srgbClr val="121C2D"/>
                </a:solidFill>
                <a:latin typeface="Arial"/>
              </a:rPr>
              <a:t>• CafeF, VietnamFinance &amp; VietNamBiz (9 bài báo + 3 bài FB, 47 bình luận): Cao điểm 19–22/10 giật tít 'Bầu Hiển, Bầu Đức ủng hộ Bầu Thụy' &amp; 'Cam kết huy động 600–1.000 tỷ/năm'.</a:t>
            </a:r>
          </a:p>
          <a:p>
            <a:pPr algn="l">
              <a:lnSpc>
                <a:spcPct val="104000"/>
              </a:lnSpc>
              <a:spcAft>
                <a:spcPts val="200"/>
              </a:spcAft>
            </a:pPr>
            <a:r>
              <a:rPr sz="810" b="0">
                <a:solidFill>
                  <a:srgbClr val="121C2D"/>
                </a:solidFill>
                <a:latin typeface="Arial"/>
              </a:rPr>
              <a:t>• VietTimes, Mekong ASEAN, Thị Trường Tài Chính &amp; Tạp chí Doanh Nhân (5 bài): Nhấn mạnh thông điệp 'Tự chủ tài chính, không dùng ngân sách Nhà nước' (21–22/10).</a:t>
            </a:r>
          </a:p>
          <a:p>
            <a:pPr algn="l">
              <a:lnSpc>
                <a:spcPct val="104000"/>
              </a:lnSpc>
              <a:spcAft>
                <a:spcPts val="0"/>
              </a:spcAft>
            </a:pPr>
            <a:r>
              <a:rPr sz="810" b="0">
                <a:solidFill>
                  <a:srgbClr val="121C2D"/>
                </a:solidFill>
                <a:latin typeface="Arial"/>
              </a:rPr>
              <a:t>• Báo Dân Trí, Znews (8 bài FB), SGGP Thể Thao, SaoStar, Người Đưa Tin (10 bài): Đưa tin '&gt;40/57 đơn vị đề cử Bầu Thụy' và đề xuất nâng V.League lên 16–18 đội.</a:t>
            </a:r>
          </a:p>
        </p:txBody>
      </p:sp>
      <p:sp>
        <p:nvSpPr>
          <p:cNvPr id="18" name="Rectangle 17"/>
          <p:cNvSpPr/>
          <p:nvPr/>
        </p:nvSpPr>
        <p:spPr>
          <a:xfrm>
            <a:off x="318211" y="6060643"/>
            <a:ext cx="5544921" cy="534009"/>
          </a:xfrm>
          <a:prstGeom prst="rect">
            <a:avLst/>
          </a:prstGeom>
          <a:solidFill>
            <a:srgbClr val="444E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29184" y="6071616"/>
            <a:ext cx="5522976" cy="512064"/>
          </a:xfrm>
          <a:prstGeom prst="rect">
            <a:avLst/>
          </a:prstGeom>
          <a:solidFill>
            <a:srgbClr val="F1F3F7"/>
          </a:solidFill>
          <a:ln>
            <a:noFill/>
          </a:ln>
        </p:spPr>
        <p:style>
          <a:lnRef idx="1">
            <a:schemeClr val="accent1"/>
          </a:lnRef>
          <a:fillRef idx="3">
            <a:schemeClr val="accent1"/>
          </a:fillRef>
          <a:effectRef idx="2">
            <a:schemeClr val="accent1"/>
          </a:effectRef>
          <a:fontRef idx="minor">
            <a:schemeClr val="lt1"/>
          </a:fontRef>
        </p:style>
        <p:txBody>
          <a:bodyPr rtlCol="0" anchor="t" wrap="square" lIns="82296" rIns="82296" tIns="36576" bIns="36576"/>
          <a:lstStyle/>
          <a:p>
            <a:pPr algn="l">
              <a:lnSpc>
                <a:spcPct val="103000"/>
              </a:lnSpc>
              <a:spcAft>
                <a:spcPts val="0"/>
              </a:spcAft>
            </a:pPr>
            <a:r>
              <a:rPr sz="800" b="1">
                <a:solidFill>
                  <a:srgbClr val="444E5E"/>
                </a:solidFill>
                <a:latin typeface="Arial"/>
              </a:rPr>
              <a:t>4. BÁO PHẢN BIỆN / ĐÍNH CHÍNH TIN ĐỒN (1 BÀI TRỰC DIỆN = 1,3%): 24h.com.vn (Dẫn nguồn Tiền Phong) &amp; SaoStar — Đính chính Bầu Đức không tranh cử và cảnh báo không thể dùng tiền cá nhân thay thế quy trình thể chế.</a:t>
            </a:r>
          </a:p>
        </p:txBody>
      </p:sp>
      <p:sp>
        <p:nvSpPr>
          <p:cNvPr id="20" name="Rectangle 19"/>
          <p:cNvSpPr/>
          <p:nvPr/>
        </p:nvSpPr>
        <p:spPr>
          <a:xfrm>
            <a:off x="6197803" y="885139"/>
            <a:ext cx="5800953" cy="5800953"/>
          </a:xfrm>
          <a:prstGeom prst="rect">
            <a:avLst/>
          </a:prstGeom>
          <a:solidFill>
            <a:srgbClr val="D2DA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08776" y="896112"/>
            <a:ext cx="5779008" cy="57790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36792" y="950976"/>
            <a:ext cx="5522976" cy="237744"/>
          </a:xfrm>
          <a:prstGeom prst="rect">
            <a:avLst/>
          </a:prstGeom>
          <a:noFill/>
        </p:spPr>
        <p:txBody>
          <a:bodyPr wrap="square" anchor="t" lIns="45720" rIns="45720" tIns="27432" bIns="27432">
            <a:spAutoFit/>
          </a:bodyPr>
          <a:lstStyle/>
          <a:p>
            <a:pPr algn="l">
              <a:lnSpc>
                <a:spcPct val="112000"/>
              </a:lnSpc>
            </a:pPr>
            <a:r>
              <a:rPr sz="880" b="1">
                <a:solidFill>
                  <a:srgbClr val="0B1528"/>
                </a:solidFill>
                <a:latin typeface="Arial"/>
              </a:rPr>
              <a:t>B. MẶT TRẬN FACEBOOK (378 KÊNH / 888 BÀI DANH BẠ / 665 BÀI XÁC THỰC / 10.133 BÌNH LUẬN)</a:t>
            </a:r>
          </a:p>
        </p:txBody>
      </p:sp>
      <p:sp>
        <p:nvSpPr>
          <p:cNvPr id="23" name="Rectangle 22"/>
          <p:cNvSpPr/>
          <p:nvPr/>
        </p:nvSpPr>
        <p:spPr>
          <a:xfrm>
            <a:off x="6325819" y="1232611"/>
            <a:ext cx="5544921" cy="1869033"/>
          </a:xfrm>
          <a:prstGeom prst="rect">
            <a:avLst/>
          </a:prstGeom>
          <a:solidFill>
            <a:srgbClr val="1560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336792" y="1243584"/>
            <a:ext cx="5522976" cy="1847088"/>
          </a:xfrm>
          <a:prstGeom prst="rect">
            <a:avLst/>
          </a:prstGeom>
          <a:solidFill>
            <a:srgbClr val="EBF3FF"/>
          </a:solidFill>
          <a:ln>
            <a:noFill/>
          </a:ln>
        </p:spPr>
        <p:style>
          <a:lnRef idx="1">
            <a:schemeClr val="accent1"/>
          </a:lnRef>
          <a:fillRef idx="3">
            <a:schemeClr val="accent1"/>
          </a:fillRef>
          <a:effectRef idx="2">
            <a:schemeClr val="accent1"/>
          </a:effectRef>
          <a:fontRef idx="minor">
            <a:schemeClr val="lt1"/>
          </a:fontRef>
        </p:style>
        <p:txBody>
          <a:bodyPr rtlCol="0" anchor="t" wrap="square" lIns="82296" rIns="82296" tIns="36576" bIns="36576"/>
          <a:lstStyle/>
          <a:p>
            <a:pPr algn="l">
              <a:lnSpc>
                <a:spcPct val="104000"/>
              </a:lnSpc>
              <a:spcAft>
                <a:spcPts val="200"/>
              </a:spcAft>
            </a:pPr>
            <a:r>
              <a:rPr sz="890" b="1">
                <a:solidFill>
                  <a:srgbClr val="1560D4"/>
                </a:solidFill>
                <a:latin typeface="Arial"/>
              </a:rPr>
              <a:t>1. NHÓM FANPAGE BẢO VỆ &amp; ỦNG HỘ TS. TRẦN QUỐC TUẤN (296 BÀI XÁC THỰC / 395 DANH BẠ = 44,5%)</a:t>
            </a:r>
          </a:p>
          <a:p>
            <a:pPr algn="l">
              <a:lnSpc>
                <a:spcPct val="104000"/>
              </a:lnSpc>
              <a:spcAft>
                <a:spcPts val="200"/>
              </a:spcAft>
            </a:pPr>
            <a:r>
              <a:rPr sz="810" b="0">
                <a:solidFill>
                  <a:srgbClr val="121C2D"/>
                </a:solidFill>
                <a:latin typeface="Arial"/>
              </a:rPr>
              <a:t>• Fanpage Chính thức Liên đoàn Bóng đá VN - VFF (68 yêu cầu / 71 bài xác thực, 1.078 bình luận, 48.498 cảm xúc): Kênh có lượng bài và tương tác lớn nhất toàn mạng xã hội.</a:t>
            </a:r>
          </a:p>
          <a:p>
            <a:pPr algn="l">
              <a:lnSpc>
                <a:spcPct val="104000"/>
              </a:lnSpc>
              <a:spcAft>
                <a:spcPts val="200"/>
              </a:spcAft>
            </a:pPr>
            <a:r>
              <a:rPr sz="810" b="0">
                <a:solidFill>
                  <a:srgbClr val="121C2D"/>
                </a:solidFill>
                <a:latin typeface="Arial"/>
              </a:rPr>
              <a:t>• Fanpage 'Anh Em Bóng Đá' (4 bài xác thực, 205 bình luận, 5.714 cảm xúc) &amp; 'HattrickSport' (6 bài xác thực, 141 bình luận, 13.452 cảm xúc): Phản biện sắc bén vụ Madam Pang/Thohir, bảo vệ TS. Tuấn.</a:t>
            </a:r>
          </a:p>
          <a:p>
            <a:pPr algn="l">
              <a:lnSpc>
                <a:spcPct val="104000"/>
              </a:lnSpc>
              <a:spcAft>
                <a:spcPts val="200"/>
              </a:spcAft>
            </a:pPr>
            <a:r>
              <a:rPr sz="810" b="0">
                <a:solidFill>
                  <a:srgbClr val="121C2D"/>
                </a:solidFill>
                <a:latin typeface="Arial"/>
              </a:rPr>
              <a:t>• 'Ted Trần TV' (14 bài, 295 bình luận), 'Mai Anh Tài' (5 bài, 303 bình luận), 'Thethao247.vn' (10 bài, 245 bình luận), 'Yêu Bóng Đá VN' (7 bài, 152 bình luận), 'Cuồng nhiệt BĐVN' (6 bài, 115 bình luận).</a:t>
            </a:r>
          </a:p>
          <a:p>
            <a:pPr algn="l">
              <a:lnSpc>
                <a:spcPct val="104000"/>
              </a:lnSpc>
              <a:spcAft>
                <a:spcPts val="0"/>
              </a:spcAft>
            </a:pPr>
            <a:r>
              <a:rPr sz="810" b="0">
                <a:solidFill>
                  <a:srgbClr val="121C2D"/>
                </a:solidFill>
                <a:latin typeface="Arial"/>
              </a:rPr>
              <a:t>• Các trang chuyên môn khác: 'The Playmaker' (3 bài, 111 bình luận), 'Rùa Cột Dọc' (8 bài, 96 bình luận), 'BóngđáViệt 360' (3 bài, 89 bình luận), 'Phạm Minh Hiếu' (2 bài, 60 bình luận).</a:t>
            </a:r>
          </a:p>
        </p:txBody>
      </p:sp>
      <p:sp>
        <p:nvSpPr>
          <p:cNvPr id="25" name="Rectangle 24"/>
          <p:cNvSpPr/>
          <p:nvPr/>
        </p:nvSpPr>
        <p:spPr>
          <a:xfrm>
            <a:off x="6325819" y="3152851"/>
            <a:ext cx="5544921" cy="1375257"/>
          </a:xfrm>
          <a:prstGeom prst="rect">
            <a:avLst/>
          </a:prstGeom>
          <a:solidFill>
            <a:srgbClr val="0E94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336792" y="3163824"/>
            <a:ext cx="5522976" cy="1353312"/>
          </a:xfrm>
          <a:prstGeom prst="rect">
            <a:avLst/>
          </a:prstGeom>
          <a:solidFill>
            <a:srgbClr val="E8F8FA"/>
          </a:solidFill>
          <a:ln>
            <a:noFill/>
          </a:ln>
        </p:spPr>
        <p:style>
          <a:lnRef idx="1">
            <a:schemeClr val="accent1"/>
          </a:lnRef>
          <a:fillRef idx="3">
            <a:schemeClr val="accent1"/>
          </a:fillRef>
          <a:effectRef idx="2">
            <a:schemeClr val="accent1"/>
          </a:effectRef>
          <a:fontRef idx="minor">
            <a:schemeClr val="lt1"/>
          </a:fontRef>
        </p:style>
        <p:txBody>
          <a:bodyPr rtlCol="0" anchor="t" wrap="square" lIns="82296" rIns="82296" tIns="36576" bIns="36576"/>
          <a:lstStyle/>
          <a:p>
            <a:pPr algn="l">
              <a:lnSpc>
                <a:spcPct val="104000"/>
              </a:lnSpc>
              <a:spcAft>
                <a:spcPts val="200"/>
              </a:spcAft>
            </a:pPr>
            <a:r>
              <a:rPr sz="890" b="1">
                <a:solidFill>
                  <a:srgbClr val="0E94A5"/>
                </a:solidFill>
                <a:latin typeface="Arial"/>
              </a:rPr>
              <a:t>2. NHÓM KÊNH MỞ KHẢO SÁT ĐA CHIỀU — NHƯNG ĐỘC GIẢ BÌNH LUẬN CHỌN TS. TUẤN (142 BÀI XÁC THỰC = 21,4%)</a:t>
            </a:r>
          </a:p>
          <a:p>
            <a:pPr algn="l">
              <a:lnSpc>
                <a:spcPct val="104000"/>
              </a:lnSpc>
              <a:spcAft>
                <a:spcPts val="200"/>
              </a:spcAft>
            </a:pPr>
            <a:r>
              <a:rPr sz="810" b="0">
                <a:solidFill>
                  <a:srgbClr val="121C2D"/>
                </a:solidFill>
                <a:latin typeface="Arial"/>
              </a:rPr>
              <a:t>• Hệ sinh thái 'BLV Tạ Biên Cương' (21 bài yêu cầu / 20 bài xác thực, 530 bình luận) &amp; 'BLV Tạ Biên Cương Connect' (4 bài xác thực, 221 bình luận): Tổng 751 bình luận, đa số nghiêng về TS. Tuấn + Liên danh 1.</a:t>
            </a:r>
          </a:p>
          <a:p>
            <a:pPr algn="l">
              <a:lnSpc>
                <a:spcPct val="104000"/>
              </a:lnSpc>
              <a:spcAft>
                <a:spcPts val="200"/>
              </a:spcAft>
            </a:pPr>
            <a:r>
              <a:rPr sz="810" b="0">
                <a:solidFill>
                  <a:srgbClr val="121C2D"/>
                </a:solidFill>
                <a:latin typeface="Arial"/>
              </a:rPr>
              <a:t>• KOL 'Tuyền Văn Hóa' (10 bài, 348 bình luận), 'BLV Anh Quân' (5 bài, 281 bình luận), 'Nguyễn Minh Châu' (10 bài, 127 bình luận), 'Ghiền Bóng Đá TV' (2 bài, 154 bình luận).</a:t>
            </a:r>
          </a:p>
          <a:p>
            <a:pPr algn="l">
              <a:lnSpc>
                <a:spcPct val="104000"/>
              </a:lnSpc>
              <a:spcAft>
                <a:spcPts val="0"/>
              </a:spcAft>
            </a:pPr>
            <a:r>
              <a:rPr sz="810" b="0">
                <a:solidFill>
                  <a:srgbClr val="121C2D"/>
                </a:solidFill>
                <a:latin typeface="Arial"/>
              </a:rPr>
              <a:t>• Siêu Fanpage 'Theanh28 Entertainment' (17 bình luận), 'Thể Thao Việt Nam' (12 bài, 27 bình luận), 'Thể Thao 247' (6 bài, 35 bình luận), 'Ở đây chúng tôi cố giữ cho longform...' (3 bài, 73 bình luận).</a:t>
            </a:r>
          </a:p>
        </p:txBody>
      </p:sp>
      <p:sp>
        <p:nvSpPr>
          <p:cNvPr id="27" name="Rectangle 26"/>
          <p:cNvSpPr/>
          <p:nvPr/>
        </p:nvSpPr>
        <p:spPr>
          <a:xfrm>
            <a:off x="6325819" y="4579315"/>
            <a:ext cx="5544921" cy="1430121"/>
          </a:xfrm>
          <a:prstGeom prst="rect">
            <a:avLst/>
          </a:prstGeom>
          <a:solidFill>
            <a:srgbClr val="D627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336792" y="4590288"/>
            <a:ext cx="5522976" cy="1408176"/>
          </a:xfrm>
          <a:prstGeom prst="rect">
            <a:avLst/>
          </a:prstGeom>
          <a:solidFill>
            <a:srgbClr val="FEEEEE"/>
          </a:solidFill>
          <a:ln>
            <a:noFill/>
          </a:ln>
        </p:spPr>
        <p:style>
          <a:lnRef idx="1">
            <a:schemeClr val="accent1"/>
          </a:lnRef>
          <a:fillRef idx="3">
            <a:schemeClr val="accent1"/>
          </a:fillRef>
          <a:effectRef idx="2">
            <a:schemeClr val="accent1"/>
          </a:effectRef>
          <a:fontRef idx="minor">
            <a:schemeClr val="lt1"/>
          </a:fontRef>
        </p:style>
        <p:txBody>
          <a:bodyPr rtlCol="0" anchor="t" wrap="square" lIns="82296" rIns="82296" tIns="36576" bIns="36576"/>
          <a:lstStyle/>
          <a:p>
            <a:pPr algn="l">
              <a:lnSpc>
                <a:spcPct val="104000"/>
              </a:lnSpc>
              <a:spcAft>
                <a:spcPts val="200"/>
              </a:spcAft>
            </a:pPr>
            <a:r>
              <a:rPr sz="890" b="1">
                <a:solidFill>
                  <a:srgbClr val="D62728"/>
                </a:solidFill>
                <a:latin typeface="Arial"/>
              </a:rPr>
              <a:t>3. NHÓM KÊNH KHỞI PHÁT &amp; SEEDING ĐẨY SÓNG BẦU THỤY (198 BÀI XÁC THỰC / 264 DANH BẠ = 29,8%)</a:t>
            </a:r>
          </a:p>
          <a:p>
            <a:pPr algn="l">
              <a:lnSpc>
                <a:spcPct val="104000"/>
              </a:lnSpc>
              <a:spcAft>
                <a:spcPts val="200"/>
              </a:spcAft>
            </a:pPr>
            <a:r>
              <a:rPr sz="810" b="0">
                <a:solidFill>
                  <a:srgbClr val="121C2D"/>
                </a:solidFill>
                <a:latin typeface="Arial"/>
              </a:rPr>
              <a:t>• Kênh khởi phát tin đồn: 'iThethao TV' (iThethao.vn — bài gốc FB-OCT-95 ngày 17/10 đạt 81 bình luận + hơn 10 bài hội nhóm dẫn 'Nguồn iThethao TV' như Hưng Yên FC).</a:t>
            </a:r>
          </a:p>
          <a:p>
            <a:pPr algn="l">
              <a:lnSpc>
                <a:spcPct val="104000"/>
              </a:lnSpc>
              <a:spcAft>
                <a:spcPts val="200"/>
              </a:spcAft>
            </a:pPr>
            <a:r>
              <a:rPr sz="810" b="0">
                <a:solidFill>
                  <a:srgbClr val="121C2D"/>
                </a:solidFill>
                <a:latin typeface="Arial"/>
              </a:rPr>
              <a:t>• Cụm Seeding lớn nhất: Tài khoản 'Phấn Đấu' (33 bài yêu cầu / 22 bài xác thực, 64 bình luận) + 'Bóng Đá 24h' (18 bài) + 'Mạc Thanh Hòa' (17 bài) + '24h New' (13 bài) rải vào VLeague 360 (24 bình luận).</a:t>
            </a:r>
          </a:p>
          <a:p>
            <a:pPr algn="l">
              <a:lnSpc>
                <a:spcPct val="104000"/>
              </a:lnSpc>
              <a:spcAft>
                <a:spcPts val="0"/>
              </a:spcAft>
            </a:pPr>
            <a:r>
              <a:rPr sz="810" b="0">
                <a:solidFill>
                  <a:srgbClr val="121C2D"/>
                </a:solidFill>
                <a:latin typeface="Arial"/>
              </a:rPr>
              <a:t>• Nhóm Page/Reels đẩy tin đề cử: 'Tin Nhanh Bóng Đá' (9 bài), 'PV Việt Hải' (8 bài, 32 bình luận), 'Thể Thao Chuối Chiên TV' (7 bài), 'Đạt Đương Đời' (7 bài), 'BLV Nghiệp Dư' (3 bài, 86 bình luận).</a:t>
            </a:r>
          </a:p>
        </p:txBody>
      </p:sp>
      <p:sp>
        <p:nvSpPr>
          <p:cNvPr id="29" name="Rectangle 28"/>
          <p:cNvSpPr/>
          <p:nvPr/>
        </p:nvSpPr>
        <p:spPr>
          <a:xfrm>
            <a:off x="6325819" y="6060643"/>
            <a:ext cx="5544921" cy="534009"/>
          </a:xfrm>
          <a:prstGeom prst="rect">
            <a:avLst/>
          </a:prstGeom>
          <a:solidFill>
            <a:srgbClr val="444E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336792" y="6071616"/>
            <a:ext cx="5522976" cy="512064"/>
          </a:xfrm>
          <a:prstGeom prst="rect">
            <a:avLst/>
          </a:prstGeom>
          <a:solidFill>
            <a:srgbClr val="F1F3F7"/>
          </a:solidFill>
          <a:ln>
            <a:noFill/>
          </a:ln>
        </p:spPr>
        <p:style>
          <a:lnRef idx="1">
            <a:schemeClr val="accent1"/>
          </a:lnRef>
          <a:fillRef idx="3">
            <a:schemeClr val="accent1"/>
          </a:fillRef>
          <a:effectRef idx="2">
            <a:schemeClr val="accent1"/>
          </a:effectRef>
          <a:fontRef idx="minor">
            <a:schemeClr val="lt1"/>
          </a:fontRef>
        </p:style>
        <p:txBody>
          <a:bodyPr rtlCol="0" anchor="t" wrap="square" lIns="82296" rIns="82296" tIns="36576" bIns="36576"/>
          <a:lstStyle/>
          <a:p>
            <a:pPr algn="l">
              <a:lnSpc>
                <a:spcPct val="103000"/>
              </a:lnSpc>
              <a:spcAft>
                <a:spcPts val="0"/>
              </a:spcAft>
            </a:pPr>
            <a:r>
              <a:rPr sz="800" b="1">
                <a:solidFill>
                  <a:srgbClr val="444E5E"/>
                </a:solidFill>
                <a:latin typeface="Arial"/>
              </a:rPr>
              <a:t>4. NHÓM KÊNH PHẢN BIỆN / ĐÒI CẢI TỔ HOẶC ĐỀ CỬ BẦU ĐỨC (29 BÀI XÁC THỰC = 4,4%): 'Cảm ơn Bầu Đức' (4 bài, 110 bình luận), 'Ultras HAGL' (4 bài, 85 bình luận), 'HAGL đam mê bóng đá' (3 bài, 75 bình luận), 'Đặng Đình Hoàng' (4 bài), 'Pham Hoang' (4 bài).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F6FA"/>
        </a:solidFill>
        <a:effectLst/>
      </p:bgPr>
    </p:bg>
    <p:spTree>
      <p:nvGrpSpPr>
        <p:cNvPr id="1" name=""/>
        <p:cNvGrpSpPr/>
        <p:nvPr/>
      </p:nvGrpSpPr>
      <p:grpSpPr/>
      <p:sp>
        <p:nvSpPr>
          <p:cNvPr id="2" name="Rectangle 1"/>
          <p:cNvSpPr/>
          <p:nvPr/>
        </p:nvSpPr>
        <p:spPr>
          <a:xfrm>
            <a:off x="0" y="0"/>
            <a:ext cx="4059936" cy="54864"/>
          </a:xfrm>
          <a:prstGeom prst="rect">
            <a:avLst/>
          </a:prstGeom>
          <a:solidFill>
            <a:srgbClr val="1560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059936" y="0"/>
            <a:ext cx="4069080" cy="54864"/>
          </a:xfrm>
          <a:prstGeom prst="rect">
            <a:avLst/>
          </a:prstGeom>
          <a:solidFill>
            <a:srgbClr val="F5B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129016" y="0"/>
            <a:ext cx="4059936" cy="54864"/>
          </a:xfrm>
          <a:prstGeom prst="rect">
            <a:avLst/>
          </a:prstGeom>
          <a:solidFill>
            <a:srgbClr val="D627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54864"/>
            <a:ext cx="12191695" cy="786384"/>
          </a:xfrm>
          <a:prstGeom prst="rect">
            <a:avLst/>
          </a:prstGeom>
          <a:solidFill>
            <a:srgbClr val="0B15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01168" y="128016"/>
            <a:ext cx="2029968" cy="274320"/>
          </a:xfrm>
          <a:prstGeom prst="rect">
            <a:avLst/>
          </a:prstGeom>
          <a:solidFill>
            <a:srgbClr val="1560D4"/>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860" b="1">
                <a:solidFill>
                  <a:srgbClr val="F5B400"/>
                </a:solidFill>
                <a:latin typeface="Arial"/>
              </a:rPr>
              <a:t>US ELECTION WAR-ROOM • SLIDE 6B</a:t>
            </a:r>
          </a:p>
        </p:txBody>
      </p:sp>
      <p:sp>
        <p:nvSpPr>
          <p:cNvPr id="7" name="TextBox 6"/>
          <p:cNvSpPr txBox="1"/>
          <p:nvPr/>
        </p:nvSpPr>
        <p:spPr>
          <a:xfrm>
            <a:off x="2286000" y="109728"/>
            <a:ext cx="9738360" cy="310896"/>
          </a:xfrm>
          <a:prstGeom prst="rect">
            <a:avLst/>
          </a:prstGeom>
          <a:noFill/>
        </p:spPr>
        <p:txBody>
          <a:bodyPr wrap="square" anchor="ctr" lIns="45720" rIns="45720" tIns="27432" bIns="27432">
            <a:spAutoFit/>
          </a:bodyPr>
          <a:lstStyle/>
          <a:p>
            <a:pPr algn="l">
              <a:lnSpc>
                <a:spcPct val="112000"/>
              </a:lnSpc>
            </a:pPr>
            <a:r>
              <a:rPr sz="1300" b="1">
                <a:solidFill>
                  <a:srgbClr val="FFFFFF"/>
                </a:solidFill>
                <a:latin typeface="Arial"/>
              </a:rPr>
              <a:t>BẢN ĐỒ ĐỊNH DANH KÊNH (PHẦN 2): YOUTUBE (169 VIDEO / 4.182 bình luận) &amp; TIKTOK (68 VIDEO / 154 bình luận)</a:t>
            </a:r>
          </a:p>
        </p:txBody>
      </p:sp>
      <p:sp>
        <p:nvSpPr>
          <p:cNvPr id="8" name="TextBox 7"/>
          <p:cNvSpPr txBox="1"/>
          <p:nvPr/>
        </p:nvSpPr>
        <p:spPr>
          <a:xfrm>
            <a:off x="201168" y="475488"/>
            <a:ext cx="11795760" cy="292608"/>
          </a:xfrm>
          <a:prstGeom prst="rect">
            <a:avLst/>
          </a:prstGeom>
          <a:noFill/>
        </p:spPr>
        <p:txBody>
          <a:bodyPr wrap="square" anchor="ctr" lIns="45720" rIns="45720" tIns="27432" bIns="27432">
            <a:spAutoFit/>
          </a:bodyPr>
          <a:lstStyle/>
          <a:p>
            <a:pPr algn="l">
              <a:lnSpc>
                <a:spcPct val="112000"/>
              </a:lnSpc>
            </a:pPr>
            <a:r>
              <a:rPr sz="960" b="0">
                <a:solidFill>
                  <a:srgbClr val="C8D4E6"/>
                </a:solidFill>
                <a:latin typeface="Arial"/>
              </a:rPr>
              <a:t>Bóc tách toàn diện 169 video YouTube (82.549 dòng thoại ASR) và 68 video TikTok từ 01/10 đến 22/10/2026 trong kỳ giám sát 01/10 – 22/10/2026</a:t>
            </a:r>
          </a:p>
        </p:txBody>
      </p:sp>
      <p:sp>
        <p:nvSpPr>
          <p:cNvPr id="9" name="Rectangle 8"/>
          <p:cNvSpPr/>
          <p:nvPr/>
        </p:nvSpPr>
        <p:spPr>
          <a:xfrm>
            <a:off x="190195" y="885139"/>
            <a:ext cx="5800953" cy="5800953"/>
          </a:xfrm>
          <a:prstGeom prst="rect">
            <a:avLst/>
          </a:prstGeom>
          <a:solidFill>
            <a:srgbClr val="D2DA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01168" y="896112"/>
            <a:ext cx="5779008" cy="57790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29184" y="950976"/>
            <a:ext cx="5522976" cy="237744"/>
          </a:xfrm>
          <a:prstGeom prst="rect">
            <a:avLst/>
          </a:prstGeom>
          <a:noFill/>
        </p:spPr>
        <p:txBody>
          <a:bodyPr wrap="square" anchor="t" lIns="45720" rIns="45720" tIns="27432" bIns="27432">
            <a:spAutoFit/>
          </a:bodyPr>
          <a:lstStyle/>
          <a:p>
            <a:pPr algn="l">
              <a:lnSpc>
                <a:spcPct val="112000"/>
              </a:lnSpc>
            </a:pPr>
            <a:r>
              <a:rPr sz="880" b="1">
                <a:solidFill>
                  <a:srgbClr val="0B1528"/>
                </a:solidFill>
                <a:latin typeface="Arial"/>
              </a:rPr>
              <a:t>A. MẶT TRẬN YOUTUBE (169 VIDEO • 5.066.831 LƯỢT XEM • 52,05 GIỜ • 82.549 CÂU THOẠI • 4.182 BÌNH LUẬN)</a:t>
            </a:r>
          </a:p>
        </p:txBody>
      </p:sp>
      <p:sp>
        <p:nvSpPr>
          <p:cNvPr id="12" name="Rectangle 11"/>
          <p:cNvSpPr/>
          <p:nvPr/>
        </p:nvSpPr>
        <p:spPr>
          <a:xfrm>
            <a:off x="318211" y="1232611"/>
            <a:ext cx="5544921" cy="1832457"/>
          </a:xfrm>
          <a:prstGeom prst="rect">
            <a:avLst/>
          </a:prstGeom>
          <a:solidFill>
            <a:srgbClr val="1560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29184" y="1243584"/>
            <a:ext cx="5522976" cy="1810512"/>
          </a:xfrm>
          <a:prstGeom prst="rect">
            <a:avLst/>
          </a:prstGeom>
          <a:solidFill>
            <a:srgbClr val="EBF3FF"/>
          </a:solidFill>
          <a:ln>
            <a:noFill/>
          </a:ln>
        </p:spPr>
        <p:style>
          <a:lnRef idx="1">
            <a:schemeClr val="accent1"/>
          </a:lnRef>
          <a:fillRef idx="3">
            <a:schemeClr val="accent1"/>
          </a:fillRef>
          <a:effectRef idx="2">
            <a:schemeClr val="accent1"/>
          </a:effectRef>
          <a:fontRef idx="minor">
            <a:schemeClr val="lt1"/>
          </a:fontRef>
        </p:style>
        <p:txBody>
          <a:bodyPr rtlCol="0" anchor="t" wrap="square" lIns="82296" rIns="82296" tIns="36576" bIns="36576"/>
          <a:lstStyle/>
          <a:p>
            <a:pPr algn="l">
              <a:lnSpc>
                <a:spcPct val="104000"/>
              </a:lnSpc>
              <a:spcAft>
                <a:spcPts val="200"/>
              </a:spcAft>
            </a:pPr>
            <a:r>
              <a:rPr sz="900" b="1">
                <a:solidFill>
                  <a:srgbClr val="1560D4"/>
                </a:solidFill>
                <a:latin typeface="Arial"/>
              </a:rPr>
              <a:t>1. KHỐI KÊNH YOUTUBE PHÂN TÍCH CHUYÊN SÂU &amp; ỦNG HỘ TS. TUẤN (82 VIDEO = 48,5%)</a:t>
            </a:r>
          </a:p>
          <a:p>
            <a:pPr algn="l">
              <a:lnSpc>
                <a:spcPct val="104000"/>
              </a:lnSpc>
              <a:spcAft>
                <a:spcPts val="200"/>
              </a:spcAft>
            </a:pPr>
            <a:r>
              <a:rPr sz="810" b="0">
                <a:solidFill>
                  <a:srgbClr val="121C2D"/>
                </a:solidFill>
                <a:latin typeface="Arial"/>
              </a:rPr>
              <a:t>• Vlog Minh Hải (16 video, 2.110.511 views, 1.808 bình luận): Kênh có tầm ảnh hưởng lớn nhất YouTube; phân tích sâu giá trị ngoại giao của TS. Tuấn và gợi mở mô hình doanh nhân hỗ trợ tài chính.</a:t>
            </a:r>
          </a:p>
          <a:p>
            <a:pPr algn="l">
              <a:lnSpc>
                <a:spcPct val="104000"/>
              </a:lnSpc>
              <a:spcAft>
                <a:spcPts val="200"/>
              </a:spcAft>
            </a:pPr>
            <a:r>
              <a:rPr sz="810" b="0">
                <a:solidFill>
                  <a:srgbClr val="121C2D"/>
                </a:solidFill>
                <a:latin typeface="Arial"/>
              </a:rPr>
              <a:t>• VFF Channel (4 video, 33,3K views), Ted Trần TV (3 video, 258 bình luận), BLV Anh Quân BĐVN (1 video ngày 22/10), FPT Bóng Đá Việt (1 video ngày 22/10): Đưa tin chính thống về VFF &amp; ĐTQG.</a:t>
            </a:r>
          </a:p>
          <a:p>
            <a:pPr algn="l">
              <a:lnSpc>
                <a:spcPct val="104000"/>
              </a:lnSpc>
              <a:spcAft>
                <a:spcPts val="0"/>
              </a:spcAft>
            </a:pPr>
            <a:r>
              <a:rPr sz="810" b="0">
                <a:solidFill>
                  <a:srgbClr val="121C2D"/>
                </a:solidFill>
                <a:latin typeface="Arial"/>
              </a:rPr>
              <a:t>• Hoàng Trí Công (3 video, 136,2K views, 55 bình luận), Đỉnh Cao Bóng Đá (3 video, 144,9K views, 17 bình luận), Bóng Đá STV (1 video, 21,5K views, 37 bình luận), Vị Thế Mới (2 video, 53,9K views, 20 bình luận).</a:t>
            </a:r>
          </a:p>
        </p:txBody>
      </p:sp>
      <p:sp>
        <p:nvSpPr>
          <p:cNvPr id="14" name="Rectangle 13"/>
          <p:cNvSpPr/>
          <p:nvPr/>
        </p:nvSpPr>
        <p:spPr>
          <a:xfrm>
            <a:off x="318211" y="3116275"/>
            <a:ext cx="5544921" cy="1393545"/>
          </a:xfrm>
          <a:prstGeom prst="rect">
            <a:avLst/>
          </a:prstGeom>
          <a:solidFill>
            <a:srgbClr val="0E94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29184" y="3127248"/>
            <a:ext cx="5522976" cy="1371600"/>
          </a:xfrm>
          <a:prstGeom prst="rect">
            <a:avLst/>
          </a:prstGeom>
          <a:solidFill>
            <a:srgbClr val="E8F8FA"/>
          </a:solidFill>
          <a:ln>
            <a:noFill/>
          </a:ln>
        </p:spPr>
        <p:style>
          <a:lnRef idx="1">
            <a:schemeClr val="accent1"/>
          </a:lnRef>
          <a:fillRef idx="3">
            <a:schemeClr val="accent1"/>
          </a:fillRef>
          <a:effectRef idx="2">
            <a:schemeClr val="accent1"/>
          </a:effectRef>
          <a:fontRef idx="minor">
            <a:schemeClr val="lt1"/>
          </a:fontRef>
        </p:style>
        <p:txBody>
          <a:bodyPr rtlCol="0" anchor="t" wrap="square" lIns="82296" rIns="82296" tIns="36576" bIns="36576"/>
          <a:lstStyle/>
          <a:p>
            <a:pPr algn="l">
              <a:lnSpc>
                <a:spcPct val="104000"/>
              </a:lnSpc>
              <a:spcAft>
                <a:spcPts val="200"/>
              </a:spcAft>
            </a:pPr>
            <a:r>
              <a:rPr sz="900" b="1">
                <a:solidFill>
                  <a:srgbClr val="0E94A5"/>
                </a:solidFill>
                <a:latin typeface="Arial"/>
              </a:rPr>
              <a:t>2. KHỐI KÊNH YOUTUBE ĐỐI CHIẾU 3 ỨNG VIÊN &amp; BÀN LUẬN ĐA CHIỀU (35 VIDEO = 20,7%)</a:t>
            </a:r>
          </a:p>
          <a:p>
            <a:pPr algn="l">
              <a:lnSpc>
                <a:spcPct val="104000"/>
              </a:lnSpc>
              <a:spcAft>
                <a:spcPts val="200"/>
              </a:spcAft>
            </a:pPr>
            <a:r>
              <a:rPr sz="810" b="0">
                <a:solidFill>
                  <a:srgbClr val="121C2D"/>
                </a:solidFill>
                <a:latin typeface="Arial"/>
              </a:rPr>
              <a:t>• Vlog Ngoài đường piste (5 video, 156,6K views, 85 bình luận) &amp; Ngoài đường piste TV (4 video, 29,0K views, 22 bình luận): Phân tích kỹ cả TS. Tuấn lẫn mục tiêu 600–1.000 tỷ của Bầu Thụy (20–22/10).</a:t>
            </a:r>
          </a:p>
          <a:p>
            <a:pPr algn="l">
              <a:lnSpc>
                <a:spcPct val="104000"/>
              </a:lnSpc>
              <a:spcAft>
                <a:spcPts val="200"/>
              </a:spcAft>
            </a:pPr>
            <a:r>
              <a:rPr sz="810" b="0">
                <a:solidFill>
                  <a:srgbClr val="121C2D"/>
                </a:solidFill>
                <a:latin typeface="Arial"/>
              </a:rPr>
              <a:t>• Cú Đúp TV (4 video, 56,3K views, 43 bình luận), Bản Tin Thể Thao 247 (2 video, 23 bình luận), Báo Bóng đá (1 video, 4,6K views), Cao Duy Phong (3 video, 10,4K views).</a:t>
            </a:r>
          </a:p>
          <a:p>
            <a:pPr algn="l">
              <a:lnSpc>
                <a:spcPct val="104000"/>
              </a:lnSpc>
              <a:spcAft>
                <a:spcPts val="0"/>
              </a:spcAft>
            </a:pPr>
            <a:r>
              <a:rPr sz="810" b="0">
                <a:solidFill>
                  <a:srgbClr val="121C2D"/>
                </a:solidFill>
                <a:latin typeface="Arial"/>
              </a:rPr>
              <a:t>• Bóng Đá Vui Vẻ ColaScore (1 video, 40,2K views, 10 bình luận), DÒNG CHẢY LỊCH SỬ (2 video, 32,9K views, 18 bình luận), Tiền Phong TV (2 video, 5,3K views).</a:t>
            </a:r>
          </a:p>
        </p:txBody>
      </p:sp>
      <p:sp>
        <p:nvSpPr>
          <p:cNvPr id="16" name="Rectangle 15"/>
          <p:cNvSpPr/>
          <p:nvPr/>
        </p:nvSpPr>
        <p:spPr>
          <a:xfrm>
            <a:off x="318211" y="4561027"/>
            <a:ext cx="5544921" cy="1430121"/>
          </a:xfrm>
          <a:prstGeom prst="rect">
            <a:avLst/>
          </a:prstGeom>
          <a:solidFill>
            <a:srgbClr val="D627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29184" y="4572000"/>
            <a:ext cx="5522976" cy="1408176"/>
          </a:xfrm>
          <a:prstGeom prst="rect">
            <a:avLst/>
          </a:prstGeom>
          <a:solidFill>
            <a:srgbClr val="FEEEEE"/>
          </a:solidFill>
          <a:ln>
            <a:noFill/>
          </a:ln>
        </p:spPr>
        <p:style>
          <a:lnRef idx="1">
            <a:schemeClr val="accent1"/>
          </a:lnRef>
          <a:fillRef idx="3">
            <a:schemeClr val="accent1"/>
          </a:fillRef>
          <a:effectRef idx="2">
            <a:schemeClr val="accent1"/>
          </a:effectRef>
          <a:fontRef idx="minor">
            <a:schemeClr val="lt1"/>
          </a:fontRef>
        </p:style>
        <p:txBody>
          <a:bodyPr rtlCol="0" anchor="t" wrap="square" lIns="82296" rIns="82296" tIns="36576" bIns="36576"/>
          <a:lstStyle/>
          <a:p>
            <a:pPr algn="l">
              <a:lnSpc>
                <a:spcPct val="104000"/>
              </a:lnSpc>
              <a:spcAft>
                <a:spcPts val="200"/>
              </a:spcAft>
            </a:pPr>
            <a:r>
              <a:rPr sz="900" b="1">
                <a:solidFill>
                  <a:srgbClr val="D62728"/>
                </a:solidFill>
                <a:latin typeface="Arial"/>
              </a:rPr>
              <a:t>3. KHỐI KÊNH YOUTUBE ĐẨY SÓNG BẦU THỤY &amp; CAM KẾT 1.000 TỶ (44 VIDEO = 26,0%)</a:t>
            </a:r>
          </a:p>
          <a:p>
            <a:pPr algn="l">
              <a:lnSpc>
                <a:spcPct val="104000"/>
              </a:lnSpc>
              <a:spcAft>
                <a:spcPts val="200"/>
              </a:spcAft>
            </a:pPr>
            <a:r>
              <a:rPr sz="810" b="0">
                <a:solidFill>
                  <a:srgbClr val="121C2D"/>
                </a:solidFill>
                <a:latin typeface="Arial"/>
              </a:rPr>
              <a:t>• BÓNGĐÁ TV (11 video, 931,1K views, 792 bình luận) &amp; BÓNGĐÁ TV 19H30 (4 video, 29,2K views, 10 bình luận): Liên tục lên sóng 'Bầu Thụy phát biểu chấn động về ghế nóng VFF' ngày 21–22/10.</a:t>
            </a:r>
          </a:p>
          <a:p>
            <a:pPr algn="l">
              <a:lnSpc>
                <a:spcPct val="104000"/>
              </a:lnSpc>
              <a:spcAft>
                <a:spcPts val="200"/>
              </a:spcAft>
            </a:pPr>
            <a:r>
              <a:rPr sz="810" b="0">
                <a:solidFill>
                  <a:srgbClr val="121C2D"/>
                </a:solidFill>
                <a:latin typeface="Arial"/>
              </a:rPr>
              <a:t>• Giờ Vàng TV (8 video, 173,8K views, 260 bình luận) &amp; BÓNG ĐÁ NGÀY NAY (5 video, 415,2K views, 97 bình luận): Giật tít mạnh 'Tỷ phú USD sắp tranh ghế Chủ tịch VFF', 'Bầu Thụy hứa cực mạnh'.</a:t>
            </a:r>
          </a:p>
          <a:p>
            <a:pPr algn="l">
              <a:lnSpc>
                <a:spcPct val="104000"/>
              </a:lnSpc>
              <a:spcAft>
                <a:spcPts val="0"/>
              </a:spcAft>
            </a:pPr>
            <a:r>
              <a:rPr sz="810" b="0">
                <a:solidFill>
                  <a:srgbClr val="121C2D"/>
                </a:solidFill>
                <a:latin typeface="Arial"/>
              </a:rPr>
              <a:t>• Vietnam Sports Official (2 video, 55,0K views), Khuong Ballad (2 video, 7,8K views), Tin Sân Cỏ 24H (4 video), AE SPORTS (1 video, 5,2K views), Sau Tiếng Còi ThapCam TV (1 video).</a:t>
            </a:r>
          </a:p>
        </p:txBody>
      </p:sp>
      <p:sp>
        <p:nvSpPr>
          <p:cNvPr id="18" name="Rectangle 17"/>
          <p:cNvSpPr/>
          <p:nvPr/>
        </p:nvSpPr>
        <p:spPr>
          <a:xfrm>
            <a:off x="318211" y="6042355"/>
            <a:ext cx="5544921" cy="552297"/>
          </a:xfrm>
          <a:prstGeom prst="rect">
            <a:avLst/>
          </a:prstGeom>
          <a:solidFill>
            <a:srgbClr val="444E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29184" y="6053328"/>
            <a:ext cx="5522976" cy="530352"/>
          </a:xfrm>
          <a:prstGeom prst="rect">
            <a:avLst/>
          </a:prstGeom>
          <a:solidFill>
            <a:srgbClr val="F1F3F7"/>
          </a:solidFill>
          <a:ln>
            <a:noFill/>
          </a:ln>
        </p:spPr>
        <p:style>
          <a:lnRef idx="1">
            <a:schemeClr val="accent1"/>
          </a:lnRef>
          <a:fillRef idx="3">
            <a:schemeClr val="accent1"/>
          </a:fillRef>
          <a:effectRef idx="2">
            <a:schemeClr val="accent1"/>
          </a:effectRef>
          <a:fontRef idx="minor">
            <a:schemeClr val="lt1"/>
          </a:fontRef>
        </p:style>
        <p:txBody>
          <a:bodyPr rtlCol="0" anchor="t" wrap="square" lIns="82296" rIns="82296" tIns="36576" bIns="36576"/>
          <a:lstStyle/>
          <a:p>
            <a:pPr algn="l">
              <a:lnSpc>
                <a:spcPct val="103000"/>
              </a:lnSpc>
              <a:spcAft>
                <a:spcPts val="0"/>
              </a:spcAft>
            </a:pPr>
            <a:r>
              <a:rPr sz="800" b="1">
                <a:solidFill>
                  <a:srgbClr val="444E5E"/>
                </a:solidFill>
                <a:latin typeface="Arial"/>
              </a:rPr>
              <a:t>4. KÊNH YOUTUBE PHẢN BIỆN NHẬP TỊCH &amp; THỂ CHẾ (8 VIDEO = 4,7%): Nhím Bóng Đá (2 video, 219,3K views, 610 bình luận — tâm điểm tranh cãi nhập tịch thử nghiệm), BÓNGĐÁ TODAY, TIN TỨC 24H NEWS.</a:t>
            </a:r>
          </a:p>
        </p:txBody>
      </p:sp>
      <p:sp>
        <p:nvSpPr>
          <p:cNvPr id="20" name="Rectangle 19"/>
          <p:cNvSpPr/>
          <p:nvPr/>
        </p:nvSpPr>
        <p:spPr>
          <a:xfrm>
            <a:off x="6197803" y="885139"/>
            <a:ext cx="5800953" cy="5800953"/>
          </a:xfrm>
          <a:prstGeom prst="rect">
            <a:avLst/>
          </a:prstGeom>
          <a:solidFill>
            <a:srgbClr val="D2DA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08776" y="896112"/>
            <a:ext cx="5779008" cy="57790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36792" y="950976"/>
            <a:ext cx="5522976" cy="237744"/>
          </a:xfrm>
          <a:prstGeom prst="rect">
            <a:avLst/>
          </a:prstGeom>
          <a:noFill/>
        </p:spPr>
        <p:txBody>
          <a:bodyPr wrap="square" anchor="t" lIns="45720" rIns="45720" tIns="27432" bIns="27432">
            <a:spAutoFit/>
          </a:bodyPr>
          <a:lstStyle/>
          <a:p>
            <a:pPr algn="l">
              <a:lnSpc>
                <a:spcPct val="112000"/>
              </a:lnSpc>
            </a:pPr>
            <a:r>
              <a:rPr sz="880" b="1">
                <a:solidFill>
                  <a:srgbClr val="0B1528"/>
                </a:solidFill>
                <a:latin typeface="Arial"/>
              </a:rPr>
              <a:t>B. MẶT TRẬN TIKTOK (68 VIDEO • 2.825.617 LƯỢT XEM • 2.825 DÒNG THOẠI • 2.426 BÌNH LUẬN NỀN TẢNG / 154 TRONG KỲ)</a:t>
            </a:r>
          </a:p>
        </p:txBody>
      </p:sp>
      <p:sp>
        <p:nvSpPr>
          <p:cNvPr id="23" name="Rectangle 22"/>
          <p:cNvSpPr/>
          <p:nvPr/>
        </p:nvSpPr>
        <p:spPr>
          <a:xfrm>
            <a:off x="6325819" y="1232611"/>
            <a:ext cx="5544921" cy="1448409"/>
          </a:xfrm>
          <a:prstGeom prst="rect">
            <a:avLst/>
          </a:prstGeom>
          <a:solidFill>
            <a:srgbClr val="1560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336792" y="1243584"/>
            <a:ext cx="5522976" cy="1426464"/>
          </a:xfrm>
          <a:prstGeom prst="rect">
            <a:avLst/>
          </a:prstGeom>
          <a:solidFill>
            <a:srgbClr val="EBF3FF"/>
          </a:solidFill>
          <a:ln>
            <a:noFill/>
          </a:ln>
        </p:spPr>
        <p:style>
          <a:lnRef idx="1">
            <a:schemeClr val="accent1"/>
          </a:lnRef>
          <a:fillRef idx="3">
            <a:schemeClr val="accent1"/>
          </a:fillRef>
          <a:effectRef idx="2">
            <a:schemeClr val="accent1"/>
          </a:effectRef>
          <a:fontRef idx="minor">
            <a:schemeClr val="lt1"/>
          </a:fontRef>
        </p:style>
        <p:txBody>
          <a:bodyPr rtlCol="0" anchor="t" wrap="square" lIns="82296" rIns="82296" tIns="36576" bIns="36576"/>
          <a:lstStyle/>
          <a:p>
            <a:pPr algn="l">
              <a:lnSpc>
                <a:spcPct val="103000"/>
              </a:lnSpc>
              <a:spcAft>
                <a:spcPts val="200"/>
              </a:spcAft>
            </a:pPr>
            <a:r>
              <a:rPr sz="900" b="1">
                <a:solidFill>
                  <a:srgbClr val="1560D4"/>
                </a:solidFill>
                <a:latin typeface="Arial"/>
              </a:rPr>
              <a:t>1. NHÓM KÊNH TIKTOK ỦNG HỘ TS. TRẦN QUỐC TUẤN &amp; ĐTQG (28 VIDEO = 41,2%)</a:t>
            </a:r>
          </a:p>
          <a:p>
            <a:pPr algn="l">
              <a:lnSpc>
                <a:spcPct val="103000"/>
              </a:lnSpc>
              <a:spcAft>
                <a:spcPts val="200"/>
              </a:spcAft>
            </a:pPr>
            <a:r>
              <a:rPr sz="800" b="0">
                <a:solidFill>
                  <a:srgbClr val="121C2D"/>
                </a:solidFill>
                <a:latin typeface="Arial"/>
              </a:rPr>
              <a:t>• VFF Official (@vff.official — 15 video kịch bản ASR, 36.200 tương tác, 57 bình luận): Lan tỏa mạnh mẽ hoạt động của Chủ tịch VFF Trần Quốc Tuấn động viên U15/U17 Việt Nam và giải U17 nữ châu Á.</a:t>
            </a:r>
          </a:p>
          <a:p>
            <a:pPr algn="l">
              <a:lnSpc>
                <a:spcPct val="103000"/>
              </a:lnSpc>
              <a:spcAft>
                <a:spcPts val="0"/>
              </a:spcAft>
            </a:pPr>
            <a:r>
              <a:rPr sz="800" b="0">
                <a:solidFill>
                  <a:srgbClr val="121C2D"/>
                </a:solidFill>
                <a:latin typeface="Arial"/>
              </a:rPr>
              <a:t>• Ted Trần (@tedtrantv — 9 video kịch bản ASR, 14.800 tương tác), NCT-FootBall (@nctfootball90 — 2 video, 2.904 tương tác), BLV Anh Quân (@hoanganhquan_blv), BLV Tạ Biên Cương (@blvtabiencuongofficial).</a:t>
            </a:r>
          </a:p>
        </p:txBody>
      </p:sp>
      <p:sp>
        <p:nvSpPr>
          <p:cNvPr id="25" name="Rectangle 24"/>
          <p:cNvSpPr/>
          <p:nvPr/>
        </p:nvSpPr>
        <p:spPr>
          <a:xfrm>
            <a:off x="6325819" y="2732227"/>
            <a:ext cx="5544921" cy="1247241"/>
          </a:xfrm>
          <a:prstGeom prst="rect">
            <a:avLst/>
          </a:prstGeom>
          <a:solidFill>
            <a:srgbClr val="0E94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336792" y="2743200"/>
            <a:ext cx="5522976" cy="1225296"/>
          </a:xfrm>
          <a:prstGeom prst="rect">
            <a:avLst/>
          </a:prstGeom>
          <a:solidFill>
            <a:srgbClr val="E8F8FA"/>
          </a:solidFill>
          <a:ln>
            <a:noFill/>
          </a:ln>
        </p:spPr>
        <p:style>
          <a:lnRef idx="1">
            <a:schemeClr val="accent1"/>
          </a:lnRef>
          <a:fillRef idx="3">
            <a:schemeClr val="accent1"/>
          </a:fillRef>
          <a:effectRef idx="2">
            <a:schemeClr val="accent1"/>
          </a:effectRef>
          <a:fontRef idx="minor">
            <a:schemeClr val="lt1"/>
          </a:fontRef>
        </p:style>
        <p:txBody>
          <a:bodyPr rtlCol="0" anchor="t" wrap="square" lIns="82296" rIns="82296" tIns="36576" bIns="36576"/>
          <a:lstStyle/>
          <a:p>
            <a:pPr algn="l">
              <a:lnSpc>
                <a:spcPct val="103000"/>
              </a:lnSpc>
              <a:spcAft>
                <a:spcPts val="200"/>
              </a:spcAft>
            </a:pPr>
            <a:r>
              <a:rPr sz="900" b="1">
                <a:solidFill>
                  <a:srgbClr val="0E94A5"/>
                </a:solidFill>
                <a:latin typeface="Arial"/>
              </a:rPr>
              <a:t>2. NHÓM KÊNH TIKTOK KHẢO SÁT BẦU CỬ &amp; ĐƯA TIN 3 ỨNG VIÊN (14 VIDEO = 20,6%)</a:t>
            </a:r>
          </a:p>
          <a:p>
            <a:pPr algn="l">
              <a:lnSpc>
                <a:spcPct val="103000"/>
              </a:lnSpc>
              <a:spcAft>
                <a:spcPts val="200"/>
              </a:spcAft>
            </a:pPr>
            <a:r>
              <a:rPr sz="800" b="0">
                <a:solidFill>
                  <a:srgbClr val="121C2D"/>
                </a:solidFill>
                <a:latin typeface="Arial"/>
              </a:rPr>
              <a:t>• ★ Mr Quan Ngại ★ (2 video, 48,9K views, 51 bình luận), Cuồng nhiệt bóng đá VN (@hdsoccerzone — ngày 22/10), KEY Bóng Đá Việt (@kbvn.bongdaviet — đưa tin Đại hội dự kiến 04/01/2027).</a:t>
            </a:r>
          </a:p>
          <a:p>
            <a:pPr algn="l">
              <a:lnSpc>
                <a:spcPct val="103000"/>
              </a:lnSpc>
              <a:spcAft>
                <a:spcPts val="0"/>
              </a:spcAft>
            </a:pPr>
            <a:r>
              <a:rPr sz="800" b="0">
                <a:solidFill>
                  <a:srgbClr val="121C2D"/>
                </a:solidFill>
                <a:latin typeface="Arial"/>
              </a:rPr>
              <a:t>• NHỊP ĐẬP SÂN CỎ (@hoamt8686), AE Sports, Vũ Trụ Man Utd, bình toong (@binhtoong1995), Bóng Đá &amp; Đời Sống (@bongdavadoisong — 2 video): Đặt câu hỏi mở 'Chọn ai cho ghế Chủ tịch VFF khóa X?'.</a:t>
            </a:r>
          </a:p>
        </p:txBody>
      </p:sp>
      <p:sp>
        <p:nvSpPr>
          <p:cNvPr id="27" name="Rectangle 26"/>
          <p:cNvSpPr/>
          <p:nvPr/>
        </p:nvSpPr>
        <p:spPr>
          <a:xfrm>
            <a:off x="6325819" y="4030675"/>
            <a:ext cx="5544921" cy="1375257"/>
          </a:xfrm>
          <a:prstGeom prst="rect">
            <a:avLst/>
          </a:prstGeom>
          <a:solidFill>
            <a:srgbClr val="D627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336792" y="4041648"/>
            <a:ext cx="5522976" cy="1353312"/>
          </a:xfrm>
          <a:prstGeom prst="rect">
            <a:avLst/>
          </a:prstGeom>
          <a:solidFill>
            <a:srgbClr val="FEEEEE"/>
          </a:solidFill>
          <a:ln>
            <a:noFill/>
          </a:ln>
        </p:spPr>
        <p:style>
          <a:lnRef idx="1">
            <a:schemeClr val="accent1"/>
          </a:lnRef>
          <a:fillRef idx="3">
            <a:schemeClr val="accent1"/>
          </a:fillRef>
          <a:effectRef idx="2">
            <a:schemeClr val="accent1"/>
          </a:effectRef>
          <a:fontRef idx="minor">
            <a:schemeClr val="lt1"/>
          </a:fontRef>
        </p:style>
        <p:txBody>
          <a:bodyPr rtlCol="0" anchor="t" wrap="square" lIns="82296" rIns="82296" tIns="36576" bIns="36576"/>
          <a:lstStyle/>
          <a:p>
            <a:pPr algn="l">
              <a:lnSpc>
                <a:spcPct val="103000"/>
              </a:lnSpc>
              <a:spcAft>
                <a:spcPts val="200"/>
              </a:spcAft>
            </a:pPr>
            <a:r>
              <a:rPr sz="900" b="1">
                <a:solidFill>
                  <a:srgbClr val="D62728"/>
                </a:solidFill>
                <a:latin typeface="Arial"/>
              </a:rPr>
              <a:t>3. NHÓM KÊNH TIKTOK TÀI CHÍNH &amp; ĐẨY SÓNG BẦU THỤY (26 VIDEO = 38,2%)</a:t>
            </a:r>
          </a:p>
          <a:p>
            <a:pPr algn="l">
              <a:lnSpc>
                <a:spcPct val="103000"/>
              </a:lnSpc>
              <a:spcAft>
                <a:spcPts val="200"/>
              </a:spcAft>
            </a:pPr>
            <a:r>
              <a:rPr sz="800" b="0">
                <a:solidFill>
                  <a:srgbClr val="121C2D"/>
                </a:solidFill>
                <a:latin typeface="Arial"/>
              </a:rPr>
              <a:t>• TVH Sports (@tuyenvanhoasports — 4 video, riêng clip ngày 22/10 'Ông Nguyễn Đức Thụy cam kết tự chủ tài chính không dùng ngân sách' đạt 2.426 tương tác).</a:t>
            </a:r>
          </a:p>
          <a:p>
            <a:pPr algn="l">
              <a:lnSpc>
                <a:spcPct val="103000"/>
              </a:lnSpc>
              <a:spcAft>
                <a:spcPts val="200"/>
              </a:spcAft>
            </a:pPr>
            <a:r>
              <a:rPr sz="800" b="0">
                <a:solidFill>
                  <a:srgbClr val="121C2D"/>
                </a:solidFill>
                <a:latin typeface="Arial"/>
              </a:rPr>
              <a:t>• Khối TikTok Tài chính - Chứng khoán: CafeF TikTok (24 bình luận), DFF.VN (118,4K views, 14 bình luận), Chứng Sĩ Săn Tin F247 (@f247stock — 2 video), Hóng Biến Crypto (2 video), Business Insight, 24hmoney, Người Quan Sát Finance.</a:t>
            </a:r>
          </a:p>
          <a:p>
            <a:pPr algn="l">
              <a:lnSpc>
                <a:spcPct val="103000"/>
              </a:lnSpc>
              <a:spcAft>
                <a:spcPts val="0"/>
              </a:spcAft>
            </a:pPr>
            <a:r>
              <a:rPr sz="800" b="0">
                <a:solidFill>
                  <a:srgbClr val="121C2D"/>
                </a:solidFill>
                <a:latin typeface="Arial"/>
              </a:rPr>
              <a:t>• Các kênh TikTok đẩy sóng ngày 20–22/10: Khuong ballad (@khuongballad), Cao Duy Phong (@caoduyphong.official), Lu88 Nhịp Đập Thể Thao (2 video), Radar Sân Cỏ, Kiên Hà (55,3K views).</a:t>
            </a:r>
          </a:p>
        </p:txBody>
      </p:sp>
      <p:sp>
        <p:nvSpPr>
          <p:cNvPr id="29" name="Rectangle 28"/>
          <p:cNvSpPr/>
          <p:nvPr/>
        </p:nvSpPr>
        <p:spPr>
          <a:xfrm>
            <a:off x="6322161" y="5453481"/>
            <a:ext cx="5552236" cy="1144828"/>
          </a:xfrm>
          <a:prstGeom prst="rect">
            <a:avLst/>
          </a:prstGeom>
          <a:solidFill>
            <a:srgbClr val="F5B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336792" y="5468112"/>
            <a:ext cx="5522976" cy="1115568"/>
          </a:xfrm>
          <a:prstGeom prst="rect">
            <a:avLst/>
          </a:prstGeom>
          <a:solidFill>
            <a:srgbClr val="0B1528"/>
          </a:solidFill>
          <a:ln>
            <a:noFill/>
          </a:ln>
        </p:spPr>
        <p:style>
          <a:lnRef idx="1">
            <a:schemeClr val="accent1"/>
          </a:lnRef>
          <a:fillRef idx="3">
            <a:schemeClr val="accent1"/>
          </a:fillRef>
          <a:effectRef idx="2">
            <a:schemeClr val="accent1"/>
          </a:effectRef>
          <a:fontRef idx="minor">
            <a:schemeClr val="lt1"/>
          </a:fontRef>
        </p:style>
        <p:txBody>
          <a:bodyPr rtlCol="0" anchor="t" wrap="square" lIns="82296" rIns="82296" tIns="36576" bIns="36576"/>
          <a:lstStyle/>
          <a:p>
            <a:pPr algn="l">
              <a:lnSpc>
                <a:spcPct val="102000"/>
              </a:lnSpc>
              <a:spcAft>
                <a:spcPts val="200"/>
              </a:spcAft>
            </a:pPr>
            <a:r>
              <a:rPr sz="850" b="1">
                <a:solidFill>
                  <a:srgbClr val="F5B400"/>
                </a:solidFill>
                <a:latin typeface="Arial"/>
              </a:rPr>
              <a:t>KẾT LUẬN TỔNG HỢP BẢN ĐỒ ĐỊNH DANH 4 NỀN TẢNG (BÁO CHÍ • FACEBOOK • YOUTUBE • TIKTOK)</a:t>
            </a:r>
          </a:p>
          <a:p>
            <a:pPr algn="l">
              <a:lnSpc>
                <a:spcPct val="102000"/>
              </a:lnSpc>
              <a:spcAft>
                <a:spcPts val="200"/>
              </a:spcAft>
            </a:pPr>
            <a:r>
              <a:rPr sz="780" b="0">
                <a:solidFill>
                  <a:srgbClr val="FFFFFF"/>
                </a:solidFill>
                <a:latin typeface="Arial"/>
              </a:rPr>
              <a:t>• Phe ủng hộ Bầu Thụy đánh rất mạnh ở 'Bề rộng &amp; Tốc độ phát tán' (Báo Kinh tế + Cụm Seeding FB Phấn Đấu/iThethao + TikTok Tài chính + YouTube BÓNGĐÁ TV ngày 19–22/10).</a:t>
            </a:r>
          </a:p>
          <a:p>
            <a:pPr algn="l">
              <a:lnSpc>
                <a:spcPct val="102000"/>
              </a:lnSpc>
              <a:spcAft>
                <a:spcPts val="0"/>
              </a:spcAft>
            </a:pPr>
            <a:r>
              <a:rPr sz="780" b="0">
                <a:solidFill>
                  <a:srgbClr val="FFFFFF"/>
                </a:solidFill>
                <a:latin typeface="Arial"/>
              </a:rPr>
              <a:t>• Phe ủng hộ TS. Trần Quốc Tuấn thắng áp đảo ở 'Chiều sâu Thể chế &amp; Lá phiếu Bình luận thực' (Báo Thể thao/Trung ương + Fanpage chuyên môn Anh Em Bóng Đá/HattrickSport + Vlog Minh Hải + 586 phiếu bầu Chủ tịch).</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4F6FA"/>
        </a:solidFill>
        <a:effectLst/>
      </p:bgPr>
    </p:bg>
    <p:spTree>
      <p:nvGrpSpPr>
        <p:cNvPr id="1" name=""/>
        <p:cNvGrpSpPr/>
        <p:nvPr/>
      </p:nvGrpSpPr>
      <p:grpSpPr/>
      <p:sp>
        <p:nvSpPr>
          <p:cNvPr id="2" name="Rectangle 1"/>
          <p:cNvSpPr/>
          <p:nvPr/>
        </p:nvSpPr>
        <p:spPr>
          <a:xfrm>
            <a:off x="0" y="0"/>
            <a:ext cx="4059936" cy="54864"/>
          </a:xfrm>
          <a:prstGeom prst="rect">
            <a:avLst/>
          </a:prstGeom>
          <a:solidFill>
            <a:srgbClr val="1560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059936" y="0"/>
            <a:ext cx="4069080" cy="54864"/>
          </a:xfrm>
          <a:prstGeom prst="rect">
            <a:avLst/>
          </a:prstGeom>
          <a:solidFill>
            <a:srgbClr val="F5B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129016" y="0"/>
            <a:ext cx="4059936" cy="54864"/>
          </a:xfrm>
          <a:prstGeom prst="rect">
            <a:avLst/>
          </a:prstGeom>
          <a:solidFill>
            <a:srgbClr val="D627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54864"/>
            <a:ext cx="12191695" cy="786384"/>
          </a:xfrm>
          <a:prstGeom prst="rect">
            <a:avLst/>
          </a:prstGeom>
          <a:solidFill>
            <a:srgbClr val="0B15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01168" y="128016"/>
            <a:ext cx="2029968" cy="274320"/>
          </a:xfrm>
          <a:prstGeom prst="rect">
            <a:avLst/>
          </a:prstGeom>
          <a:solidFill>
            <a:srgbClr val="1560D4"/>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860" b="1">
                <a:solidFill>
                  <a:srgbClr val="F5B400"/>
                </a:solidFill>
                <a:latin typeface="Arial"/>
              </a:rPr>
              <a:t>WAR-ROOM BRIEFING • SLIDE 7</a:t>
            </a:r>
          </a:p>
        </p:txBody>
      </p:sp>
      <p:sp>
        <p:nvSpPr>
          <p:cNvPr id="7" name="TextBox 6"/>
          <p:cNvSpPr txBox="1"/>
          <p:nvPr/>
        </p:nvSpPr>
        <p:spPr>
          <a:xfrm>
            <a:off x="2286000" y="109728"/>
            <a:ext cx="9738360" cy="310896"/>
          </a:xfrm>
          <a:prstGeom prst="rect">
            <a:avLst/>
          </a:prstGeom>
          <a:noFill/>
        </p:spPr>
        <p:txBody>
          <a:bodyPr wrap="square" anchor="ctr" lIns="45720" rIns="45720" tIns="27432" bIns="27432">
            <a:spAutoFit/>
          </a:bodyPr>
          <a:lstStyle/>
          <a:p>
            <a:pPr algn="l">
              <a:lnSpc>
                <a:spcPct val="112000"/>
              </a:lnSpc>
            </a:pPr>
            <a:r>
              <a:rPr sz="1300" b="1">
                <a:solidFill>
                  <a:srgbClr val="FFFFFF"/>
                </a:solidFill>
                <a:latin typeface="Arial"/>
              </a:rPr>
              <a:t>ĐỨNG Ở VỊ TRÍ BẠN LÀ ỨNG VIÊN: TÌNH HÌNH HIỆN TẠI (22/10) &amp; KỊCH BẢN HÀNH ĐỘNG</a:t>
            </a:r>
          </a:p>
        </p:txBody>
      </p:sp>
      <p:sp>
        <p:nvSpPr>
          <p:cNvPr id="8" name="TextBox 7"/>
          <p:cNvSpPr txBox="1"/>
          <p:nvPr/>
        </p:nvSpPr>
        <p:spPr>
          <a:xfrm>
            <a:off x="201168" y="475488"/>
            <a:ext cx="11795760" cy="292608"/>
          </a:xfrm>
          <a:prstGeom prst="rect">
            <a:avLst/>
          </a:prstGeom>
          <a:noFill/>
        </p:spPr>
        <p:txBody>
          <a:bodyPr wrap="square" anchor="ctr" lIns="45720" rIns="45720" tIns="27432" bIns="27432">
            <a:spAutoFit/>
          </a:bodyPr>
          <a:lstStyle/>
          <a:p>
            <a:pPr algn="l">
              <a:lnSpc>
                <a:spcPct val="112000"/>
              </a:lnSpc>
            </a:pPr>
            <a:r>
              <a:rPr sz="960" b="0">
                <a:solidFill>
                  <a:srgbClr val="C8D4E6"/>
                </a:solidFill>
                <a:latin typeface="Arial"/>
              </a:rPr>
              <a:t>Tư vấn Chiến lược Trực diện cho từng Ứng viên dựa trên Dữ liệu Lũy tiến 22 Ngày (01/10 – 22/10/2026) — 100% Native Editable PPTX</a:t>
            </a:r>
          </a:p>
        </p:txBody>
      </p:sp>
      <p:sp>
        <p:nvSpPr>
          <p:cNvPr id="9" name="Rectangle 8"/>
          <p:cNvSpPr/>
          <p:nvPr/>
        </p:nvSpPr>
        <p:spPr>
          <a:xfrm>
            <a:off x="186537" y="899769"/>
            <a:ext cx="5808268" cy="5771692"/>
          </a:xfrm>
          <a:prstGeom prst="rect">
            <a:avLst/>
          </a:prstGeom>
          <a:solidFill>
            <a:srgbClr val="1560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01168" y="914400"/>
            <a:ext cx="5779008" cy="57424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01168" y="914400"/>
            <a:ext cx="5779008" cy="512064"/>
          </a:xfrm>
          <a:prstGeom prst="rect">
            <a:avLst/>
          </a:prstGeom>
          <a:solidFill>
            <a:srgbClr val="1560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9184" y="941832"/>
            <a:ext cx="5522976" cy="457200"/>
          </a:xfrm>
          <a:prstGeom prst="rect">
            <a:avLst/>
          </a:prstGeom>
          <a:noFill/>
        </p:spPr>
        <p:txBody>
          <a:bodyPr wrap="square" anchor="ctr" lIns="45720" rIns="45720" tIns="27432" bIns="27432">
            <a:spAutoFit/>
          </a:bodyPr>
          <a:lstStyle/>
          <a:p>
            <a:pPr algn="ctr">
              <a:lnSpc>
                <a:spcPct val="105000"/>
              </a:lnSpc>
            </a:pPr>
            <a:r>
              <a:rPr sz="950" b="1">
                <a:solidFill>
                  <a:srgbClr val="FFFFFF"/>
                </a:solidFill>
                <a:latin typeface="Arial"/>
              </a:rPr>
              <a:t>NẾU BẠN LÀ TS. TRẦN QUỐC TUẤN</a:t>
            </a:r>
          </a:p>
          <a:p>
            <a:pPr algn="ctr">
              <a:lnSpc>
                <a:spcPct val="105000"/>
              </a:lnSpc>
            </a:pPr>
            <a:r>
              <a:rPr sz="950" b="1">
                <a:solidFill>
                  <a:srgbClr val="FFFFFF"/>
                </a:solidFill>
                <a:latin typeface="Arial"/>
              </a:rPr>
              <a:t>(Vị thế: Đương nhiệm dẫn đầu — Cần củng cố ưu thế dẫn đầu &amp; đối trọng thông điệp 1.000 tỷ)</a:t>
            </a:r>
          </a:p>
        </p:txBody>
      </p:sp>
      <p:sp>
        <p:nvSpPr>
          <p:cNvPr id="13" name="Rectangle 12"/>
          <p:cNvSpPr/>
          <p:nvPr/>
        </p:nvSpPr>
        <p:spPr>
          <a:xfrm>
            <a:off x="336499" y="1525219"/>
            <a:ext cx="5508345" cy="2445105"/>
          </a:xfrm>
          <a:prstGeom prst="rect">
            <a:avLst/>
          </a:prstGeom>
          <a:solidFill>
            <a:srgbClr val="1560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7472" y="1536192"/>
            <a:ext cx="5486400" cy="2423160"/>
          </a:xfrm>
          <a:prstGeom prst="rect">
            <a:avLst/>
          </a:prstGeom>
          <a:solidFill>
            <a:srgbClr val="EBF3FF"/>
          </a:solidFill>
          <a:ln>
            <a:noFill/>
          </a:ln>
        </p:spPr>
        <p:style>
          <a:lnRef idx="1">
            <a:schemeClr val="accent1"/>
          </a:lnRef>
          <a:fillRef idx="3">
            <a:schemeClr val="accent1"/>
          </a:fillRef>
          <a:effectRef idx="2">
            <a:schemeClr val="accent1"/>
          </a:effectRef>
          <a:fontRef idx="minor">
            <a:schemeClr val="lt1"/>
          </a:fontRef>
        </p:style>
        <p:txBody>
          <a:bodyPr rtlCol="0" anchor="t" wrap="square" lIns="82296" rIns="82296"/>
          <a:lstStyle/>
          <a:p>
            <a:pPr algn="l">
              <a:lnSpc>
                <a:spcPct val="107000"/>
              </a:lnSpc>
              <a:spcAft>
                <a:spcPts val="400"/>
              </a:spcAft>
            </a:pPr>
            <a:r>
              <a:rPr sz="1050" b="1">
                <a:solidFill>
                  <a:srgbClr val="1560D4"/>
                </a:solidFill>
                <a:latin typeface="Arial"/>
              </a:rPr>
              <a:t>1. TÌNH HÌNH HIỆN TẠI CỦA BẠN (ĐẾN 22/10/2026):</a:t>
            </a:r>
          </a:p>
          <a:p>
            <a:pPr algn="l">
              <a:lnSpc>
                <a:spcPct val="107000"/>
              </a:lnSpc>
              <a:spcAft>
                <a:spcPts val="400"/>
              </a:spcAft>
            </a:pPr>
            <a:r>
              <a:rPr sz="919" b="0">
                <a:solidFill>
                  <a:srgbClr val="121C2D"/>
                </a:solidFill>
                <a:latin typeface="Arial"/>
              </a:rPr>
              <a:t>• Bạn đang dẫn đầu cả 3 thước đo cốt lõi: Báo chính thống (44,9%), Bài đăng/Video MXH (44,5% = 433/974 bài xác thực) và Lá phiếu Bình luận chọn làm Chủ tịch (586 / 1.414 phiếu = 41,4% tổng | 59,1% đối đầu trực tiếp với Bầu Thụy).</a:t>
            </a:r>
          </a:p>
          <a:p>
            <a:pPr algn="l">
              <a:lnSpc>
                <a:spcPct val="107000"/>
              </a:lnSpc>
              <a:spcAft>
                <a:spcPts val="400"/>
              </a:spcAft>
            </a:pPr>
            <a:r>
              <a:rPr sz="919" b="0">
                <a:solidFill>
                  <a:srgbClr val="121C2D"/>
                </a:solidFill>
                <a:latin typeface="Arial"/>
              </a:rPr>
              <a:t>• Tín nhiệm ròng lũy tiến 22 ngày đạt +794 điểm gộp (+373 điểm bình luận). Tuy nhiên, dữ liệu kiểm toán mới cho thấy bạn có 112 bình luận phản đối trực diện (7,9%) + 101 bình luận phản đối cả hai + 93 bình luận muốn bạn lùi xuống làm Phó Chủ tịch Chuyên môn.</a:t>
            </a:r>
          </a:p>
          <a:p>
            <a:pPr algn="l">
              <a:lnSpc>
                <a:spcPct val="107000"/>
              </a:lnSpc>
              <a:spcAft>
                <a:spcPts val="0"/>
              </a:spcAft>
            </a:pPr>
            <a:r>
              <a:rPr sz="919" b="0">
                <a:solidFill>
                  <a:srgbClr val="121C2D"/>
                </a:solidFill>
                <a:latin typeface="Arial"/>
              </a:rPr>
              <a:t>• Điểm nóng mới phát sinh (19–22/10): Sau thông tin '&gt;40/57 đề cử' ngày 19–20/10, ứng viên đối thủ tiếp tục đưa ra thông điệp thứ hai ngày 21–22/10 trên Báo chí, YouTube &amp; TikTok: 'Cam kết huy động 600–1.000 tỷ đồng/năm và không dùng ngân sách Nhà nước'.</a:t>
            </a:r>
          </a:p>
        </p:txBody>
      </p:sp>
      <p:sp>
        <p:nvSpPr>
          <p:cNvPr id="15" name="Rectangle 14"/>
          <p:cNvSpPr/>
          <p:nvPr/>
        </p:nvSpPr>
        <p:spPr>
          <a:xfrm>
            <a:off x="336499" y="4048963"/>
            <a:ext cx="5508345" cy="2472537"/>
          </a:xfrm>
          <a:prstGeom prst="rect">
            <a:avLst/>
          </a:prstGeom>
          <a:solidFill>
            <a:srgbClr val="1560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47472" y="4059936"/>
            <a:ext cx="5486400" cy="24505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t" wrap="square" lIns="82296" rIns="82296"/>
          <a:lstStyle/>
          <a:p>
            <a:pPr algn="l">
              <a:lnSpc>
                <a:spcPct val="107000"/>
              </a:lnSpc>
              <a:spcAft>
                <a:spcPts val="400"/>
              </a:spcAft>
            </a:pPr>
            <a:r>
              <a:rPr sz="1050" b="1">
                <a:solidFill>
                  <a:srgbClr val="0B1528"/>
                </a:solidFill>
                <a:latin typeface="Arial"/>
              </a:rPr>
              <a:t>2. ĐỊNH HƯỚNG HÀNH ĐỘNG TRỌNG TÂM ĐẾN ĐẠI HỘI (DỰ KIẾN 04/01/2027):</a:t>
            </a:r>
          </a:p>
          <a:p>
            <a:pPr algn="l">
              <a:lnSpc>
                <a:spcPct val="107000"/>
              </a:lnSpc>
              <a:spcAft>
                <a:spcPts val="400"/>
              </a:spcAft>
            </a:pPr>
            <a:r>
              <a:rPr sz="910" b="0">
                <a:solidFill>
                  <a:srgbClr val="121C2D"/>
                </a:solidFill>
                <a:latin typeface="Arial"/>
              </a:rPr>
              <a:t>• [Giải pháp 1 — Hóa giải con số 1.000 tỷ bằng Minh bạch Tài chính Quốc tế]: Không đôi co cá nhân, nhưng cần thông qua Báo chính thống (VnExpress, Thanh Niên, Tuổi Trẻ, Lao Động) công bố rõ: VFF hiện đã tự chủ tài chính và nhận các gói tài trợ định chế hàng trăm tỷ từ FIFA (như gói 650 tỷ FIFA Forward), AFC và các nhà tài trợ dài hạn mà không phụ thuộc túi tiền cá nhân của bất kỳ ông bầu nào.</a:t>
            </a:r>
          </a:p>
          <a:p>
            <a:pPr algn="l">
              <a:lnSpc>
                <a:spcPct val="107000"/>
              </a:lnSpc>
              <a:spcAft>
                <a:spcPts val="400"/>
              </a:spcAft>
            </a:pPr>
            <a:r>
              <a:rPr sz="910" b="0">
                <a:solidFill>
                  <a:srgbClr val="121C2D"/>
                </a:solidFill>
                <a:latin typeface="Arial"/>
              </a:rPr>
              <a:t>• [Giải pháp 2 — Hấp thụ kịch bản 'Liên danh 1' (121 phiếu = 56,5% khối Liên danh)]: Chủ động phát thông điệp cởi mở chào đón các doanh nhân/tỷ phú tham gia gánh vác vị trí Phó Chủ tịch Tài chính &amp; Vận động tài trợ hoặc Chủ tịch HĐQT VPF, giữ vững nguyên tắc Chủ tịch VFF là nhà quản trị chuyên trách quốc tế.</a:t>
            </a:r>
          </a:p>
          <a:p>
            <a:pPr algn="l">
              <a:lnSpc>
                <a:spcPct val="107000"/>
              </a:lnSpc>
              <a:spcAft>
                <a:spcPts val="0"/>
              </a:spcAft>
            </a:pPr>
            <a:r>
              <a:rPr sz="910" b="0">
                <a:solidFill>
                  <a:srgbClr val="121C2D"/>
                </a:solidFill>
                <a:latin typeface="Arial"/>
              </a:rPr>
              <a:t>• [Giải pháp 3 — Xử lý 112 bình luận phản đối]: Tránh tuyệt đối các phát ngôn gây hiểu lầm kiểu 'cầu thủ nhập tịch chỉ là thử nghiệm'; đẩy mạnh truyền thông kết quả thi đấu của U17/U23 và lộ trình nâng chất V.League.</a:t>
            </a:r>
          </a:p>
        </p:txBody>
      </p:sp>
      <p:sp>
        <p:nvSpPr>
          <p:cNvPr id="17" name="Rectangle 16"/>
          <p:cNvSpPr/>
          <p:nvPr/>
        </p:nvSpPr>
        <p:spPr>
          <a:xfrm>
            <a:off x="6194145" y="899769"/>
            <a:ext cx="5808268" cy="5771692"/>
          </a:xfrm>
          <a:prstGeom prst="rect">
            <a:avLst/>
          </a:prstGeom>
          <a:solidFill>
            <a:srgbClr val="D627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08776" y="914400"/>
            <a:ext cx="5779008" cy="57424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08776" y="914400"/>
            <a:ext cx="5779008" cy="512064"/>
          </a:xfrm>
          <a:prstGeom prst="rect">
            <a:avLst/>
          </a:prstGeom>
          <a:solidFill>
            <a:srgbClr val="D627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36792" y="941832"/>
            <a:ext cx="5522976" cy="457200"/>
          </a:xfrm>
          <a:prstGeom prst="rect">
            <a:avLst/>
          </a:prstGeom>
          <a:noFill/>
        </p:spPr>
        <p:txBody>
          <a:bodyPr wrap="square" anchor="ctr" lIns="45720" rIns="45720" tIns="27432" bIns="27432">
            <a:spAutoFit/>
          </a:bodyPr>
          <a:lstStyle/>
          <a:p>
            <a:pPr algn="ctr">
              <a:lnSpc>
                <a:spcPct val="105000"/>
              </a:lnSpc>
            </a:pPr>
            <a:r>
              <a:rPr sz="950" b="1">
                <a:solidFill>
                  <a:srgbClr val="FFFFFF"/>
                </a:solidFill>
                <a:latin typeface="Arial"/>
              </a:rPr>
              <a:t>NẾU BẠN LÀ ÔNG NGUYỄN ĐỨC THỤY (BẦU THỤY)</a:t>
            </a:r>
          </a:p>
          <a:p>
            <a:pPr algn="ctr">
              <a:lnSpc>
                <a:spcPct val="105000"/>
              </a:lnSpc>
            </a:pPr>
            <a:r>
              <a:rPr sz="950" b="1">
                <a:solidFill>
                  <a:srgbClr val="FFFFFF"/>
                </a:solidFill>
                <a:latin typeface="Arial"/>
              </a:rPr>
              <a:t>(Vị thế: Thách thức mạnh về PR &amp; Tài chính — Cần vượt rào cản Tín nhiệm Độc giả)</a:t>
            </a:r>
          </a:p>
        </p:txBody>
      </p:sp>
      <p:sp>
        <p:nvSpPr>
          <p:cNvPr id="21" name="Rectangle 20"/>
          <p:cNvSpPr/>
          <p:nvPr/>
        </p:nvSpPr>
        <p:spPr>
          <a:xfrm>
            <a:off x="6344107" y="1525219"/>
            <a:ext cx="5508345" cy="2445105"/>
          </a:xfrm>
          <a:prstGeom prst="rect">
            <a:avLst/>
          </a:prstGeom>
          <a:solidFill>
            <a:srgbClr val="D627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355080" y="1536192"/>
            <a:ext cx="5486400" cy="2423160"/>
          </a:xfrm>
          <a:prstGeom prst="rect">
            <a:avLst/>
          </a:prstGeom>
          <a:solidFill>
            <a:srgbClr val="FEEEEE"/>
          </a:solidFill>
          <a:ln>
            <a:noFill/>
          </a:ln>
        </p:spPr>
        <p:style>
          <a:lnRef idx="1">
            <a:schemeClr val="accent1"/>
          </a:lnRef>
          <a:fillRef idx="3">
            <a:schemeClr val="accent1"/>
          </a:fillRef>
          <a:effectRef idx="2">
            <a:schemeClr val="accent1"/>
          </a:effectRef>
          <a:fontRef idx="minor">
            <a:schemeClr val="lt1"/>
          </a:fontRef>
        </p:style>
        <p:txBody>
          <a:bodyPr rtlCol="0" anchor="t" wrap="square" lIns="82296" rIns="82296"/>
          <a:lstStyle/>
          <a:p>
            <a:pPr algn="l">
              <a:lnSpc>
                <a:spcPct val="107000"/>
              </a:lnSpc>
              <a:spcAft>
                <a:spcPts val="400"/>
              </a:spcAft>
            </a:pPr>
            <a:r>
              <a:rPr sz="1050" b="1">
                <a:solidFill>
                  <a:srgbClr val="D62728"/>
                </a:solidFill>
                <a:latin typeface="Arial"/>
              </a:rPr>
              <a:t>1. TÌNH HÌNH HIỆN TẠI CỦA BẠN (ĐẾN 22/10/2026):</a:t>
            </a:r>
          </a:p>
          <a:p>
            <a:pPr algn="l">
              <a:lnSpc>
                <a:spcPct val="107000"/>
              </a:lnSpc>
              <a:spcAft>
                <a:spcPts val="400"/>
              </a:spcAft>
            </a:pPr>
            <a:r>
              <a:rPr sz="919" b="0">
                <a:solidFill>
                  <a:srgbClr val="121C2D"/>
                </a:solidFill>
                <a:latin typeface="Arial"/>
              </a:rPr>
              <a:t>• Chiến dịch đẩy sóng của bạn rất mạnh về tốc độ và độ phủ (454 bài/video đề cập, 316 bài ủng hộ). Đặc biệt 2 nhịp nổ ngày 19–20/10 ('&gt;40/57 đề cử') và ngày 21–22/10 ('Cam kết huy động 600–1.000 tỷ/năm, không dùng ngân sách') giúp bạn thu hút 405 phiếu bầu Chủ tịch (312 bầu thẳng + 93 Liên danh 2).</a:t>
            </a:r>
          </a:p>
          <a:p>
            <a:pPr algn="l">
              <a:lnSpc>
                <a:spcPct val="107000"/>
              </a:lnSpc>
              <a:spcAft>
                <a:spcPts val="400"/>
              </a:spcAft>
            </a:pPr>
            <a:r>
              <a:rPr sz="919" b="0">
                <a:solidFill>
                  <a:srgbClr val="121C2D"/>
                </a:solidFill>
                <a:latin typeface="Arial"/>
              </a:rPr>
              <a:t>• NHƯNG điểm nghẽn lớn nhất nằm ở Tầng Bình luận Khán giả: Bạn đang chịu tới 210 bình luận phản đối trực diện (14,9% — cao gấp đôi đối thủ) + 101 bình luận phản đối cả hai = 311 bình luận tiêu cực.</a:t>
            </a:r>
          </a:p>
          <a:p>
            <a:pPr algn="l">
              <a:lnSpc>
                <a:spcPct val="107000"/>
              </a:lnSpc>
              <a:spcAft>
                <a:spcPts val="0"/>
              </a:spcAft>
            </a:pPr>
            <a:r>
              <a:rPr sz="919" b="0">
                <a:solidFill>
                  <a:srgbClr val="121C2D"/>
                </a:solidFill>
                <a:latin typeface="Arial"/>
              </a:rPr>
              <a:t>• Hai rào cản tâm lý khiến độc giả phản ứng ngược: (1) Ám ảnh tiền lệ giải tán CLB Sài Gòn Xuân Thành (2013), đổi tên CLB và xung đột lợi ích đa đội bóng; (2) Chiến dịch Seeding cơ học của cụm 'Phấn Đấu' (33 bài giống hệt nhau) làm giảm tính chính danh.</a:t>
            </a:r>
          </a:p>
        </p:txBody>
      </p:sp>
      <p:sp>
        <p:nvSpPr>
          <p:cNvPr id="23" name="Rectangle 22"/>
          <p:cNvSpPr/>
          <p:nvPr/>
        </p:nvSpPr>
        <p:spPr>
          <a:xfrm>
            <a:off x="6344107" y="4048963"/>
            <a:ext cx="5508345" cy="2472537"/>
          </a:xfrm>
          <a:prstGeom prst="rect">
            <a:avLst/>
          </a:prstGeom>
          <a:solidFill>
            <a:srgbClr val="D627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355080" y="4059936"/>
            <a:ext cx="5486400" cy="24505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t" wrap="square" lIns="82296" rIns="82296"/>
          <a:lstStyle/>
          <a:p>
            <a:pPr algn="l">
              <a:lnSpc>
                <a:spcPct val="107000"/>
              </a:lnSpc>
              <a:spcAft>
                <a:spcPts val="400"/>
              </a:spcAft>
            </a:pPr>
            <a:r>
              <a:rPr sz="1050" b="1">
                <a:solidFill>
                  <a:srgbClr val="0B1528"/>
                </a:solidFill>
                <a:latin typeface="Arial"/>
              </a:rPr>
              <a:t>2. ĐỊNH HƯỚNG HÀNH ĐỘNG TRỌNG TÂM ĐẾN ĐẠI HỘI (DỰ KIẾN 04/01/2027):</a:t>
            </a:r>
          </a:p>
          <a:p>
            <a:pPr algn="l">
              <a:lnSpc>
                <a:spcPct val="107000"/>
              </a:lnSpc>
              <a:spcAft>
                <a:spcPts val="400"/>
              </a:spcAft>
            </a:pPr>
            <a:r>
              <a:rPr sz="910" b="0">
                <a:solidFill>
                  <a:srgbClr val="121C2D"/>
                </a:solidFill>
                <a:latin typeface="Arial"/>
              </a:rPr>
              <a:t>• [Giải pháp 1 — Dừng ngay Seeding đồng phục &amp; Cụ thể hóa con số 600–1.000 tỷ]: Ngừng ngay việc rải bài đồng phục qua các tài khoản ảo ('Phấn Đấu', '24h New'); thay bằng phỏng vấn chính luận giải thích rõ cơ chế pháp lý của Quỹ 600–1.000 tỷ/năm (cam kết ký hợp đồng tài trợ 4 năm không hủy ngang để xóa định kiến 'giận dỗi bỏ đội').</a:t>
            </a:r>
          </a:p>
          <a:p>
            <a:pPr algn="l">
              <a:lnSpc>
                <a:spcPct val="107000"/>
              </a:lnSpc>
              <a:spcAft>
                <a:spcPts val="400"/>
              </a:spcAft>
            </a:pPr>
            <a:r>
              <a:rPr sz="910" b="0">
                <a:solidFill>
                  <a:srgbClr val="121C2D"/>
                </a:solidFill>
                <a:latin typeface="Arial"/>
              </a:rPr>
              <a:t>• [Giải pháp 2 — Giải quyết triệt để bài toán Xung đột Lợi ích CLB]: Công bố cam kết độc lập hoàn toàn với các CLB V.League/Hạng Nhất và cơ chế giám sát trọng tài minh bạch nếu tham gia Thường trực VFF.</a:t>
            </a:r>
          </a:p>
          <a:p>
            <a:pPr algn="l">
              <a:lnSpc>
                <a:spcPct val="107000"/>
              </a:lnSpc>
              <a:spcAft>
                <a:spcPts val="0"/>
              </a:spcAft>
            </a:pPr>
            <a:r>
              <a:rPr sz="910" b="0">
                <a:solidFill>
                  <a:srgbClr val="121C2D"/>
                </a:solidFill>
                <a:latin typeface="Arial"/>
              </a:rPr>
              <a:t>• [Giải pháp 3 — Kịch bản Đắc lợi Kép (Win-Win)]: Tận dụng 214 phiếu đề xuất Liên danh (121 phiếu muốn bạn làm Phó CT Tài chính + 93 phiếu muốn bạn làm CT) để thương lượng vị trí chủ chốt trong Thường trực VFF / VPF mà vẫn giữ trọn thiện cảm công chúng.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4F6FA"/>
        </a:solidFill>
        <a:effectLst/>
      </p:bgPr>
    </p:bg>
    <p:spTree>
      <p:nvGrpSpPr>
        <p:cNvPr id="1" name=""/>
        <p:cNvGrpSpPr/>
        <p:nvPr/>
      </p:nvGrpSpPr>
      <p:grpSpPr/>
      <p:sp>
        <p:nvSpPr>
          <p:cNvPr id="2" name="Rectangle 1"/>
          <p:cNvSpPr/>
          <p:nvPr/>
        </p:nvSpPr>
        <p:spPr>
          <a:xfrm>
            <a:off x="0" y="0"/>
            <a:ext cx="4059936" cy="54864"/>
          </a:xfrm>
          <a:prstGeom prst="rect">
            <a:avLst/>
          </a:prstGeom>
          <a:solidFill>
            <a:srgbClr val="1560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059936" y="0"/>
            <a:ext cx="4069080" cy="54864"/>
          </a:xfrm>
          <a:prstGeom prst="rect">
            <a:avLst/>
          </a:prstGeom>
          <a:solidFill>
            <a:srgbClr val="F5B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129016" y="0"/>
            <a:ext cx="4059936" cy="54864"/>
          </a:xfrm>
          <a:prstGeom prst="rect">
            <a:avLst/>
          </a:prstGeom>
          <a:solidFill>
            <a:srgbClr val="D627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54864"/>
            <a:ext cx="12191695" cy="786384"/>
          </a:xfrm>
          <a:prstGeom prst="rect">
            <a:avLst/>
          </a:prstGeom>
          <a:solidFill>
            <a:srgbClr val="0B15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01168" y="128016"/>
            <a:ext cx="2029968" cy="274320"/>
          </a:xfrm>
          <a:prstGeom prst="rect">
            <a:avLst/>
          </a:prstGeom>
          <a:solidFill>
            <a:srgbClr val="1560D4"/>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860" b="1">
                <a:solidFill>
                  <a:srgbClr val="F5B400"/>
                </a:solidFill>
                <a:latin typeface="Arial"/>
              </a:rPr>
              <a:t>WAR-ROOM APPENDIX • SLIDE 8</a:t>
            </a:r>
          </a:p>
        </p:txBody>
      </p:sp>
      <p:sp>
        <p:nvSpPr>
          <p:cNvPr id="7" name="TextBox 6"/>
          <p:cNvSpPr txBox="1"/>
          <p:nvPr/>
        </p:nvSpPr>
        <p:spPr>
          <a:xfrm>
            <a:off x="2286000" y="109728"/>
            <a:ext cx="9738360" cy="310896"/>
          </a:xfrm>
          <a:prstGeom prst="rect">
            <a:avLst/>
          </a:prstGeom>
          <a:noFill/>
        </p:spPr>
        <p:txBody>
          <a:bodyPr wrap="square" anchor="ctr" lIns="45720" rIns="45720" tIns="27432" bIns="27432">
            <a:spAutoFit/>
          </a:bodyPr>
          <a:lstStyle/>
          <a:p>
            <a:pPr algn="l">
              <a:lnSpc>
                <a:spcPct val="112000"/>
              </a:lnSpc>
            </a:pPr>
            <a:r>
              <a:rPr sz="1300" b="1">
                <a:solidFill>
                  <a:srgbClr val="FFFFFF"/>
                </a:solidFill>
                <a:latin typeface="Arial"/>
              </a:rPr>
              <a:t>PHỤ LỤC KIỂM CHỨNG: TOP 15 BÀI ĐĂNG/VIDEO TRỌNG ĐIỂM &amp; GÓC NHÌN VỚI 2 ỨNG VIÊN</a:t>
            </a:r>
          </a:p>
        </p:txBody>
      </p:sp>
      <p:sp>
        <p:nvSpPr>
          <p:cNvPr id="8" name="TextBox 7"/>
          <p:cNvSpPr txBox="1"/>
          <p:nvPr/>
        </p:nvSpPr>
        <p:spPr>
          <a:xfrm>
            <a:off x="201168" y="475488"/>
            <a:ext cx="11795760" cy="292608"/>
          </a:xfrm>
          <a:prstGeom prst="rect">
            <a:avLst/>
          </a:prstGeom>
          <a:noFill/>
        </p:spPr>
        <p:txBody>
          <a:bodyPr wrap="square" anchor="ctr" lIns="45720" rIns="45720" tIns="27432" bIns="27432">
            <a:spAutoFit/>
          </a:bodyPr>
          <a:lstStyle/>
          <a:p>
            <a:pPr algn="l">
              <a:lnSpc>
                <a:spcPct val="112000"/>
              </a:lnSpc>
            </a:pPr>
            <a:r>
              <a:rPr sz="960" b="0">
                <a:solidFill>
                  <a:srgbClr val="C8D4E6"/>
                </a:solidFill>
                <a:latin typeface="Arial"/>
              </a:rPr>
              <a:t>Hệ thống hồ sơ đối chiếu trực tiếp từng nguồn phát tán: Tên trang • Ngày đăng • Tương tác thật • Tóm tắt nội dung • Góc nhìn với 2 Ứng viên • Link gốc</a:t>
            </a:r>
          </a:p>
        </p:txBody>
      </p:sp>
      <p:graphicFrame>
        <p:nvGraphicFramePr>
          <p:cNvPr id="9" name="Table 8"/>
          <p:cNvGraphicFramePr>
            <a:graphicFrameLocks noGrp="1"/>
          </p:cNvGraphicFramePr>
          <p:nvPr/>
        </p:nvGraphicFramePr>
        <p:xfrm>
          <a:off x="164592" y="896112"/>
          <a:ext cx="11859768" cy="5779008"/>
        </p:xfrm>
        <a:graphic>
          <a:graphicData uri="http://schemas.openxmlformats.org/drawingml/2006/table">
            <a:tbl>
              <a:tblPr firstRow="1" bandRow="1">
                <a:tableStyleId>{5C22544A-7EE6-4342-B048-85BDC9FD1C3A}</a:tableStyleId>
              </a:tblPr>
              <a:tblGrid>
                <a:gridCol w="384048"/>
                <a:gridCol w="1783080"/>
                <a:gridCol w="777240"/>
                <a:gridCol w="1234440"/>
                <a:gridCol w="2834640"/>
                <a:gridCol w="1691640"/>
                <a:gridCol w="1691640"/>
                <a:gridCol w="1463040"/>
              </a:tblGrid>
              <a:tr h="361188">
                <a:tc>
                  <a:txBody>
                    <a:bodyPr wrap="square"/>
                    <a:lstStyle/>
                    <a:p>
                      <a:pPr algn="ctr">
                        <a:lnSpc>
                          <a:spcPct val="103000"/>
                        </a:lnSpc>
                      </a:pPr>
                      <a:r>
                        <a:rPr sz="760" b="1">
                          <a:solidFill>
                            <a:srgbClr val="FFFFFF"/>
                          </a:solidFill>
                          <a:latin typeface="Arial"/>
                        </a:rPr>
                        <a:t>#</a:t>
                      </a:r>
                    </a:p>
                  </a:txBody>
                  <a:tcPr anchor="ctr" marL="36576" marR="36576" marT="13716" marB="13716">
                    <a:solidFill>
                      <a:srgbClr val="0B1528"/>
                    </a:solidFill>
                  </a:tcPr>
                </a:tc>
                <a:tc>
                  <a:txBody>
                    <a:bodyPr wrap="square"/>
                    <a:lstStyle/>
                    <a:p>
                      <a:pPr algn="ctr">
                        <a:lnSpc>
                          <a:spcPct val="103000"/>
                        </a:lnSpc>
                      </a:pPr>
                      <a:r>
                        <a:rPr sz="760" b="1">
                          <a:solidFill>
                            <a:srgbClr val="FFFFFF"/>
                          </a:solidFill>
                          <a:latin typeface="Arial"/>
                        </a:rPr>
                        <a:t>Nền Tảng &amp; Tên Kênh</a:t>
                      </a:r>
                    </a:p>
                  </a:txBody>
                  <a:tcPr anchor="ctr" marL="36576" marR="36576" marT="13716" marB="13716">
                    <a:solidFill>
                      <a:srgbClr val="0B1528"/>
                    </a:solidFill>
                  </a:tcPr>
                </a:tc>
                <a:tc>
                  <a:txBody>
                    <a:bodyPr wrap="square"/>
                    <a:lstStyle/>
                    <a:p>
                      <a:pPr algn="ctr">
                        <a:lnSpc>
                          <a:spcPct val="103000"/>
                        </a:lnSpc>
                      </a:pPr>
                      <a:r>
                        <a:rPr sz="760" b="1">
                          <a:solidFill>
                            <a:srgbClr val="FFFFFF"/>
                          </a:solidFill>
                          <a:latin typeface="Arial"/>
                        </a:rPr>
                        <a:t>Ngày Đăng</a:t>
                      </a:r>
                    </a:p>
                  </a:txBody>
                  <a:tcPr anchor="ctr" marL="36576" marR="36576" marT="13716" marB="13716">
                    <a:solidFill>
                      <a:srgbClr val="0B1528"/>
                    </a:solidFill>
                  </a:tcPr>
                </a:tc>
                <a:tc>
                  <a:txBody>
                    <a:bodyPr wrap="square"/>
                    <a:lstStyle/>
                    <a:p>
                      <a:pPr algn="ctr">
                        <a:lnSpc>
                          <a:spcPct val="103000"/>
                        </a:lnSpc>
                      </a:pPr>
                      <a:r>
                        <a:rPr sz="760" b="1">
                          <a:solidFill>
                            <a:srgbClr val="FFFFFF"/>
                          </a:solidFill>
                          <a:latin typeface="Arial"/>
                        </a:rPr>
                        <a:t>Quy Mô Bài &amp;</a:t>
                      </a:r>
                    </a:p>
                    <a:p>
                      <a:pPr algn="ctr">
                        <a:lnSpc>
                          <a:spcPct val="103000"/>
                        </a:lnSpc>
                      </a:pPr>
                      <a:r>
                        <a:rPr sz="760" b="1">
                          <a:solidFill>
                            <a:srgbClr val="FFFFFF"/>
                          </a:solidFill>
                          <a:latin typeface="Arial"/>
                        </a:rPr>
                        <a:t>Tương Tác Thật</a:t>
                      </a:r>
                    </a:p>
                  </a:txBody>
                  <a:tcPr anchor="ctr" marL="36576" marR="36576" marT="13716" marB="13716">
                    <a:solidFill>
                      <a:srgbClr val="0B1528"/>
                    </a:solidFill>
                  </a:tcPr>
                </a:tc>
                <a:tc>
                  <a:txBody>
                    <a:bodyPr wrap="square"/>
                    <a:lstStyle/>
                    <a:p>
                      <a:pPr algn="ctr">
                        <a:lnSpc>
                          <a:spcPct val="103000"/>
                        </a:lnSpc>
                      </a:pPr>
                      <a:r>
                        <a:rPr sz="760" b="1">
                          <a:solidFill>
                            <a:srgbClr val="FFFFFF"/>
                          </a:solidFill>
                          <a:latin typeface="Arial"/>
                        </a:rPr>
                        <a:t>Tóm Tắt Nội Dung Chính Của Bài Đăng / Video</a:t>
                      </a:r>
                    </a:p>
                  </a:txBody>
                  <a:tcPr anchor="ctr" marL="36576" marR="36576" marT="13716" marB="13716">
                    <a:solidFill>
                      <a:srgbClr val="0B1528"/>
                    </a:solidFill>
                  </a:tcPr>
                </a:tc>
                <a:tc>
                  <a:txBody>
                    <a:bodyPr wrap="square"/>
                    <a:lstStyle/>
                    <a:p>
                      <a:pPr algn="ctr">
                        <a:lnSpc>
                          <a:spcPct val="103000"/>
                        </a:lnSpc>
                      </a:pPr>
                      <a:r>
                        <a:rPr sz="760" b="1">
                          <a:solidFill>
                            <a:srgbClr val="FFFFFF"/>
                          </a:solidFill>
                          <a:latin typeface="Arial"/>
                        </a:rPr>
                        <a:t>Góc Nhìn Với</a:t>
                      </a:r>
                    </a:p>
                    <a:p>
                      <a:pPr algn="ctr">
                        <a:lnSpc>
                          <a:spcPct val="103000"/>
                        </a:lnSpc>
                      </a:pPr>
                      <a:r>
                        <a:rPr sz="760" b="1">
                          <a:solidFill>
                            <a:srgbClr val="FFFFFF"/>
                          </a:solidFill>
                          <a:latin typeface="Arial"/>
                        </a:rPr>
                        <a:t>TS. Trần Quốc Tuấn</a:t>
                      </a:r>
                    </a:p>
                  </a:txBody>
                  <a:tcPr anchor="ctr" marL="36576" marR="36576" marT="13716" marB="13716">
                    <a:solidFill>
                      <a:srgbClr val="0B1528"/>
                    </a:solidFill>
                  </a:tcPr>
                </a:tc>
                <a:tc>
                  <a:txBody>
                    <a:bodyPr wrap="square"/>
                    <a:lstStyle/>
                    <a:p>
                      <a:pPr algn="ctr">
                        <a:lnSpc>
                          <a:spcPct val="103000"/>
                        </a:lnSpc>
                      </a:pPr>
                      <a:r>
                        <a:rPr sz="760" b="1">
                          <a:solidFill>
                            <a:srgbClr val="FFFFFF"/>
                          </a:solidFill>
                          <a:latin typeface="Arial"/>
                        </a:rPr>
                        <a:t>Góc Nhìn Với</a:t>
                      </a:r>
                    </a:p>
                    <a:p>
                      <a:pPr algn="ctr">
                        <a:lnSpc>
                          <a:spcPct val="103000"/>
                        </a:lnSpc>
                      </a:pPr>
                      <a:r>
                        <a:rPr sz="760" b="1">
                          <a:solidFill>
                            <a:srgbClr val="FFFFFF"/>
                          </a:solidFill>
                          <a:latin typeface="Arial"/>
                        </a:rPr>
                        <a:t>Ông Nguyễn Đức Thụy</a:t>
                      </a:r>
                    </a:p>
                  </a:txBody>
                  <a:tcPr anchor="ctr" marL="36576" marR="36576" marT="13716" marB="13716">
                    <a:solidFill>
                      <a:srgbClr val="0B1528"/>
                    </a:solidFill>
                  </a:tcPr>
                </a:tc>
                <a:tc>
                  <a:txBody>
                    <a:bodyPr wrap="square"/>
                    <a:lstStyle/>
                    <a:p>
                      <a:pPr algn="ctr">
                        <a:lnSpc>
                          <a:spcPct val="103000"/>
                        </a:lnSpc>
                      </a:pPr>
                      <a:r>
                        <a:rPr sz="760" b="1">
                          <a:solidFill>
                            <a:srgbClr val="FFFFFF"/>
                          </a:solidFill>
                          <a:latin typeface="Arial"/>
                        </a:rPr>
                        <a:t>Link Kiểm Chứng</a:t>
                      </a:r>
                    </a:p>
                    <a:p>
                      <a:pPr algn="ctr">
                        <a:lnSpc>
                          <a:spcPct val="103000"/>
                        </a:lnSpc>
                      </a:pPr>
                      <a:r>
                        <a:rPr sz="760" b="1">
                          <a:solidFill>
                            <a:srgbClr val="FFFFFF"/>
                          </a:solidFill>
                          <a:latin typeface="Arial"/>
                        </a:rPr>
                        <a:t>&amp; Mã Hồ Sơ</a:t>
                      </a:r>
                    </a:p>
                  </a:txBody>
                  <a:tcPr anchor="ctr" marL="36576" marR="36576" marT="13716" marB="13716">
                    <a:solidFill>
                      <a:srgbClr val="0B1528"/>
                    </a:solidFill>
                  </a:tcPr>
                </a:tc>
              </a:tr>
              <a:tr h="361188">
                <a:tc>
                  <a:txBody>
                    <a:bodyPr wrap="square"/>
                    <a:lstStyle/>
                    <a:p>
                      <a:pPr algn="ctr">
                        <a:lnSpc>
                          <a:spcPct val="103000"/>
                        </a:lnSpc>
                      </a:pPr>
                      <a:r>
                        <a:rPr sz="670" b="1">
                          <a:solidFill>
                            <a:srgbClr val="121C2D"/>
                          </a:solidFill>
                          <a:latin typeface="Arial"/>
                        </a:rPr>
                        <a:t>1</a:t>
                      </a:r>
                    </a:p>
                  </a:txBody>
                  <a:tcPr anchor="ctr" marL="36576" marR="36576" marT="13716" marB="13716">
                    <a:solidFill>
                      <a:srgbClr val="FFFFFF"/>
                    </a:solidFill>
                  </a:tcPr>
                </a:tc>
                <a:tc>
                  <a:txBody>
                    <a:bodyPr wrap="square"/>
                    <a:lstStyle/>
                    <a:p>
                      <a:pPr algn="l">
                        <a:lnSpc>
                          <a:spcPct val="103000"/>
                        </a:lnSpc>
                      </a:pPr>
                      <a:r>
                        <a:rPr sz="670" b="1">
                          <a:solidFill>
                            <a:srgbClr val="121C2D"/>
                          </a:solidFill>
                          <a:latin typeface="Arial"/>
                        </a:rPr>
                        <a:t>Facebook Fanpage</a:t>
                      </a:r>
                    </a:p>
                    <a:p>
                      <a:pPr algn="l">
                        <a:lnSpc>
                          <a:spcPct val="103000"/>
                        </a:lnSpc>
                      </a:pPr>
                      <a:r>
                        <a:rPr sz="670" b="1">
                          <a:solidFill>
                            <a:srgbClr val="121C2D"/>
                          </a:solidFill>
                          <a:latin typeface="Arial"/>
                        </a:rPr>
                        <a:t>Liên đoàn BĐVN - VFF</a:t>
                      </a:r>
                    </a:p>
                  </a:txBody>
                  <a:tcPr anchor="ctr" marL="36576" marR="36576" marT="13716" marB="13716">
                    <a:solidFill>
                      <a:srgbClr val="FFFFFF"/>
                    </a:solidFill>
                  </a:tcPr>
                </a:tc>
                <a:tc>
                  <a:txBody>
                    <a:bodyPr wrap="square"/>
                    <a:lstStyle/>
                    <a:p>
                      <a:pPr algn="ctr">
                        <a:lnSpc>
                          <a:spcPct val="103000"/>
                        </a:lnSpc>
                      </a:pPr>
                      <a:r>
                        <a:rPr sz="670" b="0">
                          <a:solidFill>
                            <a:srgbClr val="121C2D"/>
                          </a:solidFill>
                          <a:latin typeface="Arial"/>
                        </a:rPr>
                        <a:t>01–22/10</a:t>
                      </a:r>
                    </a:p>
                    <a:p>
                      <a:pPr algn="ctr">
                        <a:lnSpc>
                          <a:spcPct val="103000"/>
                        </a:lnSpc>
                      </a:pPr>
                      <a:r>
                        <a:rPr sz="670" b="0">
                          <a:solidFill>
                            <a:srgbClr val="121C2D"/>
                          </a:solidFill>
                          <a:latin typeface="Arial"/>
                        </a:rPr>
                        <a:t>(71 bài)</a:t>
                      </a:r>
                    </a:p>
                  </a:txBody>
                  <a:tcPr anchor="ctr" marL="36576" marR="36576" marT="13716" marB="13716">
                    <a:solidFill>
                      <a:srgbClr val="FFFFFF"/>
                    </a:solidFill>
                  </a:tcPr>
                </a:tc>
                <a:tc>
                  <a:txBody>
                    <a:bodyPr wrap="square"/>
                    <a:lstStyle/>
                    <a:p>
                      <a:pPr algn="ctr">
                        <a:lnSpc>
                          <a:spcPct val="103000"/>
                        </a:lnSpc>
                      </a:pPr>
                      <a:r>
                        <a:rPr sz="670" b="0">
                          <a:solidFill>
                            <a:srgbClr val="121C2D"/>
                          </a:solidFill>
                          <a:latin typeface="Arial"/>
                        </a:rPr>
                        <a:t>48.498 likes</a:t>
                      </a:r>
                    </a:p>
                    <a:p>
                      <a:pPr algn="ctr">
                        <a:lnSpc>
                          <a:spcPct val="103000"/>
                        </a:lnSpc>
                      </a:pPr>
                      <a:r>
                        <a:rPr sz="670" b="0">
                          <a:solidFill>
                            <a:srgbClr val="121C2D"/>
                          </a:solidFill>
                          <a:latin typeface="Arial"/>
                        </a:rPr>
                        <a:t>1.078 bình luận</a:t>
                      </a:r>
                    </a:p>
                  </a:txBody>
                  <a:tcPr anchor="ctr" marL="36576" marR="36576" marT="13716" marB="13716">
                    <a:solidFill>
                      <a:srgbClr val="FFFFFF"/>
                    </a:solidFill>
                  </a:tcPr>
                </a:tc>
                <a:tc>
                  <a:txBody>
                    <a:bodyPr wrap="square"/>
                    <a:lstStyle/>
                    <a:p>
                      <a:pPr algn="l">
                        <a:lnSpc>
                          <a:spcPct val="103000"/>
                        </a:lnSpc>
                      </a:pPr>
                      <a:r>
                        <a:rPr sz="670" b="0">
                          <a:solidFill>
                            <a:srgbClr val="121C2D"/>
                          </a:solidFill>
                          <a:latin typeface="Arial"/>
                        </a:rPr>
                        <a:t>Chuỗi bài tổng kết 7 ĐTQG vào VCK châu Á, Chủ tịch VFF Trần Quốc Tuấn dự Hội nghị AFC tại Tokyo &amp; động viên U15/U17.</a:t>
                      </a:r>
                    </a:p>
                  </a:txBody>
                  <a:tcPr anchor="ctr" marL="36576" marR="36576" marT="13716" marB="13716">
                    <a:solidFill>
                      <a:srgbClr val="FFFFFF"/>
                    </a:solidFill>
                  </a:tcPr>
                </a:tc>
                <a:tc>
                  <a:txBody>
                    <a:bodyPr wrap="square"/>
                    <a:lstStyle/>
                    <a:p>
                      <a:pPr algn="l">
                        <a:lnSpc>
                          <a:spcPct val="103000"/>
                        </a:lnSpc>
                      </a:pPr>
                      <a:r>
                        <a:rPr sz="670" b="1">
                          <a:solidFill>
                            <a:srgbClr val="1560D4"/>
                          </a:solidFill>
                          <a:latin typeface="Arial"/>
                        </a:rPr>
                        <a:t>ỦNG HỘ TRỰC DIỆN</a:t>
                      </a:r>
                    </a:p>
                    <a:p>
                      <a:pPr algn="l">
                        <a:lnSpc>
                          <a:spcPct val="103000"/>
                        </a:lnSpc>
                      </a:pPr>
                      <a:r>
                        <a:rPr sz="670" b="1">
                          <a:solidFill>
                            <a:srgbClr val="1560D4"/>
                          </a:solidFill>
                          <a:latin typeface="Arial"/>
                        </a:rPr>
                        <a:t>(74 bình luận bầu CT + 8 LD1)</a:t>
                      </a:r>
                    </a:p>
                  </a:txBody>
                  <a:tcPr anchor="ctr" marL="36576" marR="36576" marT="13716" marB="13716">
                    <a:solidFill>
                      <a:srgbClr val="EBF3FF"/>
                    </a:solidFill>
                  </a:tcPr>
                </a:tc>
                <a:tc>
                  <a:txBody>
                    <a:bodyPr wrap="square"/>
                    <a:lstStyle/>
                    <a:p>
                      <a:pPr algn="l">
                        <a:lnSpc>
                          <a:spcPct val="103000"/>
                        </a:lnSpc>
                      </a:pPr>
                      <a:r>
                        <a:rPr sz="670" b="1">
                          <a:solidFill>
                            <a:srgbClr val="444E5E"/>
                          </a:solidFill>
                          <a:latin typeface="Arial"/>
                        </a:rPr>
                        <a:t>Không đề cập trực tiếp</a:t>
                      </a:r>
                    </a:p>
                    <a:p>
                      <a:pPr algn="l">
                        <a:lnSpc>
                          <a:spcPct val="103000"/>
                        </a:lnSpc>
                      </a:pPr>
                      <a:r>
                        <a:rPr sz="670" b="1">
                          <a:solidFill>
                            <a:srgbClr val="444E5E"/>
                          </a:solidFill>
                          <a:latin typeface="Arial"/>
                        </a:rPr>
                        <a:t>(6 bình luận nhắc tên)</a:t>
                      </a:r>
                    </a:p>
                  </a:txBody>
                  <a:tcPr anchor="ctr" marL="36576" marR="36576" marT="13716" marB="13716">
                    <a:solidFill>
                      <a:srgbClr val="FFF6E8"/>
                    </a:solidFill>
                  </a:tcPr>
                </a:tc>
                <a:tc>
                  <a:txBody>
                    <a:bodyPr wrap="square"/>
                    <a:lstStyle/>
                    <a:p>
                      <a:pPr algn="l">
                        <a:lnSpc>
                          <a:spcPct val="103000"/>
                        </a:lnSpc>
                      </a:pPr>
                      <a:r>
                        <a:rPr sz="670" b="1">
                          <a:solidFill>
                            <a:srgbClr val="1560D4"/>
                          </a:solidFill>
                          <a:latin typeface="Arial"/>
                          <a:hlinkClick r:id="rId2"/>
                        </a:rPr>
                        <a:t>fb.com/vietnamesefootball</a:t>
                      </a:r>
                    </a:p>
                    <a:p>
                      <a:pPr algn="l">
                        <a:lnSpc>
                          <a:spcPct val="103000"/>
                        </a:lnSpc>
                      </a:pPr>
                      <a:r>
                        <a:rPr sz="670" b="1">
                          <a:solidFill>
                            <a:srgbClr val="1560D4"/>
                          </a:solidFill>
                          <a:latin typeface="Arial"/>
                        </a:rPr>
                        <a:t>[FB-500 / GQL]</a:t>
                      </a:r>
                    </a:p>
                  </a:txBody>
                  <a:tcPr anchor="ctr" marL="36576" marR="36576" marT="13716" marB="13716">
                    <a:solidFill>
                      <a:srgbClr val="FFFFFF"/>
                    </a:solidFill>
                  </a:tcPr>
                </a:tc>
              </a:tr>
              <a:tr h="361188">
                <a:tc>
                  <a:txBody>
                    <a:bodyPr wrap="square"/>
                    <a:lstStyle/>
                    <a:p>
                      <a:pPr algn="ctr">
                        <a:lnSpc>
                          <a:spcPct val="103000"/>
                        </a:lnSpc>
                      </a:pPr>
                      <a:r>
                        <a:rPr sz="670" b="1">
                          <a:solidFill>
                            <a:srgbClr val="121C2D"/>
                          </a:solidFill>
                          <a:latin typeface="Arial"/>
                        </a:rPr>
                        <a:t>2</a:t>
                      </a:r>
                    </a:p>
                  </a:txBody>
                  <a:tcPr anchor="ctr" marL="36576" marR="36576" marT="13716" marB="13716">
                    <a:solidFill>
                      <a:srgbClr val="F1F3F7"/>
                    </a:solidFill>
                  </a:tcPr>
                </a:tc>
                <a:tc>
                  <a:txBody>
                    <a:bodyPr wrap="square"/>
                    <a:lstStyle/>
                    <a:p>
                      <a:pPr algn="l">
                        <a:lnSpc>
                          <a:spcPct val="103000"/>
                        </a:lnSpc>
                      </a:pPr>
                      <a:r>
                        <a:rPr sz="670" b="1">
                          <a:solidFill>
                            <a:srgbClr val="121C2D"/>
                          </a:solidFill>
                          <a:latin typeface="Arial"/>
                        </a:rPr>
                        <a:t>YouTube (Live/VOD)</a:t>
                      </a:r>
                    </a:p>
                    <a:p>
                      <a:pPr algn="l">
                        <a:lnSpc>
                          <a:spcPct val="103000"/>
                        </a:lnSpc>
                      </a:pPr>
                      <a:r>
                        <a:rPr sz="670" b="1">
                          <a:solidFill>
                            <a:srgbClr val="121C2D"/>
                          </a:solidFill>
                          <a:latin typeface="Arial"/>
                        </a:rPr>
                        <a:t>Vlog Minh Hải</a:t>
                      </a:r>
                    </a:p>
                  </a:txBody>
                  <a:tcPr anchor="ctr" marL="36576" marR="36576" marT="13716" marB="13716">
                    <a:solidFill>
                      <a:srgbClr val="F1F3F7"/>
                    </a:solidFill>
                  </a:tcPr>
                </a:tc>
                <a:tc>
                  <a:txBody>
                    <a:bodyPr wrap="square"/>
                    <a:lstStyle/>
                    <a:p>
                      <a:pPr algn="ctr">
                        <a:lnSpc>
                          <a:spcPct val="103000"/>
                        </a:lnSpc>
                      </a:pPr>
                      <a:r>
                        <a:rPr sz="670" b="0">
                          <a:solidFill>
                            <a:srgbClr val="121C2D"/>
                          </a:solidFill>
                          <a:latin typeface="Arial"/>
                        </a:rPr>
                        <a:t>12–21/10</a:t>
                      </a:r>
                    </a:p>
                    <a:p>
                      <a:pPr algn="ctr">
                        <a:lnSpc>
                          <a:spcPct val="103000"/>
                        </a:lnSpc>
                      </a:pPr>
                      <a:r>
                        <a:rPr sz="670" b="0">
                          <a:solidFill>
                            <a:srgbClr val="121C2D"/>
                          </a:solidFill>
                          <a:latin typeface="Arial"/>
                        </a:rPr>
                        <a:t>(16 video)</a:t>
                      </a:r>
                    </a:p>
                  </a:txBody>
                  <a:tcPr anchor="ctr" marL="36576" marR="36576" marT="13716" marB="13716">
                    <a:solidFill>
                      <a:srgbClr val="F1F3F7"/>
                    </a:solidFill>
                  </a:tcPr>
                </a:tc>
                <a:tc>
                  <a:txBody>
                    <a:bodyPr wrap="square"/>
                    <a:lstStyle/>
                    <a:p>
                      <a:pPr algn="ctr">
                        <a:lnSpc>
                          <a:spcPct val="103000"/>
                        </a:lnSpc>
                      </a:pPr>
                      <a:r>
                        <a:rPr sz="670" b="0">
                          <a:solidFill>
                            <a:srgbClr val="121C2D"/>
                          </a:solidFill>
                          <a:latin typeface="Arial"/>
                        </a:rPr>
                        <a:t>2.110.511 views</a:t>
                      </a:r>
                    </a:p>
                    <a:p>
                      <a:pPr algn="ctr">
                        <a:lnSpc>
                          <a:spcPct val="103000"/>
                        </a:lnSpc>
                      </a:pPr>
                      <a:r>
                        <a:rPr sz="670" b="0">
                          <a:solidFill>
                            <a:srgbClr val="121C2D"/>
                          </a:solidFill>
                          <a:latin typeface="Arial"/>
                        </a:rPr>
                        <a:t>1.808 bình luận</a:t>
                      </a:r>
                    </a:p>
                  </a:txBody>
                  <a:tcPr anchor="ctr" marL="36576" marR="36576" marT="13716" marB="13716">
                    <a:solidFill>
                      <a:srgbClr val="F1F3F7"/>
                    </a:solidFill>
                  </a:tcPr>
                </a:tc>
                <a:tc>
                  <a:txBody>
                    <a:bodyPr wrap="square"/>
                    <a:lstStyle/>
                    <a:p>
                      <a:pPr algn="l">
                        <a:lnSpc>
                          <a:spcPct val="103000"/>
                        </a:lnSpc>
                      </a:pPr>
                      <a:r>
                        <a:rPr sz="670" b="0">
                          <a:solidFill>
                            <a:srgbClr val="121C2D"/>
                          </a:solidFill>
                          <a:latin typeface="Arial"/>
                        </a:rPr>
                        <a:t>Phân tích sâu cuộc đua Chủ tịch VFF khóa X, đánh giá cao ngoại giao của TS. Tuấn và mổ xẻ chương trình tranh cử của Bầu Thụy (21/10).</a:t>
                      </a:r>
                    </a:p>
                  </a:txBody>
                  <a:tcPr anchor="ctr" marL="36576" marR="36576" marT="13716" marB="13716">
                    <a:solidFill>
                      <a:srgbClr val="F1F3F7"/>
                    </a:solidFill>
                  </a:tcPr>
                </a:tc>
                <a:tc>
                  <a:txBody>
                    <a:bodyPr wrap="square"/>
                    <a:lstStyle/>
                    <a:p>
                      <a:pPr algn="l">
                        <a:lnSpc>
                          <a:spcPct val="103000"/>
                        </a:lnSpc>
                      </a:pPr>
                      <a:r>
                        <a:rPr sz="670" b="1">
                          <a:solidFill>
                            <a:srgbClr val="1560D4"/>
                          </a:solidFill>
                          <a:latin typeface="Arial"/>
                        </a:rPr>
                        <a:t>ỦNG HỘ LÀM CHỦ TỊCH</a:t>
                      </a:r>
                    </a:p>
                    <a:p>
                      <a:pPr algn="l">
                        <a:lnSpc>
                          <a:spcPct val="103000"/>
                        </a:lnSpc>
                      </a:pPr>
                      <a:r>
                        <a:rPr sz="670" b="1">
                          <a:solidFill>
                            <a:srgbClr val="1560D4"/>
                          </a:solidFill>
                          <a:latin typeface="Arial"/>
                        </a:rPr>
                        <a:t>(72 phiếu chọn Tuấn CT)</a:t>
                      </a:r>
                    </a:p>
                  </a:txBody>
                  <a:tcPr anchor="ctr" marL="36576" marR="36576" marT="13716" marB="13716">
                    <a:solidFill>
                      <a:srgbClr val="EBF3FF"/>
                    </a:solidFill>
                  </a:tcPr>
                </a:tc>
                <a:tc>
                  <a:txBody>
                    <a:bodyPr wrap="square"/>
                    <a:lstStyle/>
                    <a:p>
                      <a:pPr algn="l">
                        <a:lnSpc>
                          <a:spcPct val="103000"/>
                        </a:lnSpc>
                      </a:pPr>
                      <a:r>
                        <a:rPr sz="670" b="1">
                          <a:solidFill>
                            <a:srgbClr val="D62728"/>
                          </a:solidFill>
                          <a:latin typeface="Arial"/>
                        </a:rPr>
                        <a:t>ỦNG HỘ TÀI CHÍNH</a:t>
                      </a:r>
                    </a:p>
                    <a:p>
                      <a:pPr algn="l">
                        <a:lnSpc>
                          <a:spcPct val="103000"/>
                        </a:lnSpc>
                      </a:pPr>
                      <a:r>
                        <a:rPr sz="670" b="1">
                          <a:solidFill>
                            <a:srgbClr val="D62728"/>
                          </a:solidFill>
                          <a:latin typeface="Arial"/>
                        </a:rPr>
                        <a:t>(58 phiếu CT / 28 phản đối)</a:t>
                      </a:r>
                    </a:p>
                  </a:txBody>
                  <a:tcPr anchor="ctr" marL="36576" marR="36576" marT="13716" marB="13716">
                    <a:solidFill>
                      <a:srgbClr val="FEEEEE"/>
                    </a:solidFill>
                  </a:tcPr>
                </a:tc>
                <a:tc>
                  <a:txBody>
                    <a:bodyPr wrap="square"/>
                    <a:lstStyle/>
                    <a:p>
                      <a:pPr algn="l">
                        <a:lnSpc>
                          <a:spcPct val="103000"/>
                        </a:lnSpc>
                      </a:pPr>
                      <a:r>
                        <a:rPr sz="670" b="1">
                          <a:solidFill>
                            <a:srgbClr val="1560D4"/>
                          </a:solidFill>
                          <a:latin typeface="Arial"/>
                          <a:hlinkClick r:id="rId3"/>
                        </a:rPr>
                        <a:t>youtu.be/u_6dEnPr4DU</a:t>
                      </a:r>
                    </a:p>
                    <a:p>
                      <a:pPr algn="l">
                        <a:lnSpc>
                          <a:spcPct val="103000"/>
                        </a:lnSpc>
                      </a:pPr>
                      <a:r>
                        <a:rPr sz="670" b="1">
                          <a:solidFill>
                            <a:srgbClr val="1560D4"/>
                          </a:solidFill>
                          <a:latin typeface="Arial"/>
                        </a:rPr>
                        <a:t>[YT-AUD-03..08]</a:t>
                      </a:r>
                    </a:p>
                  </a:txBody>
                  <a:tcPr anchor="ctr" marL="36576" marR="36576" marT="13716" marB="13716">
                    <a:solidFill>
                      <a:srgbClr val="F1F3F7"/>
                    </a:solidFill>
                  </a:tcPr>
                </a:tc>
              </a:tr>
              <a:tr h="361188">
                <a:tc>
                  <a:txBody>
                    <a:bodyPr wrap="square"/>
                    <a:lstStyle/>
                    <a:p>
                      <a:pPr algn="ctr">
                        <a:lnSpc>
                          <a:spcPct val="103000"/>
                        </a:lnSpc>
                      </a:pPr>
                      <a:r>
                        <a:rPr sz="670" b="1">
                          <a:solidFill>
                            <a:srgbClr val="121C2D"/>
                          </a:solidFill>
                          <a:latin typeface="Arial"/>
                        </a:rPr>
                        <a:t>3</a:t>
                      </a:r>
                    </a:p>
                  </a:txBody>
                  <a:tcPr anchor="ctr" marL="36576" marR="36576" marT="13716" marB="13716">
                    <a:solidFill>
                      <a:srgbClr val="FFFFFF"/>
                    </a:solidFill>
                  </a:tcPr>
                </a:tc>
                <a:tc>
                  <a:txBody>
                    <a:bodyPr wrap="square"/>
                    <a:lstStyle/>
                    <a:p>
                      <a:pPr algn="l">
                        <a:lnSpc>
                          <a:spcPct val="103000"/>
                        </a:lnSpc>
                      </a:pPr>
                      <a:r>
                        <a:rPr sz="670" b="1">
                          <a:solidFill>
                            <a:srgbClr val="121C2D"/>
                          </a:solidFill>
                          <a:latin typeface="Arial"/>
                        </a:rPr>
                        <a:t>Facebook KOL</a:t>
                      </a:r>
                    </a:p>
                    <a:p>
                      <a:pPr algn="l">
                        <a:lnSpc>
                          <a:spcPct val="103000"/>
                        </a:lnSpc>
                      </a:pPr>
                      <a:r>
                        <a:rPr sz="670" b="1">
                          <a:solidFill>
                            <a:srgbClr val="121C2D"/>
                          </a:solidFill>
                          <a:latin typeface="Arial"/>
                        </a:rPr>
                        <a:t>BLV Tạ Biên Cương</a:t>
                      </a:r>
                    </a:p>
                  </a:txBody>
                  <a:tcPr anchor="ctr" marL="36576" marR="36576" marT="13716" marB="13716">
                    <a:solidFill>
                      <a:srgbClr val="FFFFFF"/>
                    </a:solidFill>
                  </a:tcPr>
                </a:tc>
                <a:tc>
                  <a:txBody>
                    <a:bodyPr wrap="square"/>
                    <a:lstStyle/>
                    <a:p>
                      <a:pPr algn="ctr">
                        <a:lnSpc>
                          <a:spcPct val="103000"/>
                        </a:lnSpc>
                      </a:pPr>
                      <a:r>
                        <a:rPr sz="670" b="0">
                          <a:solidFill>
                            <a:srgbClr val="121C2D"/>
                          </a:solidFill>
                          <a:latin typeface="Arial"/>
                        </a:rPr>
                        <a:t>03–20/10</a:t>
                      </a:r>
                    </a:p>
                    <a:p>
                      <a:pPr algn="ctr">
                        <a:lnSpc>
                          <a:spcPct val="103000"/>
                        </a:lnSpc>
                      </a:pPr>
                      <a:r>
                        <a:rPr sz="670" b="0">
                          <a:solidFill>
                            <a:srgbClr val="121C2D"/>
                          </a:solidFill>
                          <a:latin typeface="Arial"/>
                        </a:rPr>
                        <a:t>(24 bài)</a:t>
                      </a:r>
                    </a:p>
                  </a:txBody>
                  <a:tcPr anchor="ctr" marL="36576" marR="36576" marT="13716" marB="13716">
                    <a:solidFill>
                      <a:srgbClr val="FFFFFF"/>
                    </a:solidFill>
                  </a:tcPr>
                </a:tc>
                <a:tc>
                  <a:txBody>
                    <a:bodyPr wrap="square"/>
                    <a:lstStyle/>
                    <a:p>
                      <a:pPr algn="ctr">
                        <a:lnSpc>
                          <a:spcPct val="103000"/>
                        </a:lnSpc>
                      </a:pPr>
                      <a:r>
                        <a:rPr sz="670" b="0">
                          <a:solidFill>
                            <a:srgbClr val="121C2D"/>
                          </a:solidFill>
                          <a:latin typeface="Arial"/>
                        </a:rPr>
                        <a:t>15.103 likes</a:t>
                      </a:r>
                    </a:p>
                    <a:p>
                      <a:pPr algn="ctr">
                        <a:lnSpc>
                          <a:spcPct val="103000"/>
                        </a:lnSpc>
                      </a:pPr>
                      <a:r>
                        <a:rPr sz="670" b="0">
                          <a:solidFill>
                            <a:srgbClr val="121C2D"/>
                          </a:solidFill>
                          <a:latin typeface="Arial"/>
                        </a:rPr>
                        <a:t>751 bình luận</a:t>
                      </a:r>
                    </a:p>
                  </a:txBody>
                  <a:tcPr anchor="ctr" marL="36576" marR="36576" marT="13716" marB="13716">
                    <a:solidFill>
                      <a:srgbClr val="FFFFFF"/>
                    </a:solidFill>
                  </a:tcPr>
                </a:tc>
                <a:tc>
                  <a:txBody>
                    <a:bodyPr wrap="square"/>
                    <a:lstStyle/>
                    <a:p>
                      <a:pPr algn="l">
                        <a:lnSpc>
                          <a:spcPct val="103000"/>
                        </a:lnSpc>
                      </a:pPr>
                      <a:r>
                        <a:rPr sz="670" b="0">
                          <a:solidFill>
                            <a:srgbClr val="121C2D"/>
                          </a:solidFill>
                          <a:latin typeface="Arial"/>
                        </a:rPr>
                        <a:t>Đặt câu hỏi khảo sát 'Tỷ phú USD tranh cử Chủ tịch VFF hay giữ nhà quản lý kinh nghiệm?' và phân tích đề xuất của Bầu Đức.</a:t>
                      </a:r>
                    </a:p>
                  </a:txBody>
                  <a:tcPr anchor="ctr" marL="36576" marR="36576" marT="13716" marB="13716">
                    <a:solidFill>
                      <a:srgbClr val="FFFFFF"/>
                    </a:solidFill>
                  </a:tcPr>
                </a:tc>
                <a:tc>
                  <a:txBody>
                    <a:bodyPr wrap="square"/>
                    <a:lstStyle/>
                    <a:p>
                      <a:pPr algn="l">
                        <a:lnSpc>
                          <a:spcPct val="103000"/>
                        </a:lnSpc>
                      </a:pPr>
                      <a:r>
                        <a:rPr sz="670" b="1">
                          <a:solidFill>
                            <a:srgbClr val="1560D4"/>
                          </a:solidFill>
                          <a:latin typeface="Arial"/>
                        </a:rPr>
                        <a:t>KHẢO SÁT ĐA CHIỀU</a:t>
                      </a:r>
                    </a:p>
                    <a:p>
                      <a:pPr algn="l">
                        <a:lnSpc>
                          <a:spcPct val="103000"/>
                        </a:lnSpc>
                      </a:pPr>
                      <a:r>
                        <a:rPr sz="670" b="1">
                          <a:solidFill>
                            <a:srgbClr val="1560D4"/>
                          </a:solidFill>
                          <a:latin typeface="Arial"/>
                        </a:rPr>
                        <a:t>(78 bình luận chọn Tuấn CT)</a:t>
                      </a:r>
                    </a:p>
                  </a:txBody>
                  <a:tcPr anchor="ctr" marL="36576" marR="36576" marT="13716" marB="13716">
                    <a:solidFill>
                      <a:srgbClr val="EBF3FF"/>
                    </a:solidFill>
                  </a:tcPr>
                </a:tc>
                <a:tc>
                  <a:txBody>
                    <a:bodyPr wrap="square"/>
                    <a:lstStyle/>
                    <a:p>
                      <a:pPr algn="l">
                        <a:lnSpc>
                          <a:spcPct val="103000"/>
                        </a:lnSpc>
                      </a:pPr>
                      <a:r>
                        <a:rPr sz="670" b="1">
                          <a:solidFill>
                            <a:srgbClr val="444E5E"/>
                          </a:solidFill>
                          <a:latin typeface="Arial"/>
                        </a:rPr>
                        <a:t>KHẢO SÁT ĐA CHIỀU</a:t>
                      </a:r>
                    </a:p>
                    <a:p>
                      <a:pPr algn="l">
                        <a:lnSpc>
                          <a:spcPct val="103000"/>
                        </a:lnSpc>
                      </a:pPr>
                      <a:r>
                        <a:rPr sz="670" b="1">
                          <a:solidFill>
                            <a:srgbClr val="444E5E"/>
                          </a:solidFill>
                          <a:latin typeface="Arial"/>
                        </a:rPr>
                        <a:t>(46 bình luận CT / 22 phản đối)</a:t>
                      </a:r>
                    </a:p>
                  </a:txBody>
                  <a:tcPr anchor="ctr" marL="36576" marR="36576" marT="13716" marB="13716">
                    <a:solidFill>
                      <a:srgbClr val="FFF6E8"/>
                    </a:solidFill>
                  </a:tcPr>
                </a:tc>
                <a:tc>
                  <a:txBody>
                    <a:bodyPr wrap="square"/>
                    <a:lstStyle/>
                    <a:p>
                      <a:pPr algn="l">
                        <a:lnSpc>
                          <a:spcPct val="103000"/>
                        </a:lnSpc>
                      </a:pPr>
                      <a:r>
                        <a:rPr sz="670" b="1">
                          <a:solidFill>
                            <a:srgbClr val="1560D4"/>
                          </a:solidFill>
                          <a:latin typeface="Arial"/>
                          <a:hlinkClick r:id="rId4"/>
                        </a:rPr>
                        <a:t>fb.com/blvbiencuong</a:t>
                      </a:r>
                    </a:p>
                    <a:p>
                      <a:pPr algn="l">
                        <a:lnSpc>
                          <a:spcPct val="103000"/>
                        </a:lnSpc>
                      </a:pPr>
                      <a:r>
                        <a:rPr sz="670" b="1">
                          <a:solidFill>
                            <a:srgbClr val="1560D4"/>
                          </a:solidFill>
                          <a:latin typeface="Arial"/>
                        </a:rPr>
                        <a:t>[FB-OCT-06 / GQL]</a:t>
                      </a:r>
                    </a:p>
                  </a:txBody>
                  <a:tcPr anchor="ctr" marL="36576" marR="36576" marT="13716" marB="13716">
                    <a:solidFill>
                      <a:srgbClr val="FFFFFF"/>
                    </a:solidFill>
                  </a:tcPr>
                </a:tc>
              </a:tr>
              <a:tr h="361188">
                <a:tc>
                  <a:txBody>
                    <a:bodyPr wrap="square"/>
                    <a:lstStyle/>
                    <a:p>
                      <a:pPr algn="ctr">
                        <a:lnSpc>
                          <a:spcPct val="103000"/>
                        </a:lnSpc>
                      </a:pPr>
                      <a:r>
                        <a:rPr sz="670" b="1">
                          <a:solidFill>
                            <a:srgbClr val="121C2D"/>
                          </a:solidFill>
                          <a:latin typeface="Arial"/>
                        </a:rPr>
                        <a:t>4</a:t>
                      </a:r>
                    </a:p>
                  </a:txBody>
                  <a:tcPr anchor="ctr" marL="36576" marR="36576" marT="13716" marB="13716">
                    <a:solidFill>
                      <a:srgbClr val="F1F3F7"/>
                    </a:solidFill>
                  </a:tcPr>
                </a:tc>
                <a:tc>
                  <a:txBody>
                    <a:bodyPr wrap="square"/>
                    <a:lstStyle/>
                    <a:p>
                      <a:pPr algn="l">
                        <a:lnSpc>
                          <a:spcPct val="103000"/>
                        </a:lnSpc>
                      </a:pPr>
                      <a:r>
                        <a:rPr sz="670" b="1">
                          <a:solidFill>
                            <a:srgbClr val="121C2D"/>
                          </a:solidFill>
                          <a:latin typeface="Arial"/>
                        </a:rPr>
                        <a:t>YouTube Channel</a:t>
                      </a:r>
                    </a:p>
                    <a:p>
                      <a:pPr algn="l">
                        <a:lnSpc>
                          <a:spcPct val="103000"/>
                        </a:lnSpc>
                      </a:pPr>
                      <a:r>
                        <a:rPr sz="670" b="1">
                          <a:solidFill>
                            <a:srgbClr val="121C2D"/>
                          </a:solidFill>
                          <a:latin typeface="Arial"/>
                        </a:rPr>
                        <a:t>BÓNGĐÁ TV</a:t>
                      </a:r>
                    </a:p>
                  </a:txBody>
                  <a:tcPr anchor="ctr" marL="36576" marR="36576" marT="13716" marB="13716">
                    <a:solidFill>
                      <a:srgbClr val="F1F3F7"/>
                    </a:solidFill>
                  </a:tcPr>
                </a:tc>
                <a:tc>
                  <a:txBody>
                    <a:bodyPr wrap="square"/>
                    <a:lstStyle/>
                    <a:p>
                      <a:pPr algn="ctr">
                        <a:lnSpc>
                          <a:spcPct val="103000"/>
                        </a:lnSpc>
                      </a:pPr>
                      <a:r>
                        <a:rPr sz="670" b="0">
                          <a:solidFill>
                            <a:srgbClr val="121C2D"/>
                          </a:solidFill>
                          <a:latin typeface="Arial"/>
                        </a:rPr>
                        <a:t>12–22/10</a:t>
                      </a:r>
                    </a:p>
                    <a:p>
                      <a:pPr algn="ctr">
                        <a:lnSpc>
                          <a:spcPct val="103000"/>
                        </a:lnSpc>
                      </a:pPr>
                      <a:r>
                        <a:rPr sz="670" b="0">
                          <a:solidFill>
                            <a:srgbClr val="121C2D"/>
                          </a:solidFill>
                          <a:latin typeface="Arial"/>
                        </a:rPr>
                        <a:t>(11 video)</a:t>
                      </a:r>
                    </a:p>
                  </a:txBody>
                  <a:tcPr anchor="ctr" marL="36576" marR="36576" marT="13716" marB="13716">
                    <a:solidFill>
                      <a:srgbClr val="F1F3F7"/>
                    </a:solidFill>
                  </a:tcPr>
                </a:tc>
                <a:tc>
                  <a:txBody>
                    <a:bodyPr wrap="square"/>
                    <a:lstStyle/>
                    <a:p>
                      <a:pPr algn="ctr">
                        <a:lnSpc>
                          <a:spcPct val="103000"/>
                        </a:lnSpc>
                      </a:pPr>
                      <a:r>
                        <a:rPr sz="670" b="0">
                          <a:solidFill>
                            <a:srgbClr val="121C2D"/>
                          </a:solidFill>
                          <a:latin typeface="Arial"/>
                        </a:rPr>
                        <a:t>931.056 views</a:t>
                      </a:r>
                    </a:p>
                    <a:p>
                      <a:pPr algn="ctr">
                        <a:lnSpc>
                          <a:spcPct val="103000"/>
                        </a:lnSpc>
                      </a:pPr>
                      <a:r>
                        <a:rPr sz="670" b="0">
                          <a:solidFill>
                            <a:srgbClr val="121C2D"/>
                          </a:solidFill>
                          <a:latin typeface="Arial"/>
                        </a:rPr>
                        <a:t>792 bình luận</a:t>
                      </a:r>
                    </a:p>
                  </a:txBody>
                  <a:tcPr anchor="ctr" marL="36576" marR="36576" marT="13716" marB="13716">
                    <a:solidFill>
                      <a:srgbClr val="F1F3F7"/>
                    </a:solidFill>
                  </a:tcPr>
                </a:tc>
                <a:tc>
                  <a:txBody>
                    <a:bodyPr wrap="square"/>
                    <a:lstStyle/>
                    <a:p>
                      <a:pPr algn="l">
                        <a:lnSpc>
                          <a:spcPct val="103000"/>
                        </a:lnSpc>
                      </a:pPr>
                      <a:r>
                        <a:rPr sz="670" b="0">
                          <a:solidFill>
                            <a:srgbClr val="121C2D"/>
                          </a:solidFill>
                          <a:latin typeface="Arial"/>
                        </a:rPr>
                        <a:t>Đưa tin nóng cuộc đua Chủ tịch VFF và phát biểu ngày 21–22/10 của Bầu Thụy về mục tiêu huy động 600–1.000 tỷ đồng/năm.</a:t>
                      </a:r>
                    </a:p>
                  </a:txBody>
                  <a:tcPr anchor="ctr" marL="36576" marR="36576" marT="13716" marB="13716">
                    <a:solidFill>
                      <a:srgbClr val="F1F3F7"/>
                    </a:solidFill>
                  </a:tcPr>
                </a:tc>
                <a:tc>
                  <a:txBody>
                    <a:bodyPr wrap="square"/>
                    <a:lstStyle/>
                    <a:p>
                      <a:pPr algn="l">
                        <a:lnSpc>
                          <a:spcPct val="103000"/>
                        </a:lnSpc>
                      </a:pPr>
                      <a:r>
                        <a:rPr sz="670" b="1">
                          <a:solidFill>
                            <a:srgbClr val="1560D4"/>
                          </a:solidFill>
                          <a:latin typeface="Arial"/>
                        </a:rPr>
                        <a:t>TRUNG LẬP / ĐỐI CHIẾU</a:t>
                      </a:r>
                    </a:p>
                    <a:p>
                      <a:pPr algn="l">
                        <a:lnSpc>
                          <a:spcPct val="103000"/>
                        </a:lnSpc>
                      </a:pPr>
                      <a:r>
                        <a:rPr sz="670" b="1">
                          <a:solidFill>
                            <a:srgbClr val="1560D4"/>
                          </a:solidFill>
                          <a:latin typeface="Arial"/>
                        </a:rPr>
                        <a:t>(21 bình luận chọn Tuấn CT)</a:t>
                      </a:r>
                    </a:p>
                  </a:txBody>
                  <a:tcPr anchor="ctr" marL="36576" marR="36576" marT="13716" marB="13716">
                    <a:solidFill>
                      <a:srgbClr val="EBF3FF"/>
                    </a:solidFill>
                  </a:tcPr>
                </a:tc>
                <a:tc>
                  <a:txBody>
                    <a:bodyPr wrap="square"/>
                    <a:lstStyle/>
                    <a:p>
                      <a:pPr algn="l">
                        <a:lnSpc>
                          <a:spcPct val="103000"/>
                        </a:lnSpc>
                      </a:pPr>
                      <a:r>
                        <a:rPr sz="670" b="1">
                          <a:solidFill>
                            <a:srgbClr val="D62728"/>
                          </a:solidFill>
                          <a:latin typeface="Arial"/>
                        </a:rPr>
                        <a:t>ỦNG HỘ / ĐẨY SÓNG</a:t>
                      </a:r>
                    </a:p>
                    <a:p>
                      <a:pPr algn="l">
                        <a:lnSpc>
                          <a:spcPct val="103000"/>
                        </a:lnSpc>
                      </a:pPr>
                      <a:r>
                        <a:rPr sz="670" b="1">
                          <a:solidFill>
                            <a:srgbClr val="D62728"/>
                          </a:solidFill>
                          <a:latin typeface="Arial"/>
                        </a:rPr>
                        <a:t>(34 bình luận CT / 19 phản đối)</a:t>
                      </a:r>
                    </a:p>
                  </a:txBody>
                  <a:tcPr anchor="ctr" marL="36576" marR="36576" marT="13716" marB="13716">
                    <a:solidFill>
                      <a:srgbClr val="FEEEEE"/>
                    </a:solidFill>
                  </a:tcPr>
                </a:tc>
                <a:tc>
                  <a:txBody>
                    <a:bodyPr wrap="square"/>
                    <a:lstStyle/>
                    <a:p>
                      <a:pPr algn="l">
                        <a:lnSpc>
                          <a:spcPct val="103000"/>
                        </a:lnSpc>
                      </a:pPr>
                      <a:r>
                        <a:rPr sz="670" b="1">
                          <a:solidFill>
                            <a:srgbClr val="1560D4"/>
                          </a:solidFill>
                          <a:latin typeface="Arial"/>
                          <a:hlinkClick r:id="rId5"/>
                        </a:rPr>
                        <a:t>youtu.be/fD_yAoXALog</a:t>
                      </a:r>
                    </a:p>
                    <a:p>
                      <a:pPr algn="l">
                        <a:lnSpc>
                          <a:spcPct val="103000"/>
                        </a:lnSpc>
                      </a:pPr>
                      <a:r>
                        <a:rPr sz="670" b="1">
                          <a:solidFill>
                            <a:srgbClr val="1560D4"/>
                          </a:solidFill>
                          <a:latin typeface="Arial"/>
                        </a:rPr>
                        <a:t>[YT-AUD-07]</a:t>
                      </a:r>
                    </a:p>
                  </a:txBody>
                  <a:tcPr anchor="ctr" marL="36576" marR="36576" marT="13716" marB="13716">
                    <a:solidFill>
                      <a:srgbClr val="F1F3F7"/>
                    </a:solidFill>
                  </a:tcPr>
                </a:tc>
              </a:tr>
              <a:tr h="361188">
                <a:tc>
                  <a:txBody>
                    <a:bodyPr wrap="square"/>
                    <a:lstStyle/>
                    <a:p>
                      <a:pPr algn="ctr">
                        <a:lnSpc>
                          <a:spcPct val="103000"/>
                        </a:lnSpc>
                      </a:pPr>
                      <a:r>
                        <a:rPr sz="670" b="1">
                          <a:solidFill>
                            <a:srgbClr val="121C2D"/>
                          </a:solidFill>
                          <a:latin typeface="Arial"/>
                        </a:rPr>
                        <a:t>5</a:t>
                      </a:r>
                    </a:p>
                  </a:txBody>
                  <a:tcPr anchor="ctr" marL="36576" marR="36576" marT="13716" marB="13716">
                    <a:solidFill>
                      <a:srgbClr val="FFFFFF"/>
                    </a:solidFill>
                  </a:tcPr>
                </a:tc>
                <a:tc>
                  <a:txBody>
                    <a:bodyPr wrap="square"/>
                    <a:lstStyle/>
                    <a:p>
                      <a:pPr algn="l">
                        <a:lnSpc>
                          <a:spcPct val="103000"/>
                        </a:lnSpc>
                      </a:pPr>
                      <a:r>
                        <a:rPr sz="670" b="1">
                          <a:solidFill>
                            <a:srgbClr val="121C2D"/>
                          </a:solidFill>
                          <a:latin typeface="Arial"/>
                        </a:rPr>
                        <a:t>Facebook &amp; Web</a:t>
                      </a:r>
                    </a:p>
                    <a:p>
                      <a:pPr algn="l">
                        <a:lnSpc>
                          <a:spcPct val="103000"/>
                        </a:lnSpc>
                      </a:pPr>
                      <a:r>
                        <a:rPr sz="670" b="1">
                          <a:solidFill>
                            <a:srgbClr val="121C2D"/>
                          </a:solidFill>
                          <a:latin typeface="Arial"/>
                        </a:rPr>
                        <a:t>Thethao247.vn</a:t>
                      </a:r>
                    </a:p>
                  </a:txBody>
                  <a:tcPr anchor="ctr" marL="36576" marR="36576" marT="13716" marB="13716">
                    <a:solidFill>
                      <a:srgbClr val="FFFFFF"/>
                    </a:solidFill>
                  </a:tcPr>
                </a:tc>
                <a:tc>
                  <a:txBody>
                    <a:bodyPr wrap="square"/>
                    <a:lstStyle/>
                    <a:p>
                      <a:pPr algn="ctr">
                        <a:lnSpc>
                          <a:spcPct val="103000"/>
                        </a:lnSpc>
                      </a:pPr>
                      <a:r>
                        <a:rPr sz="670" b="0">
                          <a:solidFill>
                            <a:srgbClr val="121C2D"/>
                          </a:solidFill>
                          <a:latin typeface="Arial"/>
                        </a:rPr>
                        <a:t>08–20/10</a:t>
                      </a:r>
                    </a:p>
                    <a:p>
                      <a:pPr algn="ctr">
                        <a:lnSpc>
                          <a:spcPct val="103000"/>
                        </a:lnSpc>
                      </a:pPr>
                      <a:r>
                        <a:rPr sz="670" b="0">
                          <a:solidFill>
                            <a:srgbClr val="121C2D"/>
                          </a:solidFill>
                          <a:latin typeface="Arial"/>
                        </a:rPr>
                        <a:t>(10 bài FB)</a:t>
                      </a:r>
                    </a:p>
                  </a:txBody>
                  <a:tcPr anchor="ctr" marL="36576" marR="36576" marT="13716" marB="13716">
                    <a:solidFill>
                      <a:srgbClr val="FFFFFF"/>
                    </a:solidFill>
                  </a:tcPr>
                </a:tc>
                <a:tc>
                  <a:txBody>
                    <a:bodyPr wrap="square"/>
                    <a:lstStyle/>
                    <a:p>
                      <a:pPr algn="ctr">
                        <a:lnSpc>
                          <a:spcPct val="103000"/>
                        </a:lnSpc>
                      </a:pPr>
                      <a:r>
                        <a:rPr sz="670" b="0">
                          <a:solidFill>
                            <a:srgbClr val="121C2D"/>
                          </a:solidFill>
                          <a:latin typeface="Arial"/>
                        </a:rPr>
                        <a:t>7.805 likes</a:t>
                      </a:r>
                    </a:p>
                    <a:p>
                      <a:pPr algn="ctr">
                        <a:lnSpc>
                          <a:spcPct val="103000"/>
                        </a:lnSpc>
                      </a:pPr>
                      <a:r>
                        <a:rPr sz="670" b="0">
                          <a:solidFill>
                            <a:srgbClr val="121C2D"/>
                          </a:solidFill>
                          <a:latin typeface="Arial"/>
                        </a:rPr>
                        <a:t>245 bình luận</a:t>
                      </a:r>
                    </a:p>
                  </a:txBody>
                  <a:tcPr anchor="ctr" marL="36576" marR="36576" marT="13716" marB="13716">
                    <a:solidFill>
                      <a:srgbClr val="FFFFFF"/>
                    </a:solidFill>
                  </a:tcPr>
                </a:tc>
                <a:tc>
                  <a:txBody>
                    <a:bodyPr wrap="square"/>
                    <a:lstStyle/>
                    <a:p>
                      <a:pPr algn="l">
                        <a:lnSpc>
                          <a:spcPct val="103000"/>
                        </a:lnSpc>
                      </a:pPr>
                      <a:r>
                        <a:rPr sz="670" b="0">
                          <a:solidFill>
                            <a:srgbClr val="121C2D"/>
                          </a:solidFill>
                          <a:latin typeface="Arial"/>
                        </a:rPr>
                        <a:t>Tổng kết dấu ấn nhiệm kỳ IX của TS. Trần Quốc Tuấn và cập nhật danh sách 3 ứng viên Chủ tịch VFF khóa X (2026–2030).</a:t>
                      </a:r>
                    </a:p>
                  </a:txBody>
                  <a:tcPr anchor="ctr" marL="36576" marR="36576" marT="13716" marB="13716">
                    <a:solidFill>
                      <a:srgbClr val="FFFFFF"/>
                    </a:solidFill>
                  </a:tcPr>
                </a:tc>
                <a:tc>
                  <a:txBody>
                    <a:bodyPr wrap="square"/>
                    <a:lstStyle/>
                    <a:p>
                      <a:pPr algn="l">
                        <a:lnSpc>
                          <a:spcPct val="103000"/>
                        </a:lnSpc>
                      </a:pPr>
                      <a:r>
                        <a:rPr sz="670" b="1">
                          <a:solidFill>
                            <a:srgbClr val="1560D4"/>
                          </a:solidFill>
                          <a:latin typeface="Arial"/>
                        </a:rPr>
                        <a:t>ỦNG HỘ TRỰC DIỆN</a:t>
                      </a:r>
                    </a:p>
                    <a:p>
                      <a:pPr algn="l">
                        <a:lnSpc>
                          <a:spcPct val="103000"/>
                        </a:lnSpc>
                      </a:pPr>
                      <a:r>
                        <a:rPr sz="670" b="1">
                          <a:solidFill>
                            <a:srgbClr val="1560D4"/>
                          </a:solidFill>
                          <a:latin typeface="Arial"/>
                        </a:rPr>
                        <a:t>(34 bình luận chọn Tuấn CT)</a:t>
                      </a:r>
                    </a:p>
                  </a:txBody>
                  <a:tcPr anchor="ctr" marL="36576" marR="36576" marT="13716" marB="13716">
                    <a:solidFill>
                      <a:srgbClr val="EBF3FF"/>
                    </a:solidFill>
                  </a:tcPr>
                </a:tc>
                <a:tc>
                  <a:txBody>
                    <a:bodyPr wrap="square"/>
                    <a:lstStyle/>
                    <a:p>
                      <a:pPr algn="l">
                        <a:lnSpc>
                          <a:spcPct val="103000"/>
                        </a:lnSpc>
                      </a:pPr>
                      <a:r>
                        <a:rPr sz="670" b="1">
                          <a:solidFill>
                            <a:srgbClr val="444E5E"/>
                          </a:solidFill>
                          <a:latin typeface="Arial"/>
                        </a:rPr>
                        <a:t>ĐƯA TIN CÂN BẰNG</a:t>
                      </a:r>
                    </a:p>
                    <a:p>
                      <a:pPr algn="l">
                        <a:lnSpc>
                          <a:spcPct val="103000"/>
                        </a:lnSpc>
                      </a:pPr>
                      <a:r>
                        <a:rPr sz="670" b="1">
                          <a:solidFill>
                            <a:srgbClr val="444E5E"/>
                          </a:solidFill>
                          <a:latin typeface="Arial"/>
                        </a:rPr>
                        <a:t>(14 bình luận CT / 8 phản đối)</a:t>
                      </a:r>
                    </a:p>
                  </a:txBody>
                  <a:tcPr anchor="ctr" marL="36576" marR="36576" marT="13716" marB="13716">
                    <a:solidFill>
                      <a:srgbClr val="FFF6E8"/>
                    </a:solidFill>
                  </a:tcPr>
                </a:tc>
                <a:tc>
                  <a:txBody>
                    <a:bodyPr wrap="square"/>
                    <a:lstStyle/>
                    <a:p>
                      <a:pPr algn="l">
                        <a:lnSpc>
                          <a:spcPct val="103000"/>
                        </a:lnSpc>
                      </a:pPr>
                      <a:r>
                        <a:rPr sz="670" b="1">
                          <a:solidFill>
                            <a:srgbClr val="1560D4"/>
                          </a:solidFill>
                          <a:latin typeface="Arial"/>
                          <a:hlinkClick r:id="rId6"/>
                        </a:rPr>
                        <a:t>fb.com/thethao247.vn</a:t>
                      </a:r>
                    </a:p>
                    <a:p>
                      <a:pPr algn="l">
                        <a:lnSpc>
                          <a:spcPct val="103000"/>
                        </a:lnSpc>
                      </a:pPr>
                      <a:r>
                        <a:rPr sz="670" b="1">
                          <a:solidFill>
                            <a:srgbClr val="1560D4"/>
                          </a:solidFill>
                          <a:latin typeface="Arial"/>
                        </a:rPr>
                        <a:t>[FB-500-171]</a:t>
                      </a:r>
                    </a:p>
                  </a:txBody>
                  <a:tcPr anchor="ctr" marL="36576" marR="36576" marT="13716" marB="13716">
                    <a:solidFill>
                      <a:srgbClr val="FFFFFF"/>
                    </a:solidFill>
                  </a:tcPr>
                </a:tc>
              </a:tr>
              <a:tr h="361188">
                <a:tc>
                  <a:txBody>
                    <a:bodyPr wrap="square"/>
                    <a:lstStyle/>
                    <a:p>
                      <a:pPr algn="ctr">
                        <a:lnSpc>
                          <a:spcPct val="103000"/>
                        </a:lnSpc>
                      </a:pPr>
                      <a:r>
                        <a:rPr sz="670" b="1">
                          <a:solidFill>
                            <a:srgbClr val="121C2D"/>
                          </a:solidFill>
                          <a:latin typeface="Arial"/>
                        </a:rPr>
                        <a:t>6</a:t>
                      </a:r>
                    </a:p>
                  </a:txBody>
                  <a:tcPr anchor="ctr" marL="36576" marR="36576" marT="13716" marB="13716">
                    <a:solidFill>
                      <a:srgbClr val="F1F3F7"/>
                    </a:solidFill>
                  </a:tcPr>
                </a:tc>
                <a:tc>
                  <a:txBody>
                    <a:bodyPr wrap="square"/>
                    <a:lstStyle/>
                    <a:p>
                      <a:pPr algn="l">
                        <a:lnSpc>
                          <a:spcPct val="103000"/>
                        </a:lnSpc>
                      </a:pPr>
                      <a:r>
                        <a:rPr sz="670" b="1">
                          <a:solidFill>
                            <a:srgbClr val="121C2D"/>
                          </a:solidFill>
                          <a:latin typeface="Arial"/>
                        </a:rPr>
                        <a:t>Facebook Fanpage</a:t>
                      </a:r>
                    </a:p>
                    <a:p>
                      <a:pPr algn="l">
                        <a:lnSpc>
                          <a:spcPct val="103000"/>
                        </a:lnSpc>
                      </a:pPr>
                      <a:r>
                        <a:rPr sz="670" b="1">
                          <a:solidFill>
                            <a:srgbClr val="121C2D"/>
                          </a:solidFill>
                          <a:latin typeface="Arial"/>
                        </a:rPr>
                        <a:t>Anh Em Bóng Đá</a:t>
                      </a:r>
                    </a:p>
                  </a:txBody>
                  <a:tcPr anchor="ctr" marL="36576" marR="36576" marT="13716" marB="13716">
                    <a:solidFill>
                      <a:srgbClr val="F1F3F7"/>
                    </a:solidFill>
                  </a:tcPr>
                </a:tc>
                <a:tc>
                  <a:txBody>
                    <a:bodyPr wrap="square"/>
                    <a:lstStyle/>
                    <a:p>
                      <a:pPr algn="ctr">
                        <a:lnSpc>
                          <a:spcPct val="103000"/>
                        </a:lnSpc>
                      </a:pPr>
                      <a:r>
                        <a:rPr sz="670" b="0">
                          <a:solidFill>
                            <a:srgbClr val="121C2D"/>
                          </a:solidFill>
                          <a:latin typeface="Arial"/>
                        </a:rPr>
                        <a:t>02–18/10</a:t>
                      </a:r>
                    </a:p>
                    <a:p>
                      <a:pPr algn="ctr">
                        <a:lnSpc>
                          <a:spcPct val="103000"/>
                        </a:lnSpc>
                      </a:pPr>
                      <a:r>
                        <a:rPr sz="670" b="0">
                          <a:solidFill>
                            <a:srgbClr val="121C2D"/>
                          </a:solidFill>
                          <a:latin typeface="Arial"/>
                        </a:rPr>
                        <a:t>(4 bài xác thực)</a:t>
                      </a:r>
                    </a:p>
                  </a:txBody>
                  <a:tcPr anchor="ctr" marL="36576" marR="36576" marT="13716" marB="13716">
                    <a:solidFill>
                      <a:srgbClr val="F1F3F7"/>
                    </a:solidFill>
                  </a:tcPr>
                </a:tc>
                <a:tc>
                  <a:txBody>
                    <a:bodyPr wrap="square"/>
                    <a:lstStyle/>
                    <a:p>
                      <a:pPr algn="ctr">
                        <a:lnSpc>
                          <a:spcPct val="103000"/>
                        </a:lnSpc>
                      </a:pPr>
                      <a:r>
                        <a:rPr sz="670" b="0">
                          <a:solidFill>
                            <a:srgbClr val="121C2D"/>
                          </a:solidFill>
                          <a:latin typeface="Arial"/>
                        </a:rPr>
                        <a:t>5.714 likes</a:t>
                      </a:r>
                    </a:p>
                    <a:p>
                      <a:pPr algn="ctr">
                        <a:lnSpc>
                          <a:spcPct val="103000"/>
                        </a:lnSpc>
                      </a:pPr>
                      <a:r>
                        <a:rPr sz="670" b="0">
                          <a:solidFill>
                            <a:srgbClr val="121C2D"/>
                          </a:solidFill>
                          <a:latin typeface="Arial"/>
                        </a:rPr>
                        <a:t>205 bình luận</a:t>
                      </a:r>
                    </a:p>
                  </a:txBody>
                  <a:tcPr anchor="ctr" marL="36576" marR="36576" marT="13716" marB="13716">
                    <a:solidFill>
                      <a:srgbClr val="F1F3F7"/>
                    </a:solidFill>
                  </a:tcPr>
                </a:tc>
                <a:tc>
                  <a:txBody>
                    <a:bodyPr wrap="square"/>
                    <a:lstStyle/>
                    <a:p>
                      <a:pPr algn="l">
                        <a:lnSpc>
                          <a:spcPct val="103000"/>
                        </a:lnSpc>
                      </a:pPr>
                      <a:r>
                        <a:rPr sz="670" b="0">
                          <a:solidFill>
                            <a:srgbClr val="121C2D"/>
                          </a:solidFill>
                          <a:latin typeface="Arial"/>
                        </a:rPr>
                        <a:t>Phân tích chuyên sâu bài học vỡ nợ của Madam Pang (Thái Lan) và rủi ro nhập tịch của Erick Thohir (Indonesia) để bảo vệ VFF.</a:t>
                      </a:r>
                    </a:p>
                  </a:txBody>
                  <a:tcPr anchor="ctr" marL="36576" marR="36576" marT="13716" marB="13716">
                    <a:solidFill>
                      <a:srgbClr val="F1F3F7"/>
                    </a:solidFill>
                  </a:tcPr>
                </a:tc>
                <a:tc>
                  <a:txBody>
                    <a:bodyPr wrap="square"/>
                    <a:lstStyle/>
                    <a:p>
                      <a:pPr algn="l">
                        <a:lnSpc>
                          <a:spcPct val="103000"/>
                        </a:lnSpc>
                      </a:pPr>
                      <a:r>
                        <a:rPr sz="670" b="1">
                          <a:solidFill>
                            <a:srgbClr val="1560D4"/>
                          </a:solidFill>
                          <a:latin typeface="Arial"/>
                        </a:rPr>
                        <a:t>ỦNG HỘ MẠNH MẼ</a:t>
                      </a:r>
                    </a:p>
                    <a:p>
                      <a:pPr algn="l">
                        <a:lnSpc>
                          <a:spcPct val="103000"/>
                        </a:lnSpc>
                      </a:pPr>
                      <a:r>
                        <a:rPr sz="670" b="1">
                          <a:solidFill>
                            <a:srgbClr val="1560D4"/>
                          </a:solidFill>
                          <a:latin typeface="Arial"/>
                        </a:rPr>
                        <a:t>(42 bình luận chọn Tuấn CT)</a:t>
                      </a:r>
                    </a:p>
                  </a:txBody>
                  <a:tcPr anchor="ctr" marL="36576" marR="36576" marT="13716" marB="13716">
                    <a:solidFill>
                      <a:srgbClr val="EBF3FF"/>
                    </a:solidFill>
                  </a:tcPr>
                </a:tc>
                <a:tc>
                  <a:txBody>
                    <a:bodyPr wrap="square"/>
                    <a:lstStyle/>
                    <a:p>
                      <a:pPr algn="l">
                        <a:lnSpc>
                          <a:spcPct val="103000"/>
                        </a:lnSpc>
                      </a:pPr>
                      <a:r>
                        <a:rPr sz="670" b="1">
                          <a:solidFill>
                            <a:srgbClr val="444E5E"/>
                          </a:solidFill>
                          <a:latin typeface="Arial"/>
                        </a:rPr>
                        <a:t>PHẢN BIỆN MÔ HÌNH BẦU</a:t>
                      </a:r>
                    </a:p>
                    <a:p>
                      <a:pPr algn="l">
                        <a:lnSpc>
                          <a:spcPct val="103000"/>
                        </a:lnSpc>
                      </a:pPr>
                      <a:r>
                        <a:rPr sz="670" b="1">
                          <a:solidFill>
                            <a:srgbClr val="444E5E"/>
                          </a:solidFill>
                          <a:latin typeface="Arial"/>
                        </a:rPr>
                        <a:t>(18 bình luận phản đối mô hình ông bầu)</a:t>
                      </a:r>
                    </a:p>
                  </a:txBody>
                  <a:tcPr anchor="ctr" marL="36576" marR="36576" marT="13716" marB="13716">
                    <a:solidFill>
                      <a:srgbClr val="FFF6E8"/>
                    </a:solidFill>
                  </a:tcPr>
                </a:tc>
                <a:tc>
                  <a:txBody>
                    <a:bodyPr wrap="square"/>
                    <a:lstStyle/>
                    <a:p>
                      <a:pPr algn="l">
                        <a:lnSpc>
                          <a:spcPct val="103000"/>
                        </a:lnSpc>
                      </a:pPr>
                      <a:r>
                        <a:rPr sz="670" b="1">
                          <a:solidFill>
                            <a:srgbClr val="1560D4"/>
                          </a:solidFill>
                          <a:latin typeface="Arial"/>
                          <a:hlinkClick r:id="rId7"/>
                        </a:rPr>
                        <a:t>fb.com/anhembongdavn</a:t>
                      </a:r>
                    </a:p>
                    <a:p>
                      <a:pPr algn="l">
                        <a:lnSpc>
                          <a:spcPct val="103000"/>
                        </a:lnSpc>
                      </a:pPr>
                      <a:r>
                        <a:rPr sz="670" b="1">
                          <a:solidFill>
                            <a:srgbClr val="1560D4"/>
                          </a:solidFill>
                          <a:latin typeface="Arial"/>
                        </a:rPr>
                        <a:t>[FB-OCT-10 / 11]</a:t>
                      </a:r>
                    </a:p>
                  </a:txBody>
                  <a:tcPr anchor="ctr" marL="36576" marR="36576" marT="13716" marB="13716">
                    <a:solidFill>
                      <a:srgbClr val="F1F3F7"/>
                    </a:solidFill>
                  </a:tcPr>
                </a:tc>
              </a:tr>
              <a:tr h="361188">
                <a:tc>
                  <a:txBody>
                    <a:bodyPr wrap="square"/>
                    <a:lstStyle/>
                    <a:p>
                      <a:pPr algn="ctr">
                        <a:lnSpc>
                          <a:spcPct val="103000"/>
                        </a:lnSpc>
                      </a:pPr>
                      <a:r>
                        <a:rPr sz="670" b="1">
                          <a:solidFill>
                            <a:srgbClr val="121C2D"/>
                          </a:solidFill>
                          <a:latin typeface="Arial"/>
                        </a:rPr>
                        <a:t>7</a:t>
                      </a:r>
                    </a:p>
                  </a:txBody>
                  <a:tcPr anchor="ctr" marL="36576" marR="36576" marT="13716" marB="13716">
                    <a:solidFill>
                      <a:srgbClr val="FFFFFF"/>
                    </a:solidFill>
                  </a:tcPr>
                </a:tc>
                <a:tc>
                  <a:txBody>
                    <a:bodyPr wrap="square"/>
                    <a:lstStyle/>
                    <a:p>
                      <a:pPr algn="l">
                        <a:lnSpc>
                          <a:spcPct val="103000"/>
                        </a:lnSpc>
                      </a:pPr>
                      <a:r>
                        <a:rPr sz="670" b="1">
                          <a:solidFill>
                            <a:srgbClr val="121C2D"/>
                          </a:solidFill>
                          <a:latin typeface="Arial"/>
                        </a:rPr>
                        <a:t>Facebook Fanpage</a:t>
                      </a:r>
                    </a:p>
                    <a:p>
                      <a:pPr algn="l">
                        <a:lnSpc>
                          <a:spcPct val="103000"/>
                        </a:lnSpc>
                      </a:pPr>
                      <a:r>
                        <a:rPr sz="670" b="1">
                          <a:solidFill>
                            <a:srgbClr val="121C2D"/>
                          </a:solidFill>
                          <a:latin typeface="Arial"/>
                        </a:rPr>
                        <a:t>HattrickSport</a:t>
                      </a:r>
                    </a:p>
                  </a:txBody>
                  <a:tcPr anchor="ctr" marL="36576" marR="36576" marT="13716" marB="13716">
                    <a:solidFill>
                      <a:srgbClr val="FFFFFF"/>
                    </a:solidFill>
                  </a:tcPr>
                </a:tc>
                <a:tc>
                  <a:txBody>
                    <a:bodyPr wrap="square"/>
                    <a:lstStyle/>
                    <a:p>
                      <a:pPr algn="ctr">
                        <a:lnSpc>
                          <a:spcPct val="103000"/>
                        </a:lnSpc>
                      </a:pPr>
                      <a:r>
                        <a:rPr sz="670" b="0">
                          <a:solidFill>
                            <a:srgbClr val="121C2D"/>
                          </a:solidFill>
                          <a:latin typeface="Arial"/>
                        </a:rPr>
                        <a:t>15–19/10</a:t>
                      </a:r>
                    </a:p>
                    <a:p>
                      <a:pPr algn="ctr">
                        <a:lnSpc>
                          <a:spcPct val="103000"/>
                        </a:lnSpc>
                      </a:pPr>
                      <a:r>
                        <a:rPr sz="670" b="0">
                          <a:solidFill>
                            <a:srgbClr val="121C2D"/>
                          </a:solidFill>
                          <a:latin typeface="Arial"/>
                        </a:rPr>
                        <a:t>(6 bài xác thực)</a:t>
                      </a:r>
                    </a:p>
                  </a:txBody>
                  <a:tcPr anchor="ctr" marL="36576" marR="36576" marT="13716" marB="13716">
                    <a:solidFill>
                      <a:srgbClr val="FFFFFF"/>
                    </a:solidFill>
                  </a:tcPr>
                </a:tc>
                <a:tc>
                  <a:txBody>
                    <a:bodyPr wrap="square"/>
                    <a:lstStyle/>
                    <a:p>
                      <a:pPr algn="ctr">
                        <a:lnSpc>
                          <a:spcPct val="103000"/>
                        </a:lnSpc>
                      </a:pPr>
                      <a:r>
                        <a:rPr sz="670" b="0">
                          <a:solidFill>
                            <a:srgbClr val="121C2D"/>
                          </a:solidFill>
                          <a:latin typeface="Arial"/>
                        </a:rPr>
                        <a:t>13.452 likes</a:t>
                      </a:r>
                    </a:p>
                    <a:p>
                      <a:pPr algn="ctr">
                        <a:lnSpc>
                          <a:spcPct val="103000"/>
                        </a:lnSpc>
                      </a:pPr>
                      <a:r>
                        <a:rPr sz="670" b="0">
                          <a:solidFill>
                            <a:srgbClr val="121C2D"/>
                          </a:solidFill>
                          <a:latin typeface="Arial"/>
                        </a:rPr>
                        <a:t>141 bình luận</a:t>
                      </a:r>
                    </a:p>
                  </a:txBody>
                  <a:tcPr anchor="ctr" marL="36576" marR="36576" marT="13716" marB="13716">
                    <a:solidFill>
                      <a:srgbClr val="FFFFFF"/>
                    </a:solidFill>
                  </a:tcPr>
                </a:tc>
                <a:tc>
                  <a:txBody>
                    <a:bodyPr wrap="square"/>
                    <a:lstStyle/>
                    <a:p>
                      <a:pPr algn="l">
                        <a:lnSpc>
                          <a:spcPct val="103000"/>
                        </a:lnSpc>
                      </a:pPr>
                      <a:r>
                        <a:rPr sz="670" b="0">
                          <a:solidFill>
                            <a:srgbClr val="121C2D"/>
                          </a:solidFill>
                          <a:latin typeface="Arial"/>
                        </a:rPr>
                        <a:t>Đặt câu hỏi 'Bóng đá Việt Nam có thật sự đi xuống?' và vinh danh việc VFF lọt Top 3 Liên đoàn Kim Cương của AFC.</a:t>
                      </a:r>
                    </a:p>
                  </a:txBody>
                  <a:tcPr anchor="ctr" marL="36576" marR="36576" marT="13716" marB="13716">
                    <a:solidFill>
                      <a:srgbClr val="FFFFFF"/>
                    </a:solidFill>
                  </a:tcPr>
                </a:tc>
                <a:tc>
                  <a:txBody>
                    <a:bodyPr wrap="square"/>
                    <a:lstStyle/>
                    <a:p>
                      <a:pPr algn="l">
                        <a:lnSpc>
                          <a:spcPct val="103000"/>
                        </a:lnSpc>
                      </a:pPr>
                      <a:r>
                        <a:rPr sz="670" b="1">
                          <a:solidFill>
                            <a:srgbClr val="1560D4"/>
                          </a:solidFill>
                          <a:latin typeface="Arial"/>
                        </a:rPr>
                        <a:t>ỦNG HỘ MẠNH MẼ</a:t>
                      </a:r>
                    </a:p>
                    <a:p>
                      <a:pPr algn="l">
                        <a:lnSpc>
                          <a:spcPct val="103000"/>
                        </a:lnSpc>
                      </a:pPr>
                      <a:r>
                        <a:rPr sz="670" b="1">
                          <a:solidFill>
                            <a:srgbClr val="1560D4"/>
                          </a:solidFill>
                          <a:latin typeface="Arial"/>
                        </a:rPr>
                        <a:t>(38 bình luận chọn Tuấn CT)</a:t>
                      </a:r>
                    </a:p>
                  </a:txBody>
                  <a:tcPr anchor="ctr" marL="36576" marR="36576" marT="13716" marB="13716">
                    <a:solidFill>
                      <a:srgbClr val="EBF3FF"/>
                    </a:solidFill>
                  </a:tcPr>
                </a:tc>
                <a:tc>
                  <a:txBody>
                    <a:bodyPr wrap="square"/>
                    <a:lstStyle/>
                    <a:p>
                      <a:pPr algn="l">
                        <a:lnSpc>
                          <a:spcPct val="103000"/>
                        </a:lnSpc>
                      </a:pPr>
                      <a:r>
                        <a:rPr sz="670" b="1">
                          <a:solidFill>
                            <a:srgbClr val="444E5E"/>
                          </a:solidFill>
                          <a:latin typeface="Arial"/>
                        </a:rPr>
                        <a:t>GỢI MỞ LÀM PHÓ CT</a:t>
                      </a:r>
                    </a:p>
                    <a:p>
                      <a:pPr algn="l">
                        <a:lnSpc>
                          <a:spcPct val="103000"/>
                        </a:lnSpc>
                      </a:pPr>
                      <a:r>
                        <a:rPr sz="670" b="1">
                          <a:solidFill>
                            <a:srgbClr val="444E5E"/>
                          </a:solidFill>
                          <a:latin typeface="Arial"/>
                        </a:rPr>
                        <a:t>(12 bình luận đề xuất Phó TC)</a:t>
                      </a:r>
                    </a:p>
                  </a:txBody>
                  <a:tcPr anchor="ctr" marL="36576" marR="36576" marT="13716" marB="13716">
                    <a:solidFill>
                      <a:srgbClr val="FFF6E8"/>
                    </a:solidFill>
                  </a:tcPr>
                </a:tc>
                <a:tc>
                  <a:txBody>
                    <a:bodyPr wrap="square"/>
                    <a:lstStyle/>
                    <a:p>
                      <a:pPr algn="l">
                        <a:lnSpc>
                          <a:spcPct val="103000"/>
                        </a:lnSpc>
                      </a:pPr>
                      <a:r>
                        <a:rPr sz="670" b="1">
                          <a:solidFill>
                            <a:srgbClr val="1560D4"/>
                          </a:solidFill>
                          <a:latin typeface="Arial"/>
                          <a:hlinkClick r:id="rId8"/>
                        </a:rPr>
                        <a:t>fb.com/hattrick.io</a:t>
                      </a:r>
                    </a:p>
                    <a:p>
                      <a:pPr algn="l">
                        <a:lnSpc>
                          <a:spcPct val="103000"/>
                        </a:lnSpc>
                      </a:pPr>
                      <a:r>
                        <a:rPr sz="670" b="1">
                          <a:solidFill>
                            <a:srgbClr val="1560D4"/>
                          </a:solidFill>
                          <a:latin typeface="Arial"/>
                        </a:rPr>
                        <a:t>[FB-GQL-075]</a:t>
                      </a:r>
                    </a:p>
                  </a:txBody>
                  <a:tcPr anchor="ctr" marL="36576" marR="36576" marT="13716" marB="13716">
                    <a:solidFill>
                      <a:srgbClr val="FFFFFF"/>
                    </a:solidFill>
                  </a:tcPr>
                </a:tc>
              </a:tr>
              <a:tr h="361188">
                <a:tc>
                  <a:txBody>
                    <a:bodyPr wrap="square"/>
                    <a:lstStyle/>
                    <a:p>
                      <a:pPr algn="ctr">
                        <a:lnSpc>
                          <a:spcPct val="103000"/>
                        </a:lnSpc>
                      </a:pPr>
                      <a:r>
                        <a:rPr sz="670" b="1">
                          <a:solidFill>
                            <a:srgbClr val="121C2D"/>
                          </a:solidFill>
                          <a:latin typeface="Arial"/>
                        </a:rPr>
                        <a:t>8</a:t>
                      </a:r>
                    </a:p>
                  </a:txBody>
                  <a:tcPr anchor="ctr" marL="36576" marR="36576" marT="13716" marB="13716">
                    <a:solidFill>
                      <a:srgbClr val="F1F3F7"/>
                    </a:solidFill>
                  </a:tcPr>
                </a:tc>
                <a:tc>
                  <a:txBody>
                    <a:bodyPr wrap="square"/>
                    <a:lstStyle/>
                    <a:p>
                      <a:pPr algn="l">
                        <a:lnSpc>
                          <a:spcPct val="103000"/>
                        </a:lnSpc>
                      </a:pPr>
                      <a:r>
                        <a:rPr sz="670" b="1">
                          <a:solidFill>
                            <a:srgbClr val="121C2D"/>
                          </a:solidFill>
                          <a:latin typeface="Arial"/>
                        </a:rPr>
                        <a:t>Facebook KOL</a:t>
                      </a:r>
                    </a:p>
                    <a:p>
                      <a:pPr algn="l">
                        <a:lnSpc>
                          <a:spcPct val="103000"/>
                        </a:lnSpc>
                      </a:pPr>
                      <a:r>
                        <a:rPr sz="670" b="1">
                          <a:solidFill>
                            <a:srgbClr val="121C2D"/>
                          </a:solidFill>
                          <a:latin typeface="Arial"/>
                        </a:rPr>
                        <a:t>Nguyễn Minh Châu</a:t>
                      </a:r>
                    </a:p>
                  </a:txBody>
                  <a:tcPr anchor="ctr" marL="36576" marR="36576" marT="13716" marB="13716">
                    <a:solidFill>
                      <a:srgbClr val="F1F3F7"/>
                    </a:solidFill>
                  </a:tcPr>
                </a:tc>
                <a:tc>
                  <a:txBody>
                    <a:bodyPr wrap="square"/>
                    <a:lstStyle/>
                    <a:p>
                      <a:pPr algn="ctr">
                        <a:lnSpc>
                          <a:spcPct val="103000"/>
                        </a:lnSpc>
                      </a:pPr>
                      <a:r>
                        <a:rPr sz="670" b="0">
                          <a:solidFill>
                            <a:srgbClr val="121C2D"/>
                          </a:solidFill>
                          <a:latin typeface="Arial"/>
                        </a:rPr>
                        <a:t>15–19/10</a:t>
                      </a:r>
                    </a:p>
                    <a:p>
                      <a:pPr algn="ctr">
                        <a:lnSpc>
                          <a:spcPct val="103000"/>
                        </a:lnSpc>
                      </a:pPr>
                      <a:r>
                        <a:rPr sz="670" b="0">
                          <a:solidFill>
                            <a:srgbClr val="121C2D"/>
                          </a:solidFill>
                          <a:latin typeface="Arial"/>
                        </a:rPr>
                        <a:t>(10 bài)</a:t>
                      </a:r>
                    </a:p>
                  </a:txBody>
                  <a:tcPr anchor="ctr" marL="36576" marR="36576" marT="13716" marB="13716">
                    <a:solidFill>
                      <a:srgbClr val="F1F3F7"/>
                    </a:solidFill>
                  </a:tcPr>
                </a:tc>
                <a:tc>
                  <a:txBody>
                    <a:bodyPr wrap="square"/>
                    <a:lstStyle/>
                    <a:p>
                      <a:pPr algn="ctr">
                        <a:lnSpc>
                          <a:spcPct val="103000"/>
                        </a:lnSpc>
                      </a:pPr>
                      <a:r>
                        <a:rPr sz="670" b="0">
                          <a:solidFill>
                            <a:srgbClr val="121C2D"/>
                          </a:solidFill>
                          <a:latin typeface="Arial"/>
                        </a:rPr>
                        <a:t>819 likes</a:t>
                      </a:r>
                    </a:p>
                    <a:p>
                      <a:pPr algn="ctr">
                        <a:lnSpc>
                          <a:spcPct val="103000"/>
                        </a:lnSpc>
                      </a:pPr>
                      <a:r>
                        <a:rPr sz="670" b="0">
                          <a:solidFill>
                            <a:srgbClr val="121C2D"/>
                          </a:solidFill>
                          <a:latin typeface="Arial"/>
                        </a:rPr>
                        <a:t>127 bình luận</a:t>
                      </a:r>
                    </a:p>
                  </a:txBody>
                  <a:tcPr anchor="ctr" marL="36576" marR="36576" marT="13716" marB="13716">
                    <a:solidFill>
                      <a:srgbClr val="F1F3F7"/>
                    </a:solidFill>
                  </a:tcPr>
                </a:tc>
                <a:tc>
                  <a:txBody>
                    <a:bodyPr wrap="square"/>
                    <a:lstStyle/>
                    <a:p>
                      <a:pPr algn="l">
                        <a:lnSpc>
                          <a:spcPct val="103000"/>
                        </a:lnSpc>
                      </a:pPr>
                      <a:r>
                        <a:rPr sz="670" b="0">
                          <a:solidFill>
                            <a:srgbClr val="121C2D"/>
                          </a:solidFill>
                          <a:latin typeface="Arial"/>
                        </a:rPr>
                        <a:t>Đăng danh sách 3 ứng viên Chủ tịch VFF (xếp ông Nguyễn Đức Thụy số 1, ông Nguyễn Xuân Vũ số 2, TS. Trần Quốc Tuấn số 3).</a:t>
                      </a:r>
                    </a:p>
                  </a:txBody>
                  <a:tcPr anchor="ctr" marL="36576" marR="36576" marT="13716" marB="13716">
                    <a:solidFill>
                      <a:srgbClr val="F1F3F7"/>
                    </a:solidFill>
                  </a:tcPr>
                </a:tc>
                <a:tc>
                  <a:txBody>
                    <a:bodyPr wrap="square"/>
                    <a:lstStyle/>
                    <a:p>
                      <a:pPr algn="l">
                        <a:lnSpc>
                          <a:spcPct val="103000"/>
                        </a:lnSpc>
                      </a:pPr>
                      <a:r>
                        <a:rPr sz="670" b="1">
                          <a:solidFill>
                            <a:srgbClr val="1560D4"/>
                          </a:solidFill>
                          <a:latin typeface="Arial"/>
                        </a:rPr>
                        <a:t>BÀI ĐĂNG XẾP SỐ 3</a:t>
                      </a:r>
                    </a:p>
                    <a:p>
                      <a:pPr algn="l">
                        <a:lnSpc>
                          <a:spcPct val="103000"/>
                        </a:lnSpc>
                      </a:pPr>
                      <a:r>
                        <a:rPr sz="670" b="1">
                          <a:solidFill>
                            <a:srgbClr val="1560D4"/>
                          </a:solidFill>
                          <a:latin typeface="Arial"/>
                        </a:rPr>
                        <a:t>(Nhưng 29 bình luận bầu CT!)</a:t>
                      </a:r>
                    </a:p>
                  </a:txBody>
                  <a:tcPr anchor="ctr" marL="36576" marR="36576" marT="13716" marB="13716">
                    <a:solidFill>
                      <a:srgbClr val="EBF3FF"/>
                    </a:solidFill>
                  </a:tcPr>
                </a:tc>
                <a:tc>
                  <a:txBody>
                    <a:bodyPr wrap="square"/>
                    <a:lstStyle/>
                    <a:p>
                      <a:pPr algn="l">
                        <a:lnSpc>
                          <a:spcPct val="103000"/>
                        </a:lnSpc>
                      </a:pPr>
                      <a:r>
                        <a:rPr sz="670" b="1">
                          <a:solidFill>
                            <a:srgbClr val="D62728"/>
                          </a:solidFill>
                          <a:latin typeface="Arial"/>
                        </a:rPr>
                        <a:t>BÀI ĐĂNG XẾP SỐ 1</a:t>
                      </a:r>
                    </a:p>
                    <a:p>
                      <a:pPr algn="l">
                        <a:lnSpc>
                          <a:spcPct val="103000"/>
                        </a:lnSpc>
                      </a:pPr>
                      <a:r>
                        <a:rPr sz="670" b="1">
                          <a:solidFill>
                            <a:srgbClr val="D62728"/>
                          </a:solidFill>
                          <a:latin typeface="Arial"/>
                        </a:rPr>
                        <a:t>(13 bình luận CT / 12 phản đối)</a:t>
                      </a:r>
                    </a:p>
                  </a:txBody>
                  <a:tcPr anchor="ctr" marL="36576" marR="36576" marT="13716" marB="13716">
                    <a:solidFill>
                      <a:srgbClr val="FEEEEE"/>
                    </a:solidFill>
                  </a:tcPr>
                </a:tc>
                <a:tc>
                  <a:txBody>
                    <a:bodyPr wrap="square"/>
                    <a:lstStyle/>
                    <a:p>
                      <a:pPr algn="l">
                        <a:lnSpc>
                          <a:spcPct val="103000"/>
                        </a:lnSpc>
                      </a:pPr>
                      <a:r>
                        <a:rPr sz="670" b="1">
                          <a:solidFill>
                            <a:srgbClr val="1560D4"/>
                          </a:solidFill>
                          <a:latin typeface="Arial"/>
                          <a:hlinkClick r:id="rId9"/>
                        </a:rPr>
                        <a:t>fb.com/chaurau0105</a:t>
                      </a:r>
                    </a:p>
                    <a:p>
                      <a:pPr algn="l">
                        <a:lnSpc>
                          <a:spcPct val="103000"/>
                        </a:lnSpc>
                      </a:pPr>
                      <a:r>
                        <a:rPr sz="670" b="1">
                          <a:solidFill>
                            <a:srgbClr val="1560D4"/>
                          </a:solidFill>
                          <a:latin typeface="Arial"/>
                        </a:rPr>
                        <a:t>[FB-GQL-028]</a:t>
                      </a:r>
                    </a:p>
                  </a:txBody>
                  <a:tcPr anchor="ctr" marL="36576" marR="36576" marT="13716" marB="13716">
                    <a:solidFill>
                      <a:srgbClr val="F1F3F7"/>
                    </a:solidFill>
                  </a:tcPr>
                </a:tc>
              </a:tr>
              <a:tr h="361188">
                <a:tc>
                  <a:txBody>
                    <a:bodyPr wrap="square"/>
                    <a:lstStyle/>
                    <a:p>
                      <a:pPr algn="ctr">
                        <a:lnSpc>
                          <a:spcPct val="103000"/>
                        </a:lnSpc>
                      </a:pPr>
                      <a:r>
                        <a:rPr sz="670" b="1">
                          <a:solidFill>
                            <a:srgbClr val="121C2D"/>
                          </a:solidFill>
                          <a:latin typeface="Arial"/>
                        </a:rPr>
                        <a:t>9</a:t>
                      </a:r>
                    </a:p>
                  </a:txBody>
                  <a:tcPr anchor="ctr" marL="36576" marR="36576" marT="13716" marB="13716">
                    <a:solidFill>
                      <a:srgbClr val="FFFFFF"/>
                    </a:solidFill>
                  </a:tcPr>
                </a:tc>
                <a:tc>
                  <a:txBody>
                    <a:bodyPr wrap="square"/>
                    <a:lstStyle/>
                    <a:p>
                      <a:pPr algn="l">
                        <a:lnSpc>
                          <a:spcPct val="103000"/>
                        </a:lnSpc>
                      </a:pPr>
                      <a:r>
                        <a:rPr sz="670" b="1">
                          <a:solidFill>
                            <a:srgbClr val="121C2D"/>
                          </a:solidFill>
                          <a:latin typeface="Arial"/>
                        </a:rPr>
                        <a:t>Facebook &amp; Web</a:t>
                      </a:r>
                    </a:p>
                    <a:p>
                      <a:pPr algn="l">
                        <a:lnSpc>
                          <a:spcPct val="103000"/>
                        </a:lnSpc>
                      </a:pPr>
                      <a:r>
                        <a:rPr sz="670" b="1">
                          <a:solidFill>
                            <a:srgbClr val="121C2D"/>
                          </a:solidFill>
                          <a:latin typeface="Arial"/>
                        </a:rPr>
                        <a:t>iThethao TV (iThethao.vn)</a:t>
                      </a:r>
                    </a:p>
                  </a:txBody>
                  <a:tcPr anchor="ctr" marL="36576" marR="36576" marT="13716" marB="13716">
                    <a:solidFill>
                      <a:srgbClr val="FFFFFF"/>
                    </a:solidFill>
                  </a:tcPr>
                </a:tc>
                <a:tc>
                  <a:txBody>
                    <a:bodyPr wrap="square"/>
                    <a:lstStyle/>
                    <a:p>
                      <a:pPr algn="ctr">
                        <a:lnSpc>
                          <a:spcPct val="103000"/>
                        </a:lnSpc>
                      </a:pPr>
                      <a:r>
                        <a:rPr sz="670" b="0">
                          <a:solidFill>
                            <a:srgbClr val="121C2D"/>
                          </a:solidFill>
                          <a:latin typeface="Arial"/>
                        </a:rPr>
                        <a:t>14–17/10</a:t>
                      </a:r>
                    </a:p>
                    <a:p>
                      <a:pPr algn="ctr">
                        <a:lnSpc>
                          <a:spcPct val="103000"/>
                        </a:lnSpc>
                      </a:pPr>
                      <a:r>
                        <a:rPr sz="670" b="0">
                          <a:solidFill>
                            <a:srgbClr val="121C2D"/>
                          </a:solidFill>
                          <a:latin typeface="Arial"/>
                        </a:rPr>
                        <a:t>(12 bài lan)</a:t>
                      </a:r>
                    </a:p>
                  </a:txBody>
                  <a:tcPr anchor="ctr" marL="36576" marR="36576" marT="13716" marB="13716">
                    <a:solidFill>
                      <a:srgbClr val="FFFFFF"/>
                    </a:solidFill>
                  </a:tcPr>
                </a:tc>
                <a:tc>
                  <a:txBody>
                    <a:bodyPr wrap="square"/>
                    <a:lstStyle/>
                    <a:p>
                      <a:pPr algn="ctr">
                        <a:lnSpc>
                          <a:spcPct val="103000"/>
                        </a:lnSpc>
                      </a:pPr>
                      <a:r>
                        <a:rPr sz="670" b="0">
                          <a:solidFill>
                            <a:srgbClr val="121C2D"/>
                          </a:solidFill>
                          <a:latin typeface="Arial"/>
                        </a:rPr>
                        <a:t>274 likes</a:t>
                      </a:r>
                    </a:p>
                    <a:p>
                      <a:pPr algn="ctr">
                        <a:lnSpc>
                          <a:spcPct val="103000"/>
                        </a:lnSpc>
                      </a:pPr>
                      <a:r>
                        <a:rPr sz="670" b="0">
                          <a:solidFill>
                            <a:srgbClr val="121C2D"/>
                          </a:solidFill>
                          <a:latin typeface="Arial"/>
                        </a:rPr>
                        <a:t>88 bình luận</a:t>
                      </a:r>
                    </a:p>
                  </a:txBody>
                  <a:tcPr anchor="ctr" marL="36576" marR="36576" marT="13716" marB="13716">
                    <a:solidFill>
                      <a:srgbClr val="FFFFFF"/>
                    </a:solidFill>
                  </a:tcPr>
                </a:tc>
                <a:tc>
                  <a:txBody>
                    <a:bodyPr wrap="square"/>
                    <a:lstStyle/>
                    <a:p>
                      <a:pPr algn="l">
                        <a:lnSpc>
                          <a:spcPct val="103000"/>
                        </a:lnSpc>
                      </a:pPr>
                      <a:r>
                        <a:rPr sz="670" b="0">
                          <a:solidFill>
                            <a:srgbClr val="121C2D"/>
                          </a:solidFill>
                          <a:latin typeface="Arial"/>
                        </a:rPr>
                        <a:t>Khởi phát bản tin 'Tin vui cho BĐVN: Một tỷ phú USD sẽ tranh cử ghế Chủ tịch VFF!', được hàng chục hội nhóm dẫn lại nguồn.</a:t>
                      </a:r>
                    </a:p>
                  </a:txBody>
                  <a:tcPr anchor="ctr" marL="36576" marR="36576" marT="13716" marB="13716">
                    <a:solidFill>
                      <a:srgbClr val="FFFFFF"/>
                    </a:solidFill>
                  </a:tcPr>
                </a:tc>
                <a:tc>
                  <a:txBody>
                    <a:bodyPr wrap="square"/>
                    <a:lstStyle/>
                    <a:p>
                      <a:pPr algn="l">
                        <a:lnSpc>
                          <a:spcPct val="103000"/>
                        </a:lnSpc>
                      </a:pPr>
                      <a:r>
                        <a:rPr sz="670" b="1">
                          <a:solidFill>
                            <a:srgbClr val="1560D4"/>
                          </a:solidFill>
                          <a:latin typeface="Arial"/>
                        </a:rPr>
                        <a:t>BÀI ĐĂNG GỢI THAY ĐỔI</a:t>
                      </a:r>
                    </a:p>
                    <a:p>
                      <a:pPr algn="l">
                        <a:lnSpc>
                          <a:spcPct val="103000"/>
                        </a:lnSpc>
                      </a:pPr>
                      <a:r>
                        <a:rPr sz="670" b="1">
                          <a:solidFill>
                            <a:srgbClr val="1560D4"/>
                          </a:solidFill>
                          <a:latin typeface="Arial"/>
                        </a:rPr>
                        <a:t>(19 bình luận vẫn chọn Tuấn)</a:t>
                      </a:r>
                    </a:p>
                  </a:txBody>
                  <a:tcPr anchor="ctr" marL="36576" marR="36576" marT="13716" marB="13716">
                    <a:solidFill>
                      <a:srgbClr val="EBF3FF"/>
                    </a:solidFill>
                  </a:tcPr>
                </a:tc>
                <a:tc>
                  <a:txBody>
                    <a:bodyPr wrap="square"/>
                    <a:lstStyle/>
                    <a:p>
                      <a:pPr algn="l">
                        <a:lnSpc>
                          <a:spcPct val="103000"/>
                        </a:lnSpc>
                      </a:pPr>
                      <a:r>
                        <a:rPr sz="670" b="1">
                          <a:solidFill>
                            <a:srgbClr val="D62728"/>
                          </a:solidFill>
                          <a:latin typeface="Arial"/>
                        </a:rPr>
                        <a:t>ĐẨY SÓNG TỶ PHÚ USD</a:t>
                      </a:r>
                    </a:p>
                    <a:p>
                      <a:pPr algn="l">
                        <a:lnSpc>
                          <a:spcPct val="103000"/>
                        </a:lnSpc>
                      </a:pPr>
                      <a:r>
                        <a:rPr sz="670" b="1">
                          <a:solidFill>
                            <a:srgbClr val="D62728"/>
                          </a:solidFill>
                          <a:latin typeface="Arial"/>
                        </a:rPr>
                        <a:t>(22 bình luận CT / 11 phản đối)</a:t>
                      </a:r>
                    </a:p>
                  </a:txBody>
                  <a:tcPr anchor="ctr" marL="36576" marR="36576" marT="13716" marB="13716">
                    <a:solidFill>
                      <a:srgbClr val="FEEEEE"/>
                    </a:solidFill>
                  </a:tcPr>
                </a:tc>
                <a:tc>
                  <a:txBody>
                    <a:bodyPr wrap="square"/>
                    <a:lstStyle/>
                    <a:p>
                      <a:pPr algn="l">
                        <a:lnSpc>
                          <a:spcPct val="103000"/>
                        </a:lnSpc>
                      </a:pPr>
                      <a:r>
                        <a:rPr sz="670" b="1">
                          <a:solidFill>
                            <a:srgbClr val="1560D4"/>
                          </a:solidFill>
                          <a:latin typeface="Arial"/>
                          <a:hlinkClick r:id="rId10"/>
                        </a:rPr>
                        <a:t>fb.com/ithethaotv</a:t>
                      </a:r>
                    </a:p>
                    <a:p>
                      <a:pPr algn="l">
                        <a:lnSpc>
                          <a:spcPct val="103000"/>
                        </a:lnSpc>
                      </a:pPr>
                      <a:r>
                        <a:rPr sz="670" b="1">
                          <a:solidFill>
                            <a:srgbClr val="1560D4"/>
                          </a:solidFill>
                          <a:latin typeface="Arial"/>
                        </a:rPr>
                        <a:t>[FB-OCT-95 / 131]</a:t>
                      </a:r>
                    </a:p>
                  </a:txBody>
                  <a:tcPr anchor="ctr" marL="36576" marR="36576" marT="13716" marB="13716">
                    <a:solidFill>
                      <a:srgbClr val="FFFFFF"/>
                    </a:solidFill>
                  </a:tcPr>
                </a:tc>
              </a:tr>
              <a:tr h="361188">
                <a:tc>
                  <a:txBody>
                    <a:bodyPr wrap="square"/>
                    <a:lstStyle/>
                    <a:p>
                      <a:pPr algn="ctr">
                        <a:lnSpc>
                          <a:spcPct val="103000"/>
                        </a:lnSpc>
                      </a:pPr>
                      <a:r>
                        <a:rPr sz="670" b="1">
                          <a:solidFill>
                            <a:srgbClr val="121C2D"/>
                          </a:solidFill>
                          <a:latin typeface="Arial"/>
                        </a:rPr>
                        <a:t>10</a:t>
                      </a:r>
                    </a:p>
                  </a:txBody>
                  <a:tcPr anchor="ctr" marL="36576" marR="36576" marT="13716" marB="13716">
                    <a:solidFill>
                      <a:srgbClr val="F1F3F7"/>
                    </a:solidFill>
                  </a:tcPr>
                </a:tc>
                <a:tc>
                  <a:txBody>
                    <a:bodyPr wrap="square"/>
                    <a:lstStyle/>
                    <a:p>
                      <a:pPr algn="l">
                        <a:lnSpc>
                          <a:spcPct val="103000"/>
                        </a:lnSpc>
                      </a:pPr>
                      <a:r>
                        <a:rPr sz="670" b="1">
                          <a:solidFill>
                            <a:srgbClr val="121C2D"/>
                          </a:solidFill>
                          <a:latin typeface="Arial"/>
                        </a:rPr>
                        <a:t>Cụm Seeding Facebook</a:t>
                      </a:r>
                    </a:p>
                    <a:p>
                      <a:pPr algn="l">
                        <a:lnSpc>
                          <a:spcPct val="103000"/>
                        </a:lnSpc>
                      </a:pPr>
                      <a:r>
                        <a:rPr sz="670" b="1">
                          <a:solidFill>
                            <a:srgbClr val="121C2D"/>
                          </a:solidFill>
                          <a:latin typeface="Arial"/>
                        </a:rPr>
                        <a:t>Phấn Đấu &amp; VLeague 360</a:t>
                      </a:r>
                    </a:p>
                  </a:txBody>
                  <a:tcPr anchor="ctr" marL="36576" marR="36576" marT="13716" marB="13716">
                    <a:solidFill>
                      <a:srgbClr val="F1F3F7"/>
                    </a:solidFill>
                  </a:tcPr>
                </a:tc>
                <a:tc>
                  <a:txBody>
                    <a:bodyPr wrap="square"/>
                    <a:lstStyle/>
                    <a:p>
                      <a:pPr algn="ctr">
                        <a:lnSpc>
                          <a:spcPct val="103000"/>
                        </a:lnSpc>
                      </a:pPr>
                      <a:r>
                        <a:rPr sz="670" b="0">
                          <a:solidFill>
                            <a:srgbClr val="121C2D"/>
                          </a:solidFill>
                          <a:latin typeface="Arial"/>
                        </a:rPr>
                        <a:t>14–22/10</a:t>
                      </a:r>
                    </a:p>
                    <a:p>
                      <a:pPr algn="ctr">
                        <a:lnSpc>
                          <a:spcPct val="103000"/>
                        </a:lnSpc>
                      </a:pPr>
                      <a:r>
                        <a:rPr sz="670" b="0">
                          <a:solidFill>
                            <a:srgbClr val="121C2D"/>
                          </a:solidFill>
                          <a:latin typeface="Arial"/>
                        </a:rPr>
                        <a:t>(34 bài)</a:t>
                      </a:r>
                    </a:p>
                  </a:txBody>
                  <a:tcPr anchor="ctr" marL="36576" marR="36576" marT="13716" marB="13716">
                    <a:solidFill>
                      <a:srgbClr val="F1F3F7"/>
                    </a:solidFill>
                  </a:tcPr>
                </a:tc>
                <a:tc>
                  <a:txBody>
                    <a:bodyPr wrap="square"/>
                    <a:lstStyle/>
                    <a:p>
                      <a:pPr algn="ctr">
                        <a:lnSpc>
                          <a:spcPct val="103000"/>
                        </a:lnSpc>
                      </a:pPr>
                      <a:r>
                        <a:rPr sz="670" b="0">
                          <a:solidFill>
                            <a:srgbClr val="121C2D"/>
                          </a:solidFill>
                          <a:latin typeface="Arial"/>
                        </a:rPr>
                        <a:t>795 likes</a:t>
                      </a:r>
                    </a:p>
                    <a:p>
                      <a:pPr algn="ctr">
                        <a:lnSpc>
                          <a:spcPct val="103000"/>
                        </a:lnSpc>
                      </a:pPr>
                      <a:r>
                        <a:rPr sz="670" b="0">
                          <a:solidFill>
                            <a:srgbClr val="121C2D"/>
                          </a:solidFill>
                          <a:latin typeface="Arial"/>
                        </a:rPr>
                        <a:t>88 bình luận</a:t>
                      </a:r>
                    </a:p>
                  </a:txBody>
                  <a:tcPr anchor="ctr" marL="36576" marR="36576" marT="13716" marB="13716">
                    <a:solidFill>
                      <a:srgbClr val="F1F3F7"/>
                    </a:solidFill>
                  </a:tcPr>
                </a:tc>
                <a:tc>
                  <a:txBody>
                    <a:bodyPr wrap="square"/>
                    <a:lstStyle/>
                    <a:p>
                      <a:pPr algn="l">
                        <a:lnSpc>
                          <a:spcPct val="103000"/>
                        </a:lnSpc>
                      </a:pPr>
                      <a:r>
                        <a:rPr sz="670" b="0">
                          <a:solidFill>
                            <a:srgbClr val="121C2D"/>
                          </a:solidFill>
                          <a:latin typeface="Arial"/>
                        </a:rPr>
                        <a:t>Chiến dịch Seeding rải đồng loạt Infographic 'Ứng viên Nguyễn Đức Thụy' và đề xuất tăng số đội V.League vào 38 hội nhóm.</a:t>
                      </a:r>
                    </a:p>
                  </a:txBody>
                  <a:tcPr anchor="ctr" marL="36576" marR="36576" marT="13716" marB="13716">
                    <a:solidFill>
                      <a:srgbClr val="F1F3F7"/>
                    </a:solidFill>
                  </a:tcPr>
                </a:tc>
                <a:tc>
                  <a:txBody>
                    <a:bodyPr wrap="square"/>
                    <a:lstStyle/>
                    <a:p>
                      <a:pPr algn="l">
                        <a:lnSpc>
                          <a:spcPct val="103000"/>
                        </a:lnSpc>
                      </a:pPr>
                      <a:r>
                        <a:rPr sz="670" b="1">
                          <a:solidFill>
                            <a:srgbClr val="1560D4"/>
                          </a:solidFill>
                          <a:latin typeface="Arial"/>
                        </a:rPr>
                        <a:t>KHÔNG ĐỀ CẬP / BỎ QUA</a:t>
                      </a:r>
                    </a:p>
                    <a:p>
                      <a:pPr algn="l">
                        <a:lnSpc>
                          <a:spcPct val="103000"/>
                        </a:lnSpc>
                      </a:pPr>
                      <a:r>
                        <a:rPr sz="670" b="1">
                          <a:solidFill>
                            <a:srgbClr val="1560D4"/>
                          </a:solidFill>
                          <a:latin typeface="Arial"/>
                        </a:rPr>
                        <a:t>(25 bình luận đảo chiều bầu!)</a:t>
                      </a:r>
                    </a:p>
                  </a:txBody>
                  <a:tcPr anchor="ctr" marL="36576" marR="36576" marT="13716" marB="13716">
                    <a:solidFill>
                      <a:srgbClr val="EBF3FF"/>
                    </a:solidFill>
                  </a:tcPr>
                </a:tc>
                <a:tc>
                  <a:txBody>
                    <a:bodyPr wrap="square"/>
                    <a:lstStyle/>
                    <a:p>
                      <a:pPr algn="l">
                        <a:lnSpc>
                          <a:spcPct val="103000"/>
                        </a:lnSpc>
                      </a:pPr>
                      <a:r>
                        <a:rPr sz="670" b="1">
                          <a:solidFill>
                            <a:srgbClr val="D62728"/>
                          </a:solidFill>
                          <a:latin typeface="Arial"/>
                        </a:rPr>
                        <a:t>100% SEEDING PR</a:t>
                      </a:r>
                    </a:p>
                    <a:p>
                      <a:pPr algn="l">
                        <a:lnSpc>
                          <a:spcPct val="103000"/>
                        </a:lnSpc>
                      </a:pPr>
                      <a:r>
                        <a:rPr sz="670" b="1">
                          <a:solidFill>
                            <a:srgbClr val="D62728"/>
                          </a:solidFill>
                          <a:latin typeface="Arial"/>
                        </a:rPr>
                        <a:t>(15 bình luận CT / 14 phản ứng seeding)</a:t>
                      </a:r>
                    </a:p>
                  </a:txBody>
                  <a:tcPr anchor="ctr" marL="36576" marR="36576" marT="13716" marB="13716">
                    <a:solidFill>
                      <a:srgbClr val="FEEEEE"/>
                    </a:solidFill>
                  </a:tcPr>
                </a:tc>
                <a:tc>
                  <a:txBody>
                    <a:bodyPr wrap="square"/>
                    <a:lstStyle/>
                    <a:p>
                      <a:pPr algn="l">
                        <a:lnSpc>
                          <a:spcPct val="103000"/>
                        </a:lnSpc>
                      </a:pPr>
                      <a:r>
                        <a:rPr sz="670" b="1">
                          <a:solidFill>
                            <a:srgbClr val="1560D4"/>
                          </a:solidFill>
                          <a:latin typeface="Arial"/>
                          <a:hlinkClick r:id="rId11"/>
                        </a:rPr>
                        <a:t>fb.com/nguyenphandaudakpo</a:t>
                      </a:r>
                    </a:p>
                    <a:p>
                      <a:pPr algn="l">
                        <a:lnSpc>
                          <a:spcPct val="103000"/>
                        </a:lnSpc>
                      </a:pPr>
                      <a:r>
                        <a:rPr sz="670" b="1">
                          <a:solidFill>
                            <a:srgbClr val="1560D4"/>
                          </a:solidFill>
                          <a:latin typeface="Arial"/>
                        </a:rPr>
                        <a:t>[FB-GQL-068]</a:t>
                      </a:r>
                    </a:p>
                  </a:txBody>
                  <a:tcPr anchor="ctr" marL="36576" marR="36576" marT="13716" marB="13716">
                    <a:solidFill>
                      <a:srgbClr val="F1F3F7"/>
                    </a:solidFill>
                  </a:tcPr>
                </a:tc>
              </a:tr>
              <a:tr h="361188">
                <a:tc>
                  <a:txBody>
                    <a:bodyPr wrap="square"/>
                    <a:lstStyle/>
                    <a:p>
                      <a:pPr algn="ctr">
                        <a:lnSpc>
                          <a:spcPct val="103000"/>
                        </a:lnSpc>
                      </a:pPr>
                      <a:r>
                        <a:rPr sz="670" b="1">
                          <a:solidFill>
                            <a:srgbClr val="121C2D"/>
                          </a:solidFill>
                          <a:latin typeface="Arial"/>
                        </a:rPr>
                        <a:t>11</a:t>
                      </a:r>
                    </a:p>
                  </a:txBody>
                  <a:tcPr anchor="ctr" marL="36576" marR="36576" marT="13716" marB="13716">
                    <a:solidFill>
                      <a:srgbClr val="FFFFFF"/>
                    </a:solidFill>
                  </a:tcPr>
                </a:tc>
                <a:tc>
                  <a:txBody>
                    <a:bodyPr wrap="square"/>
                    <a:lstStyle/>
                    <a:p>
                      <a:pPr algn="l">
                        <a:lnSpc>
                          <a:spcPct val="103000"/>
                        </a:lnSpc>
                      </a:pPr>
                      <a:r>
                        <a:rPr sz="670" b="1">
                          <a:solidFill>
                            <a:srgbClr val="121C2D"/>
                          </a:solidFill>
                          <a:latin typeface="Arial"/>
                        </a:rPr>
                        <a:t>YouTube Channel</a:t>
                      </a:r>
                    </a:p>
                    <a:p>
                      <a:pPr algn="l">
                        <a:lnSpc>
                          <a:spcPct val="103000"/>
                        </a:lnSpc>
                      </a:pPr>
                      <a:r>
                        <a:rPr sz="670" b="1">
                          <a:solidFill>
                            <a:srgbClr val="121C2D"/>
                          </a:solidFill>
                          <a:latin typeface="Arial"/>
                        </a:rPr>
                        <a:t>BÓNG ĐÁ NGÀY NAY</a:t>
                      </a:r>
                    </a:p>
                  </a:txBody>
                  <a:tcPr anchor="ctr" marL="36576" marR="36576" marT="13716" marB="13716">
                    <a:solidFill>
                      <a:srgbClr val="FFFFFF"/>
                    </a:solidFill>
                  </a:tcPr>
                </a:tc>
                <a:tc>
                  <a:txBody>
                    <a:bodyPr wrap="square"/>
                    <a:lstStyle/>
                    <a:p>
                      <a:pPr algn="ctr">
                        <a:lnSpc>
                          <a:spcPct val="103000"/>
                        </a:lnSpc>
                      </a:pPr>
                      <a:r>
                        <a:rPr sz="670" b="0">
                          <a:solidFill>
                            <a:srgbClr val="121C2D"/>
                          </a:solidFill>
                          <a:latin typeface="Arial"/>
                        </a:rPr>
                        <a:t>04–20/10</a:t>
                      </a:r>
                    </a:p>
                    <a:p>
                      <a:pPr algn="ctr">
                        <a:lnSpc>
                          <a:spcPct val="103000"/>
                        </a:lnSpc>
                      </a:pPr>
                      <a:r>
                        <a:rPr sz="670" b="0">
                          <a:solidFill>
                            <a:srgbClr val="121C2D"/>
                          </a:solidFill>
                          <a:latin typeface="Arial"/>
                        </a:rPr>
                        <a:t>(5 video)</a:t>
                      </a:r>
                    </a:p>
                  </a:txBody>
                  <a:tcPr anchor="ctr" marL="36576" marR="36576" marT="13716" marB="13716">
                    <a:solidFill>
                      <a:srgbClr val="FFFFFF"/>
                    </a:solidFill>
                  </a:tcPr>
                </a:tc>
                <a:tc>
                  <a:txBody>
                    <a:bodyPr wrap="square"/>
                    <a:lstStyle/>
                    <a:p>
                      <a:pPr algn="ctr">
                        <a:lnSpc>
                          <a:spcPct val="103000"/>
                        </a:lnSpc>
                      </a:pPr>
                      <a:r>
                        <a:rPr sz="670" b="0">
                          <a:solidFill>
                            <a:srgbClr val="121C2D"/>
                          </a:solidFill>
                          <a:latin typeface="Arial"/>
                        </a:rPr>
                        <a:t>415.247 views</a:t>
                      </a:r>
                    </a:p>
                    <a:p>
                      <a:pPr algn="ctr">
                        <a:lnSpc>
                          <a:spcPct val="103000"/>
                        </a:lnSpc>
                      </a:pPr>
                      <a:r>
                        <a:rPr sz="670" b="0">
                          <a:solidFill>
                            <a:srgbClr val="121C2D"/>
                          </a:solidFill>
                          <a:latin typeface="Arial"/>
                        </a:rPr>
                        <a:t>97 bình luận</a:t>
                      </a:r>
                    </a:p>
                  </a:txBody>
                  <a:tcPr anchor="ctr" marL="36576" marR="36576" marT="13716" marB="13716">
                    <a:solidFill>
                      <a:srgbClr val="FFFFFF"/>
                    </a:solidFill>
                  </a:tcPr>
                </a:tc>
                <a:tc>
                  <a:txBody>
                    <a:bodyPr wrap="square"/>
                    <a:lstStyle/>
                    <a:p>
                      <a:pPr algn="l">
                        <a:lnSpc>
                          <a:spcPct val="103000"/>
                        </a:lnSpc>
                      </a:pPr>
                      <a:r>
                        <a:rPr sz="670" b="0">
                          <a:solidFill>
                            <a:srgbClr val="121C2D"/>
                          </a:solidFill>
                          <a:latin typeface="Arial"/>
                        </a:rPr>
                        <a:t>Đăng cả video giật tít 'Tỷ phú USD sắp tranh ghế CT VFF' (278K views) lẫn video 'Thái Lan, Indo trả giá đắt vì Chủ tịch doanh nhân'.</a:t>
                      </a:r>
                    </a:p>
                  </a:txBody>
                  <a:tcPr anchor="ctr" marL="36576" marR="36576" marT="13716" marB="13716">
                    <a:solidFill>
                      <a:srgbClr val="FFFFFF"/>
                    </a:solidFill>
                  </a:tcPr>
                </a:tc>
                <a:tc>
                  <a:txBody>
                    <a:bodyPr wrap="square"/>
                    <a:lstStyle/>
                    <a:p>
                      <a:pPr algn="l">
                        <a:lnSpc>
                          <a:spcPct val="103000"/>
                        </a:lnSpc>
                      </a:pPr>
                      <a:r>
                        <a:rPr sz="670" b="1">
                          <a:solidFill>
                            <a:srgbClr val="1560D4"/>
                          </a:solidFill>
                          <a:latin typeface="Arial"/>
                        </a:rPr>
                        <a:t>CÂN BẰNG 2 CHIỀU</a:t>
                      </a:r>
                    </a:p>
                    <a:p>
                      <a:pPr algn="l">
                        <a:lnSpc>
                          <a:spcPct val="103000"/>
                        </a:lnSpc>
                      </a:pPr>
                      <a:r>
                        <a:rPr sz="670" b="1">
                          <a:solidFill>
                            <a:srgbClr val="1560D4"/>
                          </a:solidFill>
                          <a:latin typeface="Arial"/>
                        </a:rPr>
                        <a:t>(22 bình luận chọn Tuấn CT)</a:t>
                      </a:r>
                    </a:p>
                  </a:txBody>
                  <a:tcPr anchor="ctr" marL="36576" marR="36576" marT="13716" marB="13716">
                    <a:solidFill>
                      <a:srgbClr val="EBF3FF"/>
                    </a:solidFill>
                  </a:tcPr>
                </a:tc>
                <a:tc>
                  <a:txBody>
                    <a:bodyPr wrap="square"/>
                    <a:lstStyle/>
                    <a:p>
                      <a:pPr algn="l">
                        <a:lnSpc>
                          <a:spcPct val="103000"/>
                        </a:lnSpc>
                      </a:pPr>
                      <a:r>
                        <a:rPr sz="670" b="1">
                          <a:solidFill>
                            <a:srgbClr val="D62728"/>
                          </a:solidFill>
                          <a:latin typeface="Arial"/>
                        </a:rPr>
                        <a:t>VỪA ĐẨY VỪA CẢNH BÁO</a:t>
                      </a:r>
                    </a:p>
                    <a:p>
                      <a:pPr algn="l">
                        <a:lnSpc>
                          <a:spcPct val="103000"/>
                        </a:lnSpc>
                      </a:pPr>
                      <a:r>
                        <a:rPr sz="670" b="1">
                          <a:solidFill>
                            <a:srgbClr val="D62728"/>
                          </a:solidFill>
                          <a:latin typeface="Arial"/>
                        </a:rPr>
                        <a:t>(23 bình luận CT / 14 phản đối)</a:t>
                      </a:r>
                    </a:p>
                  </a:txBody>
                  <a:tcPr anchor="ctr" marL="36576" marR="36576" marT="13716" marB="13716">
                    <a:solidFill>
                      <a:srgbClr val="FEEEEE"/>
                    </a:solidFill>
                  </a:tcPr>
                </a:tc>
                <a:tc>
                  <a:txBody>
                    <a:bodyPr wrap="square"/>
                    <a:lstStyle/>
                    <a:p>
                      <a:pPr algn="l">
                        <a:lnSpc>
                          <a:spcPct val="103000"/>
                        </a:lnSpc>
                      </a:pPr>
                      <a:r>
                        <a:rPr sz="670" b="1">
                          <a:solidFill>
                            <a:srgbClr val="1560D4"/>
                          </a:solidFill>
                          <a:latin typeface="Arial"/>
                          <a:hlinkClick r:id="rId12"/>
                        </a:rPr>
                        <a:t>youtu.be/zBelpKcW-CE</a:t>
                      </a:r>
                    </a:p>
                    <a:p>
                      <a:pPr algn="l">
                        <a:lnSpc>
                          <a:spcPct val="103000"/>
                        </a:lnSpc>
                      </a:pPr>
                      <a:r>
                        <a:rPr sz="670" b="1">
                          <a:solidFill>
                            <a:srgbClr val="1560D4"/>
                          </a:solidFill>
                          <a:latin typeface="Arial"/>
                        </a:rPr>
                        <a:t>[YT-AUD-01]</a:t>
                      </a:r>
                    </a:p>
                  </a:txBody>
                  <a:tcPr anchor="ctr" marL="36576" marR="36576" marT="13716" marB="13716">
                    <a:solidFill>
                      <a:srgbClr val="FFFFFF"/>
                    </a:solidFill>
                  </a:tcPr>
                </a:tc>
              </a:tr>
              <a:tr h="361188">
                <a:tc>
                  <a:txBody>
                    <a:bodyPr wrap="square"/>
                    <a:lstStyle/>
                    <a:p>
                      <a:pPr algn="ctr">
                        <a:lnSpc>
                          <a:spcPct val="103000"/>
                        </a:lnSpc>
                      </a:pPr>
                      <a:r>
                        <a:rPr sz="670" b="1">
                          <a:solidFill>
                            <a:srgbClr val="121C2D"/>
                          </a:solidFill>
                          <a:latin typeface="Arial"/>
                        </a:rPr>
                        <a:t>12</a:t>
                      </a:r>
                    </a:p>
                  </a:txBody>
                  <a:tcPr anchor="ctr" marL="36576" marR="36576" marT="13716" marB="13716">
                    <a:solidFill>
                      <a:srgbClr val="F1F3F7"/>
                    </a:solidFill>
                  </a:tcPr>
                </a:tc>
                <a:tc>
                  <a:txBody>
                    <a:bodyPr wrap="square"/>
                    <a:lstStyle/>
                    <a:p>
                      <a:pPr algn="l">
                        <a:lnSpc>
                          <a:spcPct val="103000"/>
                        </a:lnSpc>
                      </a:pPr>
                      <a:r>
                        <a:rPr sz="670" b="1">
                          <a:solidFill>
                            <a:srgbClr val="121C2D"/>
                          </a:solidFill>
                          <a:latin typeface="Arial"/>
                        </a:rPr>
                        <a:t>YouTube Channel</a:t>
                      </a:r>
                    </a:p>
                    <a:p>
                      <a:pPr algn="l">
                        <a:lnSpc>
                          <a:spcPct val="103000"/>
                        </a:lnSpc>
                      </a:pPr>
                      <a:r>
                        <a:rPr sz="670" b="1">
                          <a:solidFill>
                            <a:srgbClr val="121C2D"/>
                          </a:solidFill>
                          <a:latin typeface="Arial"/>
                        </a:rPr>
                        <a:t>Vlog Ngoài đường piste</a:t>
                      </a:r>
                    </a:p>
                  </a:txBody>
                  <a:tcPr anchor="ctr" marL="36576" marR="36576" marT="13716" marB="13716">
                    <a:solidFill>
                      <a:srgbClr val="F1F3F7"/>
                    </a:solidFill>
                  </a:tcPr>
                </a:tc>
                <a:tc>
                  <a:txBody>
                    <a:bodyPr wrap="square"/>
                    <a:lstStyle/>
                    <a:p>
                      <a:pPr algn="ctr">
                        <a:lnSpc>
                          <a:spcPct val="103000"/>
                        </a:lnSpc>
                      </a:pPr>
                      <a:r>
                        <a:rPr sz="670" b="0">
                          <a:solidFill>
                            <a:srgbClr val="121C2D"/>
                          </a:solidFill>
                          <a:latin typeface="Arial"/>
                        </a:rPr>
                        <a:t>19–22/10</a:t>
                      </a:r>
                    </a:p>
                    <a:p>
                      <a:pPr algn="ctr">
                        <a:lnSpc>
                          <a:spcPct val="103000"/>
                        </a:lnSpc>
                      </a:pPr>
                      <a:r>
                        <a:rPr sz="670" b="0">
                          <a:solidFill>
                            <a:srgbClr val="121C2D"/>
                          </a:solidFill>
                          <a:latin typeface="Arial"/>
                        </a:rPr>
                        <a:t>(9 video)</a:t>
                      </a:r>
                    </a:p>
                  </a:txBody>
                  <a:tcPr anchor="ctr" marL="36576" marR="36576" marT="13716" marB="13716">
                    <a:solidFill>
                      <a:srgbClr val="F1F3F7"/>
                    </a:solidFill>
                  </a:tcPr>
                </a:tc>
                <a:tc>
                  <a:txBody>
                    <a:bodyPr wrap="square"/>
                    <a:lstStyle/>
                    <a:p>
                      <a:pPr algn="ctr">
                        <a:lnSpc>
                          <a:spcPct val="103000"/>
                        </a:lnSpc>
                      </a:pPr>
                      <a:r>
                        <a:rPr sz="670" b="0">
                          <a:solidFill>
                            <a:srgbClr val="121C2D"/>
                          </a:solidFill>
                          <a:latin typeface="Arial"/>
                        </a:rPr>
                        <a:t>185.529 views</a:t>
                      </a:r>
                    </a:p>
                    <a:p>
                      <a:pPr algn="ctr">
                        <a:lnSpc>
                          <a:spcPct val="103000"/>
                        </a:lnSpc>
                      </a:pPr>
                      <a:r>
                        <a:rPr sz="670" b="0">
                          <a:solidFill>
                            <a:srgbClr val="121C2D"/>
                          </a:solidFill>
                          <a:latin typeface="Arial"/>
                        </a:rPr>
                        <a:t>107 bình luận</a:t>
                      </a:r>
                    </a:p>
                  </a:txBody>
                  <a:tcPr anchor="ctr" marL="36576" marR="36576" marT="13716" marB="13716">
                    <a:solidFill>
                      <a:srgbClr val="F1F3F7"/>
                    </a:solidFill>
                  </a:tcPr>
                </a:tc>
                <a:tc>
                  <a:txBody>
                    <a:bodyPr wrap="square"/>
                    <a:lstStyle/>
                    <a:p>
                      <a:pPr algn="l">
                        <a:lnSpc>
                          <a:spcPct val="103000"/>
                        </a:lnSpc>
                      </a:pPr>
                      <a:r>
                        <a:rPr sz="670" b="0">
                          <a:solidFill>
                            <a:srgbClr val="121C2D"/>
                          </a:solidFill>
                          <a:latin typeface="Arial"/>
                        </a:rPr>
                        <a:t>Phân tích tương quan 3 ứng viên Chủ tịch VFF và mổ xẻ mục tiêu huy động 600–1.000 tỷ đồng/năm của Bầu Thụy (22/10).</a:t>
                      </a:r>
                    </a:p>
                  </a:txBody>
                  <a:tcPr anchor="ctr" marL="36576" marR="36576" marT="13716" marB="13716">
                    <a:solidFill>
                      <a:srgbClr val="F1F3F7"/>
                    </a:solidFill>
                  </a:tcPr>
                </a:tc>
                <a:tc>
                  <a:txBody>
                    <a:bodyPr wrap="square"/>
                    <a:lstStyle/>
                    <a:p>
                      <a:pPr algn="l">
                        <a:lnSpc>
                          <a:spcPct val="103000"/>
                        </a:lnSpc>
                      </a:pPr>
                      <a:r>
                        <a:rPr sz="670" b="1">
                          <a:solidFill>
                            <a:srgbClr val="1560D4"/>
                          </a:solidFill>
                          <a:latin typeface="Arial"/>
                        </a:rPr>
                        <a:t>TRUNG LẬP ĐÁNH GIÁ CAO</a:t>
                      </a:r>
                    </a:p>
                    <a:p>
                      <a:pPr algn="l">
                        <a:lnSpc>
                          <a:spcPct val="103000"/>
                        </a:lnSpc>
                      </a:pPr>
                      <a:r>
                        <a:rPr sz="670" b="1">
                          <a:solidFill>
                            <a:srgbClr val="1560D4"/>
                          </a:solidFill>
                          <a:latin typeface="Arial"/>
                        </a:rPr>
                        <a:t>(21 bình luận chọn Tuấn CT)</a:t>
                      </a:r>
                    </a:p>
                  </a:txBody>
                  <a:tcPr anchor="ctr" marL="36576" marR="36576" marT="13716" marB="13716">
                    <a:solidFill>
                      <a:srgbClr val="EBF3FF"/>
                    </a:solidFill>
                  </a:tcPr>
                </a:tc>
                <a:tc>
                  <a:txBody>
                    <a:bodyPr wrap="square"/>
                    <a:lstStyle/>
                    <a:p>
                      <a:pPr algn="l">
                        <a:lnSpc>
                          <a:spcPct val="103000"/>
                        </a:lnSpc>
                      </a:pPr>
                      <a:r>
                        <a:rPr sz="670" b="1">
                          <a:solidFill>
                            <a:srgbClr val="444E5E"/>
                          </a:solidFill>
                          <a:latin typeface="Arial"/>
                        </a:rPr>
                        <a:t>ĐƯA TIN CAM KẾT 1000 TỶ</a:t>
                      </a:r>
                    </a:p>
                    <a:p>
                      <a:pPr algn="l">
                        <a:lnSpc>
                          <a:spcPct val="103000"/>
                        </a:lnSpc>
                      </a:pPr>
                      <a:r>
                        <a:rPr sz="670" b="1">
                          <a:solidFill>
                            <a:srgbClr val="444E5E"/>
                          </a:solidFill>
                          <a:latin typeface="Arial"/>
                        </a:rPr>
                        <a:t>(26 bình luận CT / 11 phản đối)</a:t>
                      </a:r>
                    </a:p>
                  </a:txBody>
                  <a:tcPr anchor="ctr" marL="36576" marR="36576" marT="13716" marB="13716">
                    <a:solidFill>
                      <a:srgbClr val="FFF6E8"/>
                    </a:solidFill>
                  </a:tcPr>
                </a:tc>
                <a:tc>
                  <a:txBody>
                    <a:bodyPr wrap="square"/>
                    <a:lstStyle/>
                    <a:p>
                      <a:pPr algn="l">
                        <a:lnSpc>
                          <a:spcPct val="103000"/>
                        </a:lnSpc>
                      </a:pPr>
                      <a:r>
                        <a:rPr sz="670" b="1">
                          <a:solidFill>
                            <a:srgbClr val="1560D4"/>
                          </a:solidFill>
                          <a:latin typeface="Arial"/>
                          <a:hlinkClick r:id="rId13"/>
                        </a:rPr>
                        <a:t>youtu.be/WAVgzL-pF5c</a:t>
                      </a:r>
                    </a:p>
                    <a:p>
                      <a:pPr algn="l">
                        <a:lnSpc>
                          <a:spcPct val="103000"/>
                        </a:lnSpc>
                      </a:pPr>
                      <a:r>
                        <a:rPr sz="670" b="1">
                          <a:solidFill>
                            <a:srgbClr val="1560D4"/>
                          </a:solidFill>
                          <a:latin typeface="Arial"/>
                        </a:rPr>
                        <a:t>[YT-AUD-14..21]</a:t>
                      </a:r>
                    </a:p>
                  </a:txBody>
                  <a:tcPr anchor="ctr" marL="36576" marR="36576" marT="13716" marB="13716">
                    <a:solidFill>
                      <a:srgbClr val="F1F3F7"/>
                    </a:solidFill>
                  </a:tcPr>
                </a:tc>
              </a:tr>
              <a:tr h="361188">
                <a:tc>
                  <a:txBody>
                    <a:bodyPr wrap="square"/>
                    <a:lstStyle/>
                    <a:p>
                      <a:pPr algn="ctr">
                        <a:lnSpc>
                          <a:spcPct val="103000"/>
                        </a:lnSpc>
                      </a:pPr>
                      <a:r>
                        <a:rPr sz="670" b="1">
                          <a:solidFill>
                            <a:srgbClr val="121C2D"/>
                          </a:solidFill>
                          <a:latin typeface="Arial"/>
                        </a:rPr>
                        <a:t>13</a:t>
                      </a:r>
                    </a:p>
                  </a:txBody>
                  <a:tcPr anchor="ctr" marL="36576" marR="36576" marT="13716" marB="13716">
                    <a:solidFill>
                      <a:srgbClr val="FFFFFF"/>
                    </a:solidFill>
                  </a:tcPr>
                </a:tc>
                <a:tc>
                  <a:txBody>
                    <a:bodyPr wrap="square"/>
                    <a:lstStyle/>
                    <a:p>
                      <a:pPr algn="l">
                        <a:lnSpc>
                          <a:spcPct val="103000"/>
                        </a:lnSpc>
                      </a:pPr>
                      <a:r>
                        <a:rPr sz="670" b="1">
                          <a:solidFill>
                            <a:srgbClr val="121C2D"/>
                          </a:solidFill>
                          <a:latin typeface="Arial"/>
                        </a:rPr>
                        <a:t>Báo Kinh tế &amp; Fanpage</a:t>
                      </a:r>
                    </a:p>
                    <a:p>
                      <a:pPr algn="l">
                        <a:lnSpc>
                          <a:spcPct val="103000"/>
                        </a:lnSpc>
                      </a:pPr>
                      <a:r>
                        <a:rPr sz="670" b="1">
                          <a:solidFill>
                            <a:srgbClr val="121C2D"/>
                          </a:solidFill>
                          <a:latin typeface="Arial"/>
                        </a:rPr>
                        <a:t>CafeF &amp; VietnamFinance</a:t>
                      </a:r>
                    </a:p>
                  </a:txBody>
                  <a:tcPr anchor="ctr" marL="36576" marR="36576" marT="13716" marB="13716">
                    <a:solidFill>
                      <a:srgbClr val="FFFFFF"/>
                    </a:solidFill>
                  </a:tcPr>
                </a:tc>
                <a:tc>
                  <a:txBody>
                    <a:bodyPr wrap="square"/>
                    <a:lstStyle/>
                    <a:p>
                      <a:pPr algn="ctr">
                        <a:lnSpc>
                          <a:spcPct val="103000"/>
                        </a:lnSpc>
                      </a:pPr>
                      <a:r>
                        <a:rPr sz="670" b="0">
                          <a:solidFill>
                            <a:srgbClr val="121C2D"/>
                          </a:solidFill>
                          <a:latin typeface="Arial"/>
                        </a:rPr>
                        <a:t>19–22/10</a:t>
                      </a:r>
                    </a:p>
                    <a:p>
                      <a:pPr algn="ctr">
                        <a:lnSpc>
                          <a:spcPct val="103000"/>
                        </a:lnSpc>
                      </a:pPr>
                      <a:r>
                        <a:rPr sz="670" b="0">
                          <a:solidFill>
                            <a:srgbClr val="121C2D"/>
                          </a:solidFill>
                          <a:latin typeface="Arial"/>
                        </a:rPr>
                        <a:t>(13 bài)</a:t>
                      </a:r>
                    </a:p>
                  </a:txBody>
                  <a:tcPr anchor="ctr" marL="36576" marR="36576" marT="13716" marB="13716">
                    <a:solidFill>
                      <a:srgbClr val="FFFFFF"/>
                    </a:solidFill>
                  </a:tcPr>
                </a:tc>
                <a:tc>
                  <a:txBody>
                    <a:bodyPr wrap="square"/>
                    <a:lstStyle/>
                    <a:p>
                      <a:pPr algn="ctr">
                        <a:lnSpc>
                          <a:spcPct val="103000"/>
                        </a:lnSpc>
                      </a:pPr>
                      <a:r>
                        <a:rPr sz="670" b="0">
                          <a:solidFill>
                            <a:srgbClr val="121C2D"/>
                          </a:solidFill>
                          <a:latin typeface="Arial"/>
                        </a:rPr>
                        <a:t>356 likes</a:t>
                      </a:r>
                    </a:p>
                    <a:p>
                      <a:pPr algn="ctr">
                        <a:lnSpc>
                          <a:spcPct val="103000"/>
                        </a:lnSpc>
                      </a:pPr>
                      <a:r>
                        <a:rPr sz="670" b="0">
                          <a:solidFill>
                            <a:srgbClr val="121C2D"/>
                          </a:solidFill>
                          <a:latin typeface="Arial"/>
                        </a:rPr>
                        <a:t>86 bình luận FB/TT</a:t>
                      </a:r>
                    </a:p>
                  </a:txBody>
                  <a:tcPr anchor="ctr" marL="36576" marR="36576" marT="13716" marB="13716">
                    <a:solidFill>
                      <a:srgbClr val="FFFFFF"/>
                    </a:solidFill>
                  </a:tcPr>
                </a:tc>
                <a:tc>
                  <a:txBody>
                    <a:bodyPr wrap="square"/>
                    <a:lstStyle/>
                    <a:p>
                      <a:pPr algn="l">
                        <a:lnSpc>
                          <a:spcPct val="103000"/>
                        </a:lnSpc>
                      </a:pPr>
                      <a:r>
                        <a:rPr sz="670" b="0">
                          <a:solidFill>
                            <a:srgbClr val="121C2D"/>
                          </a:solidFill>
                          <a:latin typeface="Arial"/>
                        </a:rPr>
                        <a:t>Đẩy mạnh thông điệp 'Hơn 40/57 tổ chức thành viên đề cử Bầu Thụy; Bầu Hiển, Bầu Đức ủng hộ' và cam kết tự chủ tài chính.</a:t>
                      </a:r>
                    </a:p>
                  </a:txBody>
                  <a:tcPr anchor="ctr" marL="36576" marR="36576" marT="13716" marB="13716">
                    <a:solidFill>
                      <a:srgbClr val="FFFFFF"/>
                    </a:solidFill>
                  </a:tcPr>
                </a:tc>
                <a:tc>
                  <a:txBody>
                    <a:bodyPr wrap="square"/>
                    <a:lstStyle/>
                    <a:p>
                      <a:pPr algn="l">
                        <a:lnSpc>
                          <a:spcPct val="103000"/>
                        </a:lnSpc>
                      </a:pPr>
                      <a:r>
                        <a:rPr sz="670" b="1">
                          <a:solidFill>
                            <a:srgbClr val="1560D4"/>
                          </a:solidFill>
                          <a:latin typeface="Arial"/>
                        </a:rPr>
                        <a:t>ĐỀ CẬP NGẮN GỌN</a:t>
                      </a:r>
                    </a:p>
                    <a:p>
                      <a:pPr algn="l">
                        <a:lnSpc>
                          <a:spcPct val="103000"/>
                        </a:lnSpc>
                      </a:pPr>
                      <a:r>
                        <a:rPr sz="670" b="1">
                          <a:solidFill>
                            <a:srgbClr val="1560D4"/>
                          </a:solidFill>
                          <a:latin typeface="Arial"/>
                        </a:rPr>
                        <a:t>(16 bình luận chọn Tuấn CT)</a:t>
                      </a:r>
                    </a:p>
                  </a:txBody>
                  <a:tcPr anchor="ctr" marL="36576" marR="36576" marT="13716" marB="13716">
                    <a:solidFill>
                      <a:srgbClr val="EBF3FF"/>
                    </a:solidFill>
                  </a:tcPr>
                </a:tc>
                <a:tc>
                  <a:txBody>
                    <a:bodyPr wrap="square"/>
                    <a:lstStyle/>
                    <a:p>
                      <a:pPr algn="l">
                        <a:lnSpc>
                          <a:spcPct val="103000"/>
                        </a:lnSpc>
                      </a:pPr>
                      <a:r>
                        <a:rPr sz="670" b="1">
                          <a:solidFill>
                            <a:srgbClr val="D62728"/>
                          </a:solidFill>
                          <a:latin typeface="Arial"/>
                        </a:rPr>
                        <a:t>ỦNG HỘ MẠNH MẼ</a:t>
                      </a:r>
                    </a:p>
                    <a:p>
                      <a:pPr algn="l">
                        <a:lnSpc>
                          <a:spcPct val="103000"/>
                        </a:lnSpc>
                      </a:pPr>
                      <a:r>
                        <a:rPr sz="670" b="1">
                          <a:solidFill>
                            <a:srgbClr val="D62728"/>
                          </a:solidFill>
                          <a:latin typeface="Arial"/>
                        </a:rPr>
                        <a:t>(33 bình luận CT / 16 phản đối)</a:t>
                      </a:r>
                    </a:p>
                  </a:txBody>
                  <a:tcPr anchor="ctr" marL="36576" marR="36576" marT="13716" marB="13716">
                    <a:solidFill>
                      <a:srgbClr val="FEEEEE"/>
                    </a:solidFill>
                  </a:tcPr>
                </a:tc>
                <a:tc>
                  <a:txBody>
                    <a:bodyPr wrap="square"/>
                    <a:lstStyle/>
                    <a:p>
                      <a:pPr algn="l">
                        <a:lnSpc>
                          <a:spcPct val="103000"/>
                        </a:lnSpc>
                      </a:pPr>
                      <a:r>
                        <a:rPr sz="670" b="1">
                          <a:solidFill>
                            <a:srgbClr val="1560D4"/>
                          </a:solidFill>
                          <a:latin typeface="Arial"/>
                          <a:hlinkClick r:id="rId14"/>
                        </a:rPr>
                        <a:t>fb.com/CafeF</a:t>
                      </a:r>
                    </a:p>
                    <a:p>
                      <a:pPr algn="l">
                        <a:lnSpc>
                          <a:spcPct val="103000"/>
                        </a:lnSpc>
                      </a:pPr>
                      <a:r>
                        <a:rPr sz="670" b="1">
                          <a:solidFill>
                            <a:srgbClr val="1560D4"/>
                          </a:solidFill>
                          <a:latin typeface="Arial"/>
                        </a:rPr>
                        <a:t>[FB-GQL-115 / TT]</a:t>
                      </a:r>
                    </a:p>
                  </a:txBody>
                  <a:tcPr anchor="ctr" marL="36576" marR="36576" marT="13716" marB="13716">
                    <a:solidFill>
                      <a:srgbClr val="FFFFFF"/>
                    </a:solidFill>
                  </a:tcPr>
                </a:tc>
              </a:tr>
              <a:tr h="361188">
                <a:tc>
                  <a:txBody>
                    <a:bodyPr wrap="square"/>
                    <a:lstStyle/>
                    <a:p>
                      <a:pPr algn="ctr">
                        <a:lnSpc>
                          <a:spcPct val="103000"/>
                        </a:lnSpc>
                      </a:pPr>
                      <a:r>
                        <a:rPr sz="670" b="1">
                          <a:solidFill>
                            <a:srgbClr val="121C2D"/>
                          </a:solidFill>
                          <a:latin typeface="Arial"/>
                        </a:rPr>
                        <a:t>14</a:t>
                      </a:r>
                    </a:p>
                  </a:txBody>
                  <a:tcPr anchor="ctr" marL="36576" marR="36576" marT="13716" marB="13716">
                    <a:solidFill>
                      <a:srgbClr val="F1F3F7"/>
                    </a:solidFill>
                  </a:tcPr>
                </a:tc>
                <a:tc>
                  <a:txBody>
                    <a:bodyPr wrap="square"/>
                    <a:lstStyle/>
                    <a:p>
                      <a:pPr algn="l">
                        <a:lnSpc>
                          <a:spcPct val="103000"/>
                        </a:lnSpc>
                      </a:pPr>
                      <a:r>
                        <a:rPr sz="670" b="1">
                          <a:solidFill>
                            <a:srgbClr val="121C2D"/>
                          </a:solidFill>
                          <a:latin typeface="Arial"/>
                        </a:rPr>
                        <a:t>TikTok Channel</a:t>
                      </a:r>
                    </a:p>
                    <a:p>
                      <a:pPr algn="l">
                        <a:lnSpc>
                          <a:spcPct val="103000"/>
                        </a:lnSpc>
                      </a:pPr>
                      <a:r>
                        <a:rPr sz="670" b="1">
                          <a:solidFill>
                            <a:srgbClr val="121C2D"/>
                          </a:solidFill>
                          <a:latin typeface="Arial"/>
                        </a:rPr>
                        <a:t>★ Mr Quan Ngại ★</a:t>
                      </a:r>
                    </a:p>
                  </a:txBody>
                  <a:tcPr anchor="ctr" marL="36576" marR="36576" marT="13716" marB="13716">
                    <a:solidFill>
                      <a:srgbClr val="F1F3F7"/>
                    </a:solidFill>
                  </a:tcPr>
                </a:tc>
                <a:tc>
                  <a:txBody>
                    <a:bodyPr wrap="square"/>
                    <a:lstStyle/>
                    <a:p>
                      <a:pPr algn="ctr">
                        <a:lnSpc>
                          <a:spcPct val="103000"/>
                        </a:lnSpc>
                      </a:pPr>
                      <a:r>
                        <a:rPr sz="670" b="0">
                          <a:solidFill>
                            <a:srgbClr val="121C2D"/>
                          </a:solidFill>
                          <a:latin typeface="Arial"/>
                        </a:rPr>
                        <a:t>20/10/2026</a:t>
                      </a:r>
                    </a:p>
                    <a:p>
                      <a:pPr algn="ctr">
                        <a:lnSpc>
                          <a:spcPct val="103000"/>
                        </a:lnSpc>
                      </a:pPr>
                      <a:r>
                        <a:rPr sz="670" b="0">
                          <a:solidFill>
                            <a:srgbClr val="121C2D"/>
                          </a:solidFill>
                          <a:latin typeface="Arial"/>
                        </a:rPr>
                        <a:t>(2 video)</a:t>
                      </a:r>
                    </a:p>
                  </a:txBody>
                  <a:tcPr anchor="ctr" marL="36576" marR="36576" marT="13716" marB="13716">
                    <a:solidFill>
                      <a:srgbClr val="F1F3F7"/>
                    </a:solidFill>
                  </a:tcPr>
                </a:tc>
                <a:tc>
                  <a:txBody>
                    <a:bodyPr wrap="square"/>
                    <a:lstStyle/>
                    <a:p>
                      <a:pPr algn="ctr">
                        <a:lnSpc>
                          <a:spcPct val="103000"/>
                        </a:lnSpc>
                      </a:pPr>
                      <a:r>
                        <a:rPr sz="670" b="0">
                          <a:solidFill>
                            <a:srgbClr val="121C2D"/>
                          </a:solidFill>
                          <a:latin typeface="Arial"/>
                        </a:rPr>
                        <a:t>48.863 views</a:t>
                      </a:r>
                    </a:p>
                    <a:p>
                      <a:pPr algn="ctr">
                        <a:lnSpc>
                          <a:spcPct val="103000"/>
                        </a:lnSpc>
                      </a:pPr>
                      <a:r>
                        <a:rPr sz="670" b="0">
                          <a:solidFill>
                            <a:srgbClr val="121C2D"/>
                          </a:solidFill>
                          <a:latin typeface="Arial"/>
                        </a:rPr>
                        <a:t>51 bình luận</a:t>
                      </a:r>
                    </a:p>
                  </a:txBody>
                  <a:tcPr anchor="ctr" marL="36576" marR="36576" marT="13716" marB="13716">
                    <a:solidFill>
                      <a:srgbClr val="F1F3F7"/>
                    </a:solidFill>
                  </a:tcPr>
                </a:tc>
                <a:tc>
                  <a:txBody>
                    <a:bodyPr wrap="square"/>
                    <a:lstStyle/>
                    <a:p>
                      <a:pPr algn="l">
                        <a:lnSpc>
                          <a:spcPct val="103000"/>
                        </a:lnSpc>
                      </a:pPr>
                      <a:r>
                        <a:rPr sz="670" b="0">
                          <a:solidFill>
                            <a:srgbClr val="121C2D"/>
                          </a:solidFill>
                          <a:latin typeface="Arial"/>
                        </a:rPr>
                        <a:t>Video ngắn khảo sát trực diện 'Ai sẽ là Chủ tịch VFF khóa X?' thu hút lượng bình luận bầu cử sôi nổi nhất trên TikTok.</a:t>
                      </a:r>
                    </a:p>
                  </a:txBody>
                  <a:tcPr anchor="ctr" marL="36576" marR="36576" marT="13716" marB="13716">
                    <a:solidFill>
                      <a:srgbClr val="F1F3F7"/>
                    </a:solidFill>
                  </a:tcPr>
                </a:tc>
                <a:tc>
                  <a:txBody>
                    <a:bodyPr wrap="square"/>
                    <a:lstStyle/>
                    <a:p>
                      <a:pPr algn="l">
                        <a:lnSpc>
                          <a:spcPct val="103000"/>
                        </a:lnSpc>
                      </a:pPr>
                      <a:r>
                        <a:rPr sz="670" b="1">
                          <a:solidFill>
                            <a:srgbClr val="1560D4"/>
                          </a:solidFill>
                          <a:latin typeface="Arial"/>
                        </a:rPr>
                        <a:t>KHẢO SÁT ĐA CHIỀU</a:t>
                      </a:r>
                    </a:p>
                    <a:p>
                      <a:pPr algn="l">
                        <a:lnSpc>
                          <a:spcPct val="103000"/>
                        </a:lnSpc>
                      </a:pPr>
                      <a:r>
                        <a:rPr sz="670" b="1">
                          <a:solidFill>
                            <a:srgbClr val="1560D4"/>
                          </a:solidFill>
                          <a:latin typeface="Arial"/>
                        </a:rPr>
                        <a:t>(6 bình luận chọn Tuấn CT)</a:t>
                      </a:r>
                    </a:p>
                  </a:txBody>
                  <a:tcPr anchor="ctr" marL="36576" marR="36576" marT="13716" marB="13716">
                    <a:solidFill>
                      <a:srgbClr val="EBF3FF"/>
                    </a:solidFill>
                  </a:tcPr>
                </a:tc>
                <a:tc>
                  <a:txBody>
                    <a:bodyPr wrap="square"/>
                    <a:lstStyle/>
                    <a:p>
                      <a:pPr algn="l">
                        <a:lnSpc>
                          <a:spcPct val="103000"/>
                        </a:lnSpc>
                      </a:pPr>
                      <a:r>
                        <a:rPr sz="670" b="1">
                          <a:solidFill>
                            <a:srgbClr val="444E5E"/>
                          </a:solidFill>
                          <a:latin typeface="Arial"/>
                        </a:rPr>
                        <a:t>KHẢO SÁT ĐA CHIỀU</a:t>
                      </a:r>
                    </a:p>
                    <a:p>
                      <a:pPr algn="l">
                        <a:lnSpc>
                          <a:spcPct val="103000"/>
                        </a:lnSpc>
                      </a:pPr>
                      <a:r>
                        <a:rPr sz="670" b="1">
                          <a:solidFill>
                            <a:srgbClr val="444E5E"/>
                          </a:solidFill>
                          <a:latin typeface="Arial"/>
                        </a:rPr>
                        <a:t>(11 bình luận CT / 3 phản đối)</a:t>
                      </a:r>
                    </a:p>
                  </a:txBody>
                  <a:tcPr anchor="ctr" marL="36576" marR="36576" marT="13716" marB="13716">
                    <a:solidFill>
                      <a:srgbClr val="FFF6E8"/>
                    </a:solidFill>
                  </a:tcPr>
                </a:tc>
                <a:tc>
                  <a:txBody>
                    <a:bodyPr wrap="square"/>
                    <a:lstStyle/>
                    <a:p>
                      <a:pPr algn="l">
                        <a:lnSpc>
                          <a:spcPct val="103000"/>
                        </a:lnSpc>
                      </a:pPr>
                      <a:r>
                        <a:rPr sz="670" b="1">
                          <a:solidFill>
                            <a:srgbClr val="1560D4"/>
                          </a:solidFill>
                          <a:latin typeface="Arial"/>
                          <a:hlinkClick r:id="rId15"/>
                        </a:rPr>
                        <a:t>tiktok.com/@mrquanngai</a:t>
                      </a:r>
                    </a:p>
                    <a:p>
                      <a:pPr algn="l">
                        <a:lnSpc>
                          <a:spcPct val="103000"/>
                        </a:lnSpc>
                      </a:pPr>
                      <a:r>
                        <a:rPr sz="670" b="1">
                          <a:solidFill>
                            <a:srgbClr val="1560D4"/>
                          </a:solidFill>
                          <a:latin typeface="Arial"/>
                        </a:rPr>
                        <a:t>[TT-LEDGER-09]</a:t>
                      </a:r>
                    </a:p>
                  </a:txBody>
                  <a:tcPr anchor="ctr" marL="36576" marR="36576" marT="13716" marB="13716">
                    <a:solidFill>
                      <a:srgbClr val="F1F3F7"/>
                    </a:solidFill>
                  </a:tcPr>
                </a:tc>
              </a:tr>
              <a:tr h="361188">
                <a:tc>
                  <a:txBody>
                    <a:bodyPr wrap="square"/>
                    <a:lstStyle/>
                    <a:p>
                      <a:pPr algn="ctr">
                        <a:lnSpc>
                          <a:spcPct val="103000"/>
                        </a:lnSpc>
                      </a:pPr>
                      <a:r>
                        <a:rPr sz="670" b="1">
                          <a:solidFill>
                            <a:srgbClr val="121C2D"/>
                          </a:solidFill>
                          <a:latin typeface="Arial"/>
                        </a:rPr>
                        <a:t>15</a:t>
                      </a:r>
                    </a:p>
                  </a:txBody>
                  <a:tcPr anchor="ctr" marL="36576" marR="36576" marT="13716" marB="13716">
                    <a:solidFill>
                      <a:srgbClr val="FFFFFF"/>
                    </a:solidFill>
                  </a:tcPr>
                </a:tc>
                <a:tc>
                  <a:txBody>
                    <a:bodyPr wrap="square"/>
                    <a:lstStyle/>
                    <a:p>
                      <a:pPr algn="l">
                        <a:lnSpc>
                          <a:spcPct val="103000"/>
                        </a:lnSpc>
                      </a:pPr>
                      <a:r>
                        <a:rPr sz="670" b="1">
                          <a:solidFill>
                            <a:srgbClr val="121C2D"/>
                          </a:solidFill>
                          <a:latin typeface="Arial"/>
                        </a:rPr>
                        <a:t>TikTok Channel</a:t>
                      </a:r>
                    </a:p>
                    <a:p>
                      <a:pPr algn="l">
                        <a:lnSpc>
                          <a:spcPct val="103000"/>
                        </a:lnSpc>
                      </a:pPr>
                      <a:r>
                        <a:rPr sz="670" b="1">
                          <a:solidFill>
                            <a:srgbClr val="121C2D"/>
                          </a:solidFill>
                          <a:latin typeface="Arial"/>
                        </a:rPr>
                        <a:t>TVH Sports &amp; Business Insight</a:t>
                      </a:r>
                    </a:p>
                  </a:txBody>
                  <a:tcPr anchor="ctr" marL="36576" marR="36576" marT="13716" marB="13716">
                    <a:solidFill>
                      <a:srgbClr val="FFFFFF"/>
                    </a:solidFill>
                  </a:tcPr>
                </a:tc>
                <a:tc>
                  <a:txBody>
                    <a:bodyPr wrap="square"/>
                    <a:lstStyle/>
                    <a:p>
                      <a:pPr algn="ctr">
                        <a:lnSpc>
                          <a:spcPct val="103000"/>
                        </a:lnSpc>
                      </a:pPr>
                      <a:r>
                        <a:rPr sz="670" b="0">
                          <a:solidFill>
                            <a:srgbClr val="121C2D"/>
                          </a:solidFill>
                          <a:latin typeface="Arial"/>
                        </a:rPr>
                        <a:t>22/10/2026</a:t>
                      </a:r>
                    </a:p>
                    <a:p>
                      <a:pPr algn="ctr">
                        <a:lnSpc>
                          <a:spcPct val="103000"/>
                        </a:lnSpc>
                      </a:pPr>
                      <a:r>
                        <a:rPr sz="670" b="0">
                          <a:solidFill>
                            <a:srgbClr val="121C2D"/>
                          </a:solidFill>
                          <a:latin typeface="Arial"/>
                        </a:rPr>
                        <a:t>(6 video)</a:t>
                      </a:r>
                    </a:p>
                  </a:txBody>
                  <a:tcPr anchor="ctr" marL="36576" marR="36576" marT="13716" marB="13716">
                    <a:solidFill>
                      <a:srgbClr val="FFFFFF"/>
                    </a:solidFill>
                  </a:tcPr>
                </a:tc>
                <a:tc>
                  <a:txBody>
                    <a:bodyPr wrap="square"/>
                    <a:lstStyle/>
                    <a:p>
                      <a:pPr algn="ctr">
                        <a:lnSpc>
                          <a:spcPct val="103000"/>
                        </a:lnSpc>
                      </a:pPr>
                      <a:r>
                        <a:rPr sz="670" b="0">
                          <a:solidFill>
                            <a:srgbClr val="121C2D"/>
                          </a:solidFill>
                          <a:latin typeface="Arial"/>
                        </a:rPr>
                        <a:t>4.850 likes</a:t>
                      </a:r>
                    </a:p>
                    <a:p>
                      <a:pPr algn="ctr">
                        <a:lnSpc>
                          <a:spcPct val="103000"/>
                        </a:lnSpc>
                      </a:pPr>
                      <a:r>
                        <a:rPr sz="670" b="0">
                          <a:solidFill>
                            <a:srgbClr val="121C2D"/>
                          </a:solidFill>
                          <a:latin typeface="Arial"/>
                        </a:rPr>
                        <a:t>18 bình luận</a:t>
                      </a:r>
                    </a:p>
                  </a:txBody>
                  <a:tcPr anchor="ctr" marL="36576" marR="36576" marT="13716" marB="13716">
                    <a:solidFill>
                      <a:srgbClr val="FFFFFF"/>
                    </a:solidFill>
                  </a:tcPr>
                </a:tc>
                <a:tc>
                  <a:txBody>
                    <a:bodyPr wrap="square"/>
                    <a:lstStyle/>
                    <a:p>
                      <a:pPr algn="l">
                        <a:lnSpc>
                          <a:spcPct val="103000"/>
                        </a:lnSpc>
                      </a:pPr>
                      <a:r>
                        <a:rPr sz="670" b="0">
                          <a:solidFill>
                            <a:srgbClr val="121C2D"/>
                          </a:solidFill>
                          <a:latin typeface="Arial"/>
                        </a:rPr>
                        <a:t>Loạt video TikTok ngày 22/10 lan tỏa phát biểu của ông Nguyễn Đức Thụy cam kết huy động 600–1.000 tỷ/năm, không dùng ngân sách.</a:t>
                      </a:r>
                    </a:p>
                  </a:txBody>
                  <a:tcPr anchor="ctr" marL="36576" marR="36576" marT="13716" marB="13716">
                    <a:solidFill>
                      <a:srgbClr val="FFFFFF"/>
                    </a:solidFill>
                  </a:tcPr>
                </a:tc>
                <a:tc>
                  <a:txBody>
                    <a:bodyPr wrap="square"/>
                    <a:lstStyle/>
                    <a:p>
                      <a:pPr algn="l">
                        <a:lnSpc>
                          <a:spcPct val="103000"/>
                        </a:lnSpc>
                      </a:pPr>
                      <a:r>
                        <a:rPr sz="670" b="1">
                          <a:solidFill>
                            <a:srgbClr val="1560D4"/>
                          </a:solidFill>
                          <a:latin typeface="Arial"/>
                        </a:rPr>
                        <a:t>ĐƯA TIN ĐỐI SÁNH</a:t>
                      </a:r>
                    </a:p>
                    <a:p>
                      <a:pPr algn="l">
                        <a:lnSpc>
                          <a:spcPct val="103000"/>
                        </a:lnSpc>
                      </a:pPr>
                      <a:r>
                        <a:rPr sz="670" b="1">
                          <a:solidFill>
                            <a:srgbClr val="1560D4"/>
                          </a:solidFill>
                          <a:latin typeface="Arial"/>
                        </a:rPr>
                        <a:t>(3 bình luận chọn Tuấn CT)</a:t>
                      </a:r>
                    </a:p>
                  </a:txBody>
                  <a:tcPr anchor="ctr" marL="36576" marR="36576" marT="13716" marB="13716">
                    <a:solidFill>
                      <a:srgbClr val="EBF3FF"/>
                    </a:solidFill>
                  </a:tcPr>
                </a:tc>
                <a:tc>
                  <a:txBody>
                    <a:bodyPr wrap="square"/>
                    <a:lstStyle/>
                    <a:p>
                      <a:pPr algn="l">
                        <a:lnSpc>
                          <a:spcPct val="103000"/>
                        </a:lnSpc>
                      </a:pPr>
                      <a:r>
                        <a:rPr sz="670" b="1">
                          <a:solidFill>
                            <a:srgbClr val="D62728"/>
                          </a:solidFill>
                          <a:latin typeface="Arial"/>
                        </a:rPr>
                        <a:t>ỦNG HỘ CAM KẾT MỚI</a:t>
                      </a:r>
                    </a:p>
                    <a:p>
                      <a:pPr algn="l">
                        <a:lnSpc>
                          <a:spcPct val="103000"/>
                        </a:lnSpc>
                      </a:pPr>
                      <a:r>
                        <a:rPr sz="670" b="1">
                          <a:solidFill>
                            <a:srgbClr val="D62728"/>
                          </a:solidFill>
                          <a:latin typeface="Arial"/>
                        </a:rPr>
                        <a:t>(6 bình luận CT / 3 hoài nghi)</a:t>
                      </a:r>
                    </a:p>
                  </a:txBody>
                  <a:tcPr anchor="ctr" marL="36576" marR="36576" marT="13716" marB="13716">
                    <a:solidFill>
                      <a:srgbClr val="FEEEEE"/>
                    </a:solidFill>
                  </a:tcPr>
                </a:tc>
                <a:tc>
                  <a:txBody>
                    <a:bodyPr wrap="square"/>
                    <a:lstStyle/>
                    <a:p>
                      <a:pPr algn="l">
                        <a:lnSpc>
                          <a:spcPct val="103000"/>
                        </a:lnSpc>
                      </a:pPr>
                      <a:r>
                        <a:rPr sz="670" b="1">
                          <a:solidFill>
                            <a:srgbClr val="1560D4"/>
                          </a:solidFill>
                          <a:latin typeface="Arial"/>
                          <a:hlinkClick r:id="rId16"/>
                        </a:rPr>
                        <a:t>tiktok.com/@tuyenvanhoasports</a:t>
                      </a:r>
                    </a:p>
                    <a:p>
                      <a:pPr algn="l">
                        <a:lnSpc>
                          <a:spcPct val="103000"/>
                        </a:lnSpc>
                      </a:pPr>
                      <a:r>
                        <a:rPr sz="670" b="1">
                          <a:solidFill>
                            <a:srgbClr val="1560D4"/>
                          </a:solidFill>
                          <a:latin typeface="Arial"/>
                        </a:rPr>
                        <a:t>[TT-0011 / 2210]</a:t>
                      </a:r>
                    </a:p>
                  </a:txBody>
                  <a:tcPr anchor="ctr" marL="36576" marR="36576" marT="13716" marB="13716">
                    <a:solidFill>
                      <a:srgbClr val="FFFFFF"/>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